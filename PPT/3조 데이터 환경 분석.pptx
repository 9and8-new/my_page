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68" r:id="rId6"/>
    <p:sldId id="271" r:id="rId7"/>
    <p:sldId id="292" r:id="rId8"/>
    <p:sldId id="293" r:id="rId9"/>
    <p:sldId id="294" r:id="rId10"/>
    <p:sldId id="270" r:id="rId11"/>
    <p:sldId id="264" r:id="rId12"/>
    <p:sldId id="273" r:id="rId13"/>
    <p:sldId id="289" r:id="rId14"/>
    <p:sldId id="284" r:id="rId15"/>
    <p:sldId id="285" r:id="rId16"/>
    <p:sldId id="286" r:id="rId17"/>
    <p:sldId id="288" r:id="rId18"/>
    <p:sldId id="290" r:id="rId19"/>
    <p:sldId id="265" r:id="rId20"/>
    <p:sldId id="296" r:id="rId21"/>
    <p:sldId id="300" r:id="rId22"/>
    <p:sldId id="301" r:id="rId23"/>
    <p:sldId id="297" r:id="rId24"/>
    <p:sldId id="298" r:id="rId25"/>
    <p:sldId id="299" r:id="rId26"/>
    <p:sldId id="266" r:id="rId27"/>
    <p:sldId id="295" r:id="rId28"/>
  </p:sldIdLst>
  <p:sldSz cx="24384000" cy="13716000"/>
  <p:notesSz cx="6858000" cy="9144000"/>
  <p:embeddedFontLst>
    <p:embeddedFont>
      <p:font typeface="Pretendard Bold" panose="020B0600000101010101" charset="-127"/>
      <p:bold r:id="rId29"/>
    </p:embeddedFont>
    <p:embeddedFont>
      <p:font typeface="Pretendard Light" panose="020B0600000101010101" charset="-127"/>
      <p:regular r:id="rId30"/>
    </p:embeddedFont>
    <p:embeddedFont>
      <p:font typeface="Pretendard Medium" panose="020B0600000101010101" charset="-127"/>
      <p:bold r:id="rId31"/>
    </p:embeddedFont>
    <p:embeddedFont>
      <p:font typeface="Pretendard Regular" panose="020B0600000101010101" charset="-127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Noto Sans KR" panose="020B0200000000000000" pitchFamily="50" charset="-127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EC1C6"/>
    <a:srgbClr val="808690"/>
    <a:srgbClr val="F65B20"/>
    <a:srgbClr val="242629"/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4622" autoAdjust="0"/>
  </p:normalViewPr>
  <p:slideViewPr>
    <p:cSldViewPr>
      <p:cViewPr varScale="1">
        <p:scale>
          <a:sx n="32" d="100"/>
          <a:sy n="32" d="100"/>
        </p:scale>
        <p:origin x="156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2800" dirty="0">
                <a:solidFill>
                  <a:schemeClr val="tx2"/>
                </a:solidFill>
              </a:rPr>
              <a:t>Customer /</a:t>
            </a:r>
            <a:r>
              <a:rPr lang="en-US" altLang="ko-KR" sz="2800" baseline="0" dirty="0">
                <a:solidFill>
                  <a:schemeClr val="tx2"/>
                </a:solidFill>
              </a:rPr>
              <a:t> Competitor / Company</a:t>
            </a:r>
            <a:endParaRPr lang="ko-KR" altLang="en-US" sz="2800" dirty="0">
              <a:solidFill>
                <a:schemeClr val="tx2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8884408602150536E-2"/>
          <c:y val="7.1351642324120876E-2"/>
          <c:w val="0.9770833333333333"/>
          <c:h val="0.85990784940944887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3C 분석</c:v>
                </c:pt>
              </c:strCache>
            </c:strRef>
          </c:tx>
          <c:explosion val="23"/>
          <c:dPt>
            <c:idx val="0"/>
            <c:bubble3D val="0"/>
            <c:explosion val="2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35CD-4680-B492-28BE87AFFEBC}"/>
              </c:ext>
            </c:extLst>
          </c:dPt>
          <c:dPt>
            <c:idx val="1"/>
            <c:bubble3D val="0"/>
            <c:explosion val="4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4-35CD-4680-B492-28BE87AFFEBC}"/>
              </c:ext>
            </c:extLst>
          </c:dPt>
          <c:dPt>
            <c:idx val="2"/>
            <c:bubble3D val="0"/>
            <c:explosion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35CD-4680-B492-28BE87AFFEB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3BD3-4C3B-9C6C-EB4509C35DC3}"/>
              </c:ext>
            </c:extLst>
          </c:dPt>
          <c:cat>
            <c:strRef>
              <c:f>Sheet1!$A$2:$A$5</c:f>
              <c:strCache>
                <c:ptCount val="3"/>
                <c:pt idx="0">
                  <c:v>Customer</c:v>
                </c:pt>
                <c:pt idx="1">
                  <c:v>Competitor</c:v>
                </c:pt>
                <c:pt idx="2">
                  <c:v>Company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33.299999999999997</c:v>
                </c:pt>
                <c:pt idx="1">
                  <c:v>33.299999999999997</c:v>
                </c:pt>
                <c:pt idx="2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CD-4680-B492-28BE87AFF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3"/>
        <c:delete val="1"/>
      </c:legendEntry>
      <c:layout>
        <c:manualLayout>
          <c:xMode val="edge"/>
          <c:yMode val="edge"/>
          <c:x val="9.9446384726102802E-2"/>
          <c:y val="0.79700933465431734"/>
          <c:w val="0.80243533570400472"/>
          <c:h val="0.1632441233696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7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42.png"/><Relationship Id="rId5" Type="http://schemas.openxmlformats.org/officeDocument/2006/relationships/image" Target="../media/image33.png"/><Relationship Id="rId10" Type="http://schemas.openxmlformats.org/officeDocument/2006/relationships/image" Target="../media/image41.png"/><Relationship Id="rId4" Type="http://schemas.openxmlformats.org/officeDocument/2006/relationships/image" Target="../media/image32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7.png"/><Relationship Id="rId1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19.png"/><Relationship Id="rId5" Type="http://schemas.openxmlformats.org/officeDocument/2006/relationships/image" Target="../media/image45.png"/><Relationship Id="rId10" Type="http://schemas.openxmlformats.org/officeDocument/2006/relationships/image" Target="../media/image18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51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55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5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53.png"/><Relationship Id="rId5" Type="http://schemas.openxmlformats.org/officeDocument/2006/relationships/image" Target="../media/image33.png"/><Relationship Id="rId10" Type="http://schemas.openxmlformats.org/officeDocument/2006/relationships/image" Target="../media/image52.png"/><Relationship Id="rId4" Type="http://schemas.openxmlformats.org/officeDocument/2006/relationships/image" Target="../media/image32.png"/><Relationship Id="rId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7.pn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7.png"/><Relationship Id="rId1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9800" y="8470900"/>
            <a:ext cx="1600200" cy="1600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7300" y="8470900"/>
            <a:ext cx="15748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90600" y="9309100"/>
            <a:ext cx="901700" cy="800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9400" y="8648700"/>
            <a:ext cx="12192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3100" y="9042400"/>
            <a:ext cx="1333500" cy="1333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00500" y="4927600"/>
            <a:ext cx="16383000" cy="10668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000" b="0" i="0" u="none" strike="noStrike" dirty="0">
                <a:solidFill>
                  <a:srgbClr val="494A4E"/>
                </a:solidFill>
                <a:ea typeface="Pretendard Medium"/>
              </a:rPr>
              <a:t>공공데이터 시각화 서비스</a:t>
            </a:r>
            <a:endParaRPr lang="ko-KR" sz="60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886200" y="5994400"/>
            <a:ext cx="16611600" cy="2133600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2000" b="0" i="0" u="none" strike="noStrike" dirty="0">
                <a:solidFill>
                  <a:srgbClr val="000000"/>
                </a:solidFill>
                <a:ea typeface="Pretendard Bold"/>
              </a:rPr>
              <a:t>빅데이터 환경 분석 보고서</a:t>
            </a:r>
            <a:endParaRPr lang="ko-KR" sz="12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>
                <a:solidFill>
                  <a:srgbClr val="FFFFFF"/>
                </a:solidFill>
                <a:latin typeface="Pretendard Light"/>
              </a:rPr>
              <a:t>presentation_index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80400" y="52451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sz="4266" b="0" i="0" u="none" strike="noStrike" dirty="0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4266" b="0" i="0" u="none" strike="noStrike" dirty="0">
                <a:solidFill>
                  <a:srgbClr val="242629"/>
                </a:solidFill>
                <a:latin typeface="Pretendard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45900" y="5245100"/>
            <a:ext cx="117729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66" b="0" i="0" u="none" strike="noStrike" dirty="0">
                <a:solidFill>
                  <a:srgbClr val="494A4E"/>
                </a:solidFill>
                <a:ea typeface="Pretendard Medium"/>
              </a:rPr>
              <a:t>서비스 환경 분석</a:t>
            </a:r>
            <a:endParaRPr lang="en-US" sz="4266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280400" y="67437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sz="4266" b="0" i="0" u="none" strike="noStrike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4266" b="0" i="0" u="none" strike="noStrike">
                <a:solidFill>
                  <a:srgbClr val="242629"/>
                </a:solidFill>
                <a:latin typeface="Pretendard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45900" y="6743700"/>
            <a:ext cx="117729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66" b="0" i="0" u="none" strike="noStrike" dirty="0">
                <a:solidFill>
                  <a:srgbClr val="494A4E"/>
                </a:solidFill>
                <a:ea typeface="Pretendard Medium"/>
              </a:rPr>
              <a:t>데이터 환경 분석</a:t>
            </a:r>
            <a:endParaRPr lang="en-US" sz="4266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280400" y="82296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sz="4266" b="0" i="0" u="none" strike="noStrike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4266" b="0" i="0" u="none" strike="noStrike">
                <a:solidFill>
                  <a:srgbClr val="242629"/>
                </a:solidFill>
                <a:latin typeface="Pretendard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45900" y="8229600"/>
            <a:ext cx="117729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66" b="0" i="0" u="none" strike="noStrike" dirty="0">
                <a:solidFill>
                  <a:srgbClr val="494A4E"/>
                </a:solidFill>
                <a:ea typeface="Pretendard Medium"/>
              </a:rPr>
              <a:t>기술 환경 분석</a:t>
            </a:r>
            <a:endParaRPr lang="en-US" sz="4266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280400" y="9728200"/>
            <a:ext cx="28702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sz="4266" b="0" i="0" u="none" strike="noStrike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4266" b="0" i="0" u="none" strike="noStrike">
                <a:solidFill>
                  <a:srgbClr val="242629"/>
                </a:solidFill>
                <a:latin typeface="Pretendard Bold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45900" y="9728200"/>
            <a:ext cx="117729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66" b="0" i="0" u="none" strike="noStrike" dirty="0">
                <a:solidFill>
                  <a:srgbClr val="494A4E"/>
                </a:solidFill>
                <a:ea typeface="Pretendard Medium"/>
              </a:rPr>
              <a:t>인력 환경 분석</a:t>
            </a:r>
            <a:endParaRPr lang="en-US" sz="4266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5300" y="3581400"/>
            <a:ext cx="5232400" cy="21336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12000" b="0" i="0" u="none" strike="noStrike">
                <a:solidFill>
                  <a:srgbClr val="000000"/>
                </a:solidFill>
                <a:ea typeface="Pretendard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53300" cy="7353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78700" y="9918700"/>
            <a:ext cx="2540000" cy="2070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62700" y="8737600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62700" y="10642600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43900" y="8737600"/>
            <a:ext cx="304800" cy="30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06800" y="8305800"/>
            <a:ext cx="3492500" cy="1181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서비스 환경 분석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>
                <a:solidFill>
                  <a:srgbClr val="C2C2C2"/>
                </a:solidFill>
                <a:latin typeface="Pretendard Medium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65300" y="3581400"/>
            <a:ext cx="162941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0" b="0" i="0" u="none" strike="noStrike" dirty="0">
                <a:solidFill>
                  <a:srgbClr val="000000"/>
                </a:solidFill>
                <a:ea typeface="Pretendard Bold"/>
              </a:rPr>
              <a:t>서비스 환경 분석</a:t>
            </a:r>
            <a:endParaRPr lang="en-US" sz="120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65300" y="9918700"/>
            <a:ext cx="11341100" cy="20574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ea typeface="Pretendard Medium"/>
              </a:rPr>
              <a:t>시장규모 파악</a:t>
            </a:r>
            <a:endParaRPr lang="en-US" altLang="ko-KR" sz="4266" b="0" i="0" u="none" strike="noStrike" dirty="0">
              <a:solidFill>
                <a:srgbClr val="C2C2C2"/>
              </a:solidFill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dirty="0">
                <a:solidFill>
                  <a:srgbClr val="C2C2C2"/>
                </a:solidFill>
                <a:latin typeface="Pretendard Medium"/>
                <a:ea typeface="Pretendard Medium"/>
              </a:rPr>
              <a:t>요구사항표</a:t>
            </a:r>
            <a:endParaRPr lang="en-US" altLang="ko-KR" sz="4266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전략수립</a:t>
            </a:r>
            <a:r>
              <a:rPr lang="en-US" altLang="ko-KR" sz="4266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(3C or SWOT)</a:t>
            </a:r>
            <a:endParaRPr lang="en-US" sz="4266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5734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서비스 환경 분석</a:t>
            </a:r>
            <a:endParaRPr lang="en-US" sz="2667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A6418-EF74-4E3F-A5BE-64EBBEF7F630}"/>
              </a:ext>
            </a:extLst>
          </p:cNvPr>
          <p:cNvSpPr txBox="1"/>
          <p:nvPr/>
        </p:nvSpPr>
        <p:spPr>
          <a:xfrm>
            <a:off x="1595967" y="2273299"/>
            <a:ext cx="10244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400" b="1" dirty="0">
                <a:solidFill>
                  <a:schemeClr val="tx2"/>
                </a:solidFill>
              </a:rPr>
              <a:t>01 </a:t>
            </a:r>
            <a:r>
              <a:rPr lang="ko-KR" altLang="en-US" sz="6400" b="1" dirty="0">
                <a:solidFill>
                  <a:schemeClr val="tx2"/>
                </a:solidFill>
              </a:rPr>
              <a:t>서비스 환경 분석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556CC7CE-6023-4051-921C-BF63B15A4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375939"/>
              </p:ext>
            </p:extLst>
          </p:nvPr>
        </p:nvGraphicFramePr>
        <p:xfrm>
          <a:off x="1165805" y="3962400"/>
          <a:ext cx="21948195" cy="45696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7447">
                  <a:extLst>
                    <a:ext uri="{9D8B030D-6E8A-4147-A177-3AD203B41FA5}">
                      <a16:colId xmlns:a16="http://schemas.microsoft.com/office/drawing/2014/main" val="222708015"/>
                    </a:ext>
                  </a:extLst>
                </a:gridCol>
                <a:gridCol w="17940748">
                  <a:extLst>
                    <a:ext uri="{9D8B030D-6E8A-4147-A177-3AD203B41FA5}">
                      <a16:colId xmlns:a16="http://schemas.microsoft.com/office/drawing/2014/main" val="295737703"/>
                    </a:ext>
                  </a:extLst>
                </a:gridCol>
              </a:tblGrid>
              <a:tr h="7166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구분</a:t>
                      </a:r>
                    </a:p>
                  </a:txBody>
                  <a:tcPr marL="121920" marR="121920" marT="60960" marB="60960" anchor="ctr"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내용</a:t>
                      </a:r>
                    </a:p>
                  </a:txBody>
                  <a:tcPr marL="121920" marR="121920" marT="60960" marB="60960" anchor="ctr">
                    <a:solidFill>
                      <a:srgbClr val="808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892654"/>
                  </a:ext>
                </a:extLst>
              </a:tr>
              <a:tr h="7057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서비스명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Hangle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(Kaggle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벤치마킹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041261"/>
                  </a:ext>
                </a:extLst>
              </a:tr>
              <a:tr h="71869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목적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데이터의 시각화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203941"/>
                  </a:ext>
                </a:extLst>
              </a:tr>
              <a:tr h="115951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주요기능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데이터의 시각화</a:t>
                      </a:r>
                      <a:endParaRPr lang="en-US" altLang="ko-KR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각종 커뮤니티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코드공유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토론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대회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코딩공부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689725"/>
                  </a:ext>
                </a:extLst>
              </a:tr>
              <a:tr h="6204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시장분석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Kaggle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의 성공 모델을 기반으로 한 국내 데이터 사이언스 플랫폼 구축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875474"/>
                  </a:ext>
                </a:extLst>
              </a:tr>
              <a:tr h="6485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차별화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한국어 기반 커뮤니티와 국내 데이터셋 특화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86662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EEDB43-9541-442D-9B43-21CE332ED672}"/>
              </a:ext>
            </a:extLst>
          </p:cNvPr>
          <p:cNvSpPr txBox="1"/>
          <p:nvPr/>
        </p:nvSpPr>
        <p:spPr>
          <a:xfrm>
            <a:off x="1595967" y="8728424"/>
            <a:ext cx="60035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tx2"/>
                </a:solidFill>
              </a:rPr>
              <a:t>주요 경쟁사와 </a:t>
            </a:r>
            <a:r>
              <a:rPr lang="ko-KR" altLang="en-US" sz="4800" b="1" dirty="0" err="1">
                <a:solidFill>
                  <a:schemeClr val="tx2"/>
                </a:solidFill>
              </a:rPr>
              <a:t>차별점</a:t>
            </a:r>
            <a:endParaRPr lang="ko-KR" altLang="en-US" sz="4800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912D6-78C7-4518-AC73-93B7CAE98DC4}"/>
              </a:ext>
            </a:extLst>
          </p:cNvPr>
          <p:cNvSpPr txBox="1"/>
          <p:nvPr/>
        </p:nvSpPr>
        <p:spPr>
          <a:xfrm>
            <a:off x="1165805" y="9804083"/>
            <a:ext cx="10167848" cy="2964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Ø"/>
            </a:pPr>
            <a:r>
              <a:rPr lang="en-US" altLang="ko-KR" sz="3733" dirty="0"/>
              <a:t>Kaggle</a:t>
            </a:r>
            <a:r>
              <a:rPr lang="ko-KR" altLang="en-US" sz="3733" dirty="0"/>
              <a:t> 대비 한국어 지원과 국내 데이터셋 특화</a:t>
            </a:r>
            <a:endParaRPr lang="en-US" altLang="ko-KR" sz="3733" dirty="0"/>
          </a:p>
          <a:p>
            <a:pPr marL="380990" indent="-380990">
              <a:buFont typeface="Wingdings" panose="05000000000000000000" pitchFamily="2" charset="2"/>
              <a:buChar char="Ø"/>
            </a:pPr>
            <a:endParaRPr lang="en-US" altLang="ko-KR" sz="3733" dirty="0"/>
          </a:p>
          <a:p>
            <a:pPr marL="380990" indent="-380990">
              <a:buFont typeface="Wingdings" panose="05000000000000000000" pitchFamily="2" charset="2"/>
              <a:buChar char="Ø"/>
            </a:pPr>
            <a:r>
              <a:rPr lang="ko-KR" altLang="en-US" sz="3733" dirty="0"/>
              <a:t>초보자를 위한 단계별 학습 프로그램 제공</a:t>
            </a:r>
            <a:endParaRPr lang="en-US" altLang="ko-KR" sz="3733" dirty="0"/>
          </a:p>
          <a:p>
            <a:pPr marL="380990" indent="-380990">
              <a:buFont typeface="Wingdings" panose="05000000000000000000" pitchFamily="2" charset="2"/>
              <a:buChar char="Ø"/>
            </a:pPr>
            <a:endParaRPr lang="en-US" altLang="ko-KR" sz="3733" dirty="0"/>
          </a:p>
          <a:p>
            <a:pPr marL="380990" indent="-380990">
              <a:buFont typeface="Wingdings" panose="05000000000000000000" pitchFamily="2" charset="2"/>
              <a:buChar char="Ø"/>
            </a:pPr>
            <a:r>
              <a:rPr lang="ko-KR" altLang="en-US" sz="3733" dirty="0"/>
              <a:t>국내 기업과의 협업 프로젝트 연계</a:t>
            </a:r>
          </a:p>
        </p:txBody>
      </p:sp>
    </p:spTree>
    <p:extLst>
      <p:ext uri="{BB962C8B-B14F-4D97-AF65-F5344CB8AC3E}">
        <p14:creationId xmlns:p14="http://schemas.microsoft.com/office/powerpoint/2010/main" val="424562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5734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시장규모 분석</a:t>
            </a:r>
            <a:endParaRPr lang="en-US" altLang="ko-KR" sz="2667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6BD871-82DF-4C65-9813-2339117F8304}"/>
              </a:ext>
            </a:extLst>
          </p:cNvPr>
          <p:cNvSpPr txBox="1"/>
          <p:nvPr/>
        </p:nvSpPr>
        <p:spPr>
          <a:xfrm>
            <a:off x="1557867" y="2376345"/>
            <a:ext cx="13062856" cy="91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333" b="1" dirty="0">
                <a:solidFill>
                  <a:schemeClr val="tx2"/>
                </a:solidFill>
              </a:rPr>
              <a:t>서비스 환경 분석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BBEBC4A-73FB-4F7A-B11F-1FED636E16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2" y="4114800"/>
            <a:ext cx="10058399" cy="765386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6700D14-5263-4B4F-8C62-1BDE36E578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4080933"/>
            <a:ext cx="6401693" cy="765386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8648D2C-4F42-4F1D-9C4F-74CFE5E106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56792" y="4114800"/>
            <a:ext cx="6516009" cy="75969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AB78DC-1DF6-AC8B-F1D9-BCE49821A145}"/>
              </a:ext>
            </a:extLst>
          </p:cNvPr>
          <p:cNvSpPr txBox="1"/>
          <p:nvPr/>
        </p:nvSpPr>
        <p:spPr>
          <a:xfrm>
            <a:off x="1557867" y="3308187"/>
            <a:ext cx="130628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400" b="1" dirty="0">
                <a:solidFill>
                  <a:srgbClr val="000000"/>
                </a:solidFill>
              </a:rPr>
              <a:t>글로벌 빅데이터 시각화 시장 현황</a:t>
            </a:r>
          </a:p>
        </p:txBody>
      </p:sp>
    </p:spTree>
    <p:extLst>
      <p:ext uri="{BB962C8B-B14F-4D97-AF65-F5344CB8AC3E}">
        <p14:creationId xmlns:p14="http://schemas.microsoft.com/office/powerpoint/2010/main" val="372621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62840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국내 시장 분석</a:t>
            </a:r>
            <a:endParaRPr lang="en-US" altLang="ko-KR" sz="2667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528A5B-F82B-413C-8AA9-07EB7E5B9B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0" y="1828800"/>
            <a:ext cx="11788856" cy="110236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C0BC68-3262-4936-A064-41BB4D2DB9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" y="4104880"/>
            <a:ext cx="8534400" cy="844272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F91877E-2681-4C49-9050-586FE5115A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12624" y="7543800"/>
            <a:ext cx="6222976" cy="5283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BADD89-0FDE-423E-8E72-043094B3208A}"/>
              </a:ext>
            </a:extLst>
          </p:cNvPr>
          <p:cNvSpPr txBox="1"/>
          <p:nvPr/>
        </p:nvSpPr>
        <p:spPr>
          <a:xfrm>
            <a:off x="1557867" y="2443835"/>
            <a:ext cx="5430761" cy="99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9600"/>
              </a:lnSpc>
            </a:pPr>
            <a:r>
              <a:rPr lang="ko-KR" altLang="en-US" sz="5867" b="1" dirty="0">
                <a:solidFill>
                  <a:schemeClr val="tx2"/>
                </a:solidFill>
                <a:latin typeface="Pretendard Light"/>
              </a:rPr>
              <a:t>국내 시장 분석</a:t>
            </a:r>
            <a:endParaRPr lang="en-US" altLang="ko-KR" sz="5867" b="1" dirty="0">
              <a:solidFill>
                <a:schemeClr val="tx2"/>
              </a:solidFill>
              <a:latin typeface="Pretendard Light"/>
            </a:endParaRPr>
          </a:p>
        </p:txBody>
      </p:sp>
    </p:spTree>
    <p:extLst>
      <p:ext uri="{BB962C8B-B14F-4D97-AF65-F5344CB8AC3E}">
        <p14:creationId xmlns:p14="http://schemas.microsoft.com/office/powerpoint/2010/main" val="370240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5734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서비스 요구사항 분석</a:t>
            </a:r>
            <a:endParaRPr lang="en-US" sz="2667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B128E9-BEB9-417F-B270-2771072FA392}"/>
              </a:ext>
            </a:extLst>
          </p:cNvPr>
          <p:cNvSpPr txBox="1"/>
          <p:nvPr/>
        </p:nvSpPr>
        <p:spPr>
          <a:xfrm>
            <a:off x="1557867" y="2417044"/>
            <a:ext cx="8042586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867" b="1" dirty="0">
                <a:solidFill>
                  <a:schemeClr val="tx2"/>
                </a:solidFill>
              </a:rPr>
              <a:t>서비스 요구사항 분석표</a:t>
            </a:r>
          </a:p>
        </p:txBody>
      </p:sp>
      <p:graphicFrame>
        <p:nvGraphicFramePr>
          <p:cNvPr id="28" name="표 28">
            <a:extLst>
              <a:ext uri="{FF2B5EF4-FFF2-40B4-BE49-F238E27FC236}">
                <a16:creationId xmlns:a16="http://schemas.microsoft.com/office/drawing/2014/main" id="{B2E7125B-D7E4-4120-8685-8A54E0B62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626353"/>
              </p:ext>
            </p:extLst>
          </p:nvPr>
        </p:nvGraphicFramePr>
        <p:xfrm>
          <a:off x="1357086" y="4013198"/>
          <a:ext cx="21579115" cy="779780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987878">
                  <a:extLst>
                    <a:ext uri="{9D8B030D-6E8A-4147-A177-3AD203B41FA5}">
                      <a16:colId xmlns:a16="http://schemas.microsoft.com/office/drawing/2014/main" val="1059377848"/>
                    </a:ext>
                  </a:extLst>
                </a:gridCol>
                <a:gridCol w="10160327">
                  <a:extLst>
                    <a:ext uri="{9D8B030D-6E8A-4147-A177-3AD203B41FA5}">
                      <a16:colId xmlns:a16="http://schemas.microsoft.com/office/drawing/2014/main" val="2792648342"/>
                    </a:ext>
                  </a:extLst>
                </a:gridCol>
                <a:gridCol w="8430910">
                  <a:extLst>
                    <a:ext uri="{9D8B030D-6E8A-4147-A177-3AD203B41FA5}">
                      <a16:colId xmlns:a16="http://schemas.microsoft.com/office/drawing/2014/main" val="3476917551"/>
                    </a:ext>
                  </a:extLst>
                </a:gridCol>
              </a:tblGrid>
              <a:tr h="128474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분류</a:t>
                      </a:r>
                    </a:p>
                  </a:txBody>
                  <a:tcPr marL="121920" marR="121920" marT="60960" marB="60960" anchor="ctr" anchorCtr="1"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요구사항</a:t>
                      </a:r>
                    </a:p>
                  </a:txBody>
                  <a:tcPr marL="121920" marR="121920" marT="60960" marB="60960" anchor="ctr" anchorCtr="1"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상세내용</a:t>
                      </a:r>
                    </a:p>
                  </a:txBody>
                  <a:tcPr marL="121920" marR="121920" marT="60960" marB="60960" anchor="ctr" anchorCtr="1">
                    <a:solidFill>
                      <a:srgbClr val="808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8029"/>
                  </a:ext>
                </a:extLst>
              </a:tr>
              <a:tr h="13740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시각화</a:t>
                      </a:r>
                    </a:p>
                  </a:txBody>
                  <a:tcPr marL="121920" marR="121920" marT="60960" marB="6096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직관적 차트 생성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드래그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&amp;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드롭 방식의 차트 </a:t>
                      </a:r>
                      <a:r>
                        <a:rPr lang="ko-KR" altLang="en-US" sz="2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빌더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다양한 종류 차트지원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70072"/>
                  </a:ext>
                </a:extLst>
              </a:tr>
              <a:tr h="128474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커뮤니티</a:t>
                      </a:r>
                    </a:p>
                  </a:txBody>
                  <a:tcPr marL="121920" marR="121920" marT="60960" marB="6096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코드 공유 플랫폼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GitHub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공유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협업 에디터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버전관리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26934"/>
                  </a:ext>
                </a:extLst>
              </a:tr>
              <a:tr h="128474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경진대회</a:t>
                      </a:r>
                    </a:p>
                  </a:txBody>
                  <a:tcPr marL="121920" marR="121920" marT="60960" marB="6096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AI/ML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대회 운영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리더보드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자동 평가 시스템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상금 지급 관리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93607"/>
                  </a:ext>
                </a:extLst>
              </a:tr>
              <a:tr h="128474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교육</a:t>
                      </a:r>
                    </a:p>
                  </a:txBody>
                  <a:tcPr marL="121920" marR="121920" marT="60960" marB="6096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온라인 러닝 패스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단계별 학습 과정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실습 환경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인증서 발급</a:t>
                      </a:r>
                      <a:endParaRPr lang="en-US" altLang="ko-KR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793437"/>
                  </a:ext>
                </a:extLst>
              </a:tr>
              <a:tr h="128474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토론</a:t>
                      </a:r>
                    </a:p>
                  </a:txBody>
                  <a:tcPr marL="121920" marR="121920" marT="60960" marB="6096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기술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Q&amp;A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포럼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카테고리별 분류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전문가 답변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평점 시스템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797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14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5734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dirty="0">
                <a:solidFill>
                  <a:srgbClr val="FFFFFF"/>
                </a:solidFill>
                <a:latin typeface="Pretendard Light"/>
              </a:rPr>
              <a:t>3C</a:t>
            </a: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분석</a:t>
            </a:r>
            <a:endParaRPr lang="en-US" sz="2667" dirty="0">
              <a:solidFill>
                <a:srgbClr val="FFFFFF"/>
              </a:solidFill>
              <a:latin typeface="Pretendard Light"/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9C0BB0D5-76AE-43C5-97FE-CF3FF22169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455608"/>
              </p:ext>
            </p:extLst>
          </p:nvPr>
        </p:nvGraphicFramePr>
        <p:xfrm>
          <a:off x="7467600" y="4128406"/>
          <a:ext cx="9448800" cy="7349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90E00B9-FF4C-4323-AA35-B9441E02892C}"/>
              </a:ext>
            </a:extLst>
          </p:cNvPr>
          <p:cNvSpPr txBox="1"/>
          <p:nvPr/>
        </p:nvSpPr>
        <p:spPr>
          <a:xfrm>
            <a:off x="1557867" y="2430653"/>
            <a:ext cx="2863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400" b="1" dirty="0">
                <a:solidFill>
                  <a:schemeClr val="tx2"/>
                </a:solidFill>
              </a:rPr>
              <a:t>3C </a:t>
            </a:r>
            <a:r>
              <a:rPr lang="ko-KR" altLang="en-US" sz="6400" b="1" dirty="0">
                <a:solidFill>
                  <a:schemeClr val="tx2"/>
                </a:solidFill>
              </a:rPr>
              <a:t>분석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1157CA-2BF7-48F5-9FB2-1BE0FBF461B8}"/>
              </a:ext>
            </a:extLst>
          </p:cNvPr>
          <p:cNvSpPr txBox="1"/>
          <p:nvPr/>
        </p:nvSpPr>
        <p:spPr>
          <a:xfrm>
            <a:off x="17678400" y="3657600"/>
            <a:ext cx="4200189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Customer(</a:t>
            </a:r>
            <a:r>
              <a:rPr lang="ko-KR" altLang="en-US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</a:t>
            </a:r>
            <a:r>
              <a:rPr lang="en-US" altLang="ko-KR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4267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F5E4BC-773B-45D6-ABD1-6B13F4777749}"/>
              </a:ext>
            </a:extLst>
          </p:cNvPr>
          <p:cNvSpPr txBox="1"/>
          <p:nvPr/>
        </p:nvSpPr>
        <p:spPr>
          <a:xfrm>
            <a:off x="17707428" y="4437301"/>
            <a:ext cx="416652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사이언티스트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AI/ML 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엔지니어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개발자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분석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입문자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대학생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0BFF51-D39C-45C7-A082-DD4BAAC2E587}"/>
              </a:ext>
            </a:extLst>
          </p:cNvPr>
          <p:cNvSpPr txBox="1"/>
          <p:nvPr/>
        </p:nvSpPr>
        <p:spPr>
          <a:xfrm>
            <a:off x="17740547" y="8229600"/>
            <a:ext cx="5195653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Competitor(</a:t>
            </a:r>
            <a:r>
              <a:rPr lang="ko-KR" altLang="en-US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경쟁자</a:t>
            </a:r>
            <a:r>
              <a:rPr lang="en-US" altLang="ko-KR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4267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595D5-57A4-44E0-98CD-0FC2D9952D46}"/>
              </a:ext>
            </a:extLst>
          </p:cNvPr>
          <p:cNvSpPr txBox="1"/>
          <p:nvPr/>
        </p:nvSpPr>
        <p:spPr>
          <a:xfrm>
            <a:off x="17711519" y="9009301"/>
            <a:ext cx="51844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Kaggle(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글로벌 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위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GitHub, Stack </a:t>
            </a:r>
            <a:r>
              <a:rPr lang="en-US" altLang="ko-KR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OverFlow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국내 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데이콘</a:t>
            </a:r>
            <a:r>
              <a:rPr lang="en-US" altLang="ko-KR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AI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팩토리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ECA2AF-201A-4C49-87F6-C6A353CFE1DE}"/>
              </a:ext>
            </a:extLst>
          </p:cNvPr>
          <p:cNvSpPr txBox="1"/>
          <p:nvPr/>
        </p:nvSpPr>
        <p:spPr>
          <a:xfrm>
            <a:off x="2219822" y="5616570"/>
            <a:ext cx="4164923" cy="1241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Company(</a:t>
            </a:r>
            <a:r>
              <a:rPr lang="ko-KR" altLang="en-US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회사</a:t>
            </a:r>
            <a:r>
              <a:rPr lang="en-US" altLang="ko-KR" sz="4267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r>
              <a:rPr lang="en-US" altLang="ko-KR" sz="3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Hangle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차별화 전략 </a:t>
            </a:r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endParaRPr lang="ko-KR" altLang="en-US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697D97-C144-4C5E-9AAC-A8E76DF1A9FE}"/>
              </a:ext>
            </a:extLst>
          </p:cNvPr>
          <p:cNvSpPr txBox="1"/>
          <p:nvPr/>
        </p:nvSpPr>
        <p:spPr>
          <a:xfrm>
            <a:off x="2198209" y="7018109"/>
            <a:ext cx="52693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한국어 기반 커뮤니티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시각화 기능 강화</a:t>
            </a:r>
            <a:endParaRPr lang="en-US" altLang="ko-KR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ko-KR" altLang="en-US" sz="3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현지화된</a:t>
            </a:r>
            <a:r>
              <a:rPr lang="ko-KR" altLang="en-US" sz="3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대회 및 학습 센터</a:t>
            </a:r>
          </a:p>
        </p:txBody>
      </p:sp>
    </p:spTree>
    <p:extLst>
      <p:ext uri="{BB962C8B-B14F-4D97-AF65-F5344CB8AC3E}">
        <p14:creationId xmlns:p14="http://schemas.microsoft.com/office/powerpoint/2010/main" val="2591281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5734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B/>
          </a:sp3d>
        </p:spPr>
      </p:pic>
      <p:sp>
        <p:nvSpPr>
          <p:cNvPr id="3" name="TextBox 3"/>
          <p:cNvSpPr txBox="1"/>
          <p:nvPr/>
        </p:nvSpPr>
        <p:spPr>
          <a:xfrm>
            <a:off x="6756400" y="1236133"/>
            <a:ext cx="10888133" cy="948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333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53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5333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53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5333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dirty="0">
                <a:solidFill>
                  <a:srgbClr val="FFFFFF"/>
                </a:solidFill>
                <a:latin typeface="Pretendard Light"/>
              </a:rPr>
              <a:t>SWOT</a:t>
            </a: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 분석</a:t>
            </a:r>
            <a:endParaRPr lang="en-US" sz="2667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82800" y="3217334"/>
            <a:ext cx="5537200" cy="829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667">
                <a:solidFill>
                  <a:srgbClr val="FFFFFF"/>
                </a:solidFill>
                <a:ea typeface="Pretendard Bold"/>
              </a:rPr>
              <a:t>목표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C981BC-EACA-4085-BB2B-0B811D00C9BE}"/>
              </a:ext>
            </a:extLst>
          </p:cNvPr>
          <p:cNvSpPr txBox="1"/>
          <p:nvPr/>
        </p:nvSpPr>
        <p:spPr>
          <a:xfrm>
            <a:off x="1557867" y="2440955"/>
            <a:ext cx="38856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400" b="1" dirty="0">
                <a:solidFill>
                  <a:schemeClr val="tx2"/>
                </a:solidFill>
              </a:rPr>
              <a:t>SWOT</a:t>
            </a:r>
            <a:r>
              <a:rPr lang="ko-KR" altLang="en-US" sz="6400" b="1" dirty="0">
                <a:solidFill>
                  <a:schemeClr val="tx2"/>
                </a:solidFill>
              </a:rPr>
              <a:t>분석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C0FED4-0021-4E1B-BBA3-E3E14B2A3BFE}"/>
              </a:ext>
            </a:extLst>
          </p:cNvPr>
          <p:cNvSpPr txBox="1"/>
          <p:nvPr/>
        </p:nvSpPr>
        <p:spPr>
          <a:xfrm>
            <a:off x="14525240" y="4414183"/>
            <a:ext cx="6014895" cy="2520000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20000" numCol="1" rtlCol="0" anchor="ctr" anchorCtr="0">
            <a:spAutoFit/>
          </a:bodyPr>
          <a:lstStyle/>
          <a:p>
            <a:r>
              <a:rPr lang="en-US" altLang="ko-KR" sz="5333" b="1" dirty="0"/>
              <a:t>Strengths(</a:t>
            </a:r>
            <a:r>
              <a:rPr lang="ko-KR" altLang="en-US" sz="5333" b="1" dirty="0"/>
              <a:t>강점</a:t>
            </a:r>
            <a:r>
              <a:rPr lang="en-US" altLang="ko-KR" sz="5333" b="1" dirty="0"/>
              <a:t>)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한국어 특화 서비스</a:t>
            </a:r>
            <a:endParaRPr lang="en-US" altLang="ko-KR" sz="2667" b="1" dirty="0"/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현지 기업 네트워크</a:t>
            </a:r>
            <a:endParaRPr lang="en-US" altLang="ko-KR" sz="2667" b="1" dirty="0"/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빠른 의사결정 구조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EDF392-1246-4BCC-B4E8-4F5D111DE2AD}"/>
              </a:ext>
            </a:extLst>
          </p:cNvPr>
          <p:cNvSpPr txBox="1"/>
          <p:nvPr/>
        </p:nvSpPr>
        <p:spPr>
          <a:xfrm>
            <a:off x="14525241" y="8764156"/>
            <a:ext cx="6014893" cy="2520000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20000" numCol="1" rtlCol="0" anchor="ctr" anchorCtr="0">
            <a:spAutoFit/>
          </a:bodyPr>
          <a:lstStyle/>
          <a:p>
            <a:r>
              <a:rPr lang="en-US" altLang="ko-KR" sz="5333" b="1" dirty="0"/>
              <a:t>Weaknesses(</a:t>
            </a:r>
            <a:r>
              <a:rPr lang="ko-KR" altLang="en-US" sz="5333" b="1" dirty="0"/>
              <a:t>약점</a:t>
            </a:r>
            <a:r>
              <a:rPr lang="en-US" altLang="ko-KR" sz="5333" b="1" dirty="0"/>
              <a:t>)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글로벌 브랜드 인지도</a:t>
            </a:r>
            <a:endParaRPr lang="en-US" altLang="ko-KR" sz="2667" b="1" dirty="0"/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초기 사용자 확보</a:t>
            </a:r>
            <a:endParaRPr lang="en-US" altLang="ko-KR" sz="2667" b="1" dirty="0"/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데이터셋 규모 한계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8CD428-0F75-495E-AF28-2E26B5DF487B}"/>
              </a:ext>
            </a:extLst>
          </p:cNvPr>
          <p:cNvSpPr txBox="1"/>
          <p:nvPr/>
        </p:nvSpPr>
        <p:spPr>
          <a:xfrm>
            <a:off x="3505200" y="4414247"/>
            <a:ext cx="6014895" cy="2520000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numCol="1" rtlCol="0" anchor="ctr" anchorCtr="0">
            <a:spAutoFit/>
          </a:bodyPr>
          <a:lstStyle/>
          <a:p>
            <a:r>
              <a:rPr lang="en-US" altLang="ko-KR" sz="5333" b="1" dirty="0"/>
              <a:t>Threats(</a:t>
            </a:r>
            <a:r>
              <a:rPr lang="ko-KR" altLang="en-US" sz="5333" b="1" dirty="0"/>
              <a:t>위협</a:t>
            </a:r>
            <a:r>
              <a:rPr lang="en-US" altLang="ko-KR" sz="5333" b="1" dirty="0"/>
              <a:t>)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altLang="ko-KR" sz="2667" b="1" dirty="0"/>
              <a:t>Kaggle</a:t>
            </a:r>
            <a:r>
              <a:rPr lang="ko-KR" altLang="en-US" sz="2667" b="1" dirty="0"/>
              <a:t>의 시장 지배력</a:t>
            </a:r>
            <a:endParaRPr lang="en-US" altLang="ko-KR" sz="2667" b="1" dirty="0"/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해외 플랫폼 진출</a:t>
            </a:r>
            <a:endParaRPr lang="en-US" altLang="ko-KR" sz="2667" b="1" dirty="0"/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ko-KR" altLang="en-US" sz="2667" b="1" dirty="0"/>
              <a:t>기술 발전 속도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BEE0D8-F576-423B-84F7-CDE1C6F17C1C}"/>
              </a:ext>
            </a:extLst>
          </p:cNvPr>
          <p:cNvSpPr txBox="1"/>
          <p:nvPr/>
        </p:nvSpPr>
        <p:spPr>
          <a:xfrm>
            <a:off x="3537315" y="8764156"/>
            <a:ext cx="5950668" cy="2520000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numCol="1" rtlCol="0" anchor="ctr" anchorCtr="0">
            <a:spAutoFit/>
          </a:bodyPr>
          <a:lstStyle/>
          <a:p>
            <a:pPr algn="dist"/>
            <a:r>
              <a:rPr lang="en-US" altLang="ko-KR" sz="5333" b="1" dirty="0"/>
              <a:t>Opportunities(</a:t>
            </a:r>
            <a:r>
              <a:rPr lang="ko-KR" altLang="en-US" sz="5333" b="1" dirty="0"/>
              <a:t>기회</a:t>
            </a:r>
            <a:r>
              <a:rPr lang="en-US" altLang="ko-KR" sz="5333" b="1" dirty="0"/>
              <a:t>)</a:t>
            </a:r>
          </a:p>
          <a:p>
            <a:pPr marL="609585" indent="-609585" algn="dist">
              <a:buFont typeface="Arial" panose="020B0604020202020204" pitchFamily="34" charset="0"/>
              <a:buChar char="•"/>
            </a:pPr>
            <a:r>
              <a:rPr lang="ko-KR" altLang="en-US" sz="2667" b="1" dirty="0"/>
              <a:t>디지털 뉴딜 정책</a:t>
            </a:r>
            <a:endParaRPr lang="en-US" altLang="ko-KR" sz="2667" b="1" dirty="0"/>
          </a:p>
          <a:p>
            <a:pPr marL="609585" indent="-609585" algn="dist">
              <a:buFont typeface="Arial" panose="020B0604020202020204" pitchFamily="34" charset="0"/>
              <a:buChar char="•"/>
            </a:pPr>
            <a:r>
              <a:rPr lang="en-US" altLang="ko-KR" sz="2667" b="1" dirty="0"/>
              <a:t>AI</a:t>
            </a:r>
            <a:r>
              <a:rPr lang="ko-KR" altLang="en-US" sz="2667" b="1" dirty="0"/>
              <a:t>교육 수요 증가</a:t>
            </a:r>
            <a:endParaRPr lang="en-US" altLang="ko-KR" sz="2667" b="1" dirty="0"/>
          </a:p>
          <a:p>
            <a:pPr marL="609585" indent="-609585" algn="dist">
              <a:buFont typeface="Arial" panose="020B0604020202020204" pitchFamily="34" charset="0"/>
              <a:buChar char="•"/>
            </a:pPr>
            <a:r>
              <a:rPr lang="ko-KR" altLang="en-US" sz="2667" b="1" dirty="0"/>
              <a:t>원격근무 확산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5734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6756400" y="1236133"/>
            <a:ext cx="10888133" cy="948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333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53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5333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533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altLang="en-US" sz="5333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dirty="0">
                <a:solidFill>
                  <a:srgbClr val="FFFFFF"/>
                </a:solidFill>
                <a:latin typeface="Pretendard Light"/>
              </a:rPr>
              <a:t>SWOT </a:t>
            </a: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전략 수립</a:t>
            </a:r>
            <a:endParaRPr lang="en-US" sz="2667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82800" y="3217334"/>
            <a:ext cx="5537200" cy="829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667">
                <a:solidFill>
                  <a:srgbClr val="FFFFFF"/>
                </a:solidFill>
                <a:ea typeface="Pretendard Bold"/>
              </a:rPr>
              <a:t>목표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73A5D5-8430-435A-AF4C-142FC6D21EE0}"/>
              </a:ext>
            </a:extLst>
          </p:cNvPr>
          <p:cNvSpPr txBox="1"/>
          <p:nvPr/>
        </p:nvSpPr>
        <p:spPr>
          <a:xfrm>
            <a:off x="1557867" y="2401380"/>
            <a:ext cx="5417702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867" b="1" dirty="0">
                <a:solidFill>
                  <a:schemeClr val="tx2"/>
                </a:solidFill>
              </a:rPr>
              <a:t>SWOT </a:t>
            </a:r>
            <a:r>
              <a:rPr lang="ko-KR" altLang="en-US" sz="5867" b="1" dirty="0">
                <a:solidFill>
                  <a:schemeClr val="tx2"/>
                </a:solidFill>
              </a:rPr>
              <a:t>전략 수립</a:t>
            </a:r>
          </a:p>
        </p:txBody>
      </p:sp>
      <p:graphicFrame>
        <p:nvGraphicFramePr>
          <p:cNvPr id="20" name="표 28">
            <a:extLst>
              <a:ext uri="{FF2B5EF4-FFF2-40B4-BE49-F238E27FC236}">
                <a16:creationId xmlns:a16="http://schemas.microsoft.com/office/drawing/2014/main" id="{81ABDBDE-DC03-4E32-8D7B-A67309E40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601052"/>
              </p:ext>
            </p:extLst>
          </p:nvPr>
        </p:nvGraphicFramePr>
        <p:xfrm>
          <a:off x="1557867" y="4641189"/>
          <a:ext cx="21098933" cy="783867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921391">
                  <a:extLst>
                    <a:ext uri="{9D8B030D-6E8A-4147-A177-3AD203B41FA5}">
                      <a16:colId xmlns:a16="http://schemas.microsoft.com/office/drawing/2014/main" val="1059377848"/>
                    </a:ext>
                  </a:extLst>
                </a:gridCol>
                <a:gridCol w="9934237">
                  <a:extLst>
                    <a:ext uri="{9D8B030D-6E8A-4147-A177-3AD203B41FA5}">
                      <a16:colId xmlns:a16="http://schemas.microsoft.com/office/drawing/2014/main" val="2792648342"/>
                    </a:ext>
                  </a:extLst>
                </a:gridCol>
                <a:gridCol w="8243305">
                  <a:extLst>
                    <a:ext uri="{9D8B030D-6E8A-4147-A177-3AD203B41FA5}">
                      <a16:colId xmlns:a16="http://schemas.microsoft.com/office/drawing/2014/main" val="3476917551"/>
                    </a:ext>
                  </a:extLst>
                </a:gridCol>
              </a:tblGrid>
              <a:tr h="15462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 구분</a:t>
                      </a:r>
                    </a:p>
                  </a:txBody>
                  <a:tcPr marL="121920" marR="121920" marT="60960" marB="60960" anchor="ctr"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 내용</a:t>
                      </a:r>
                    </a:p>
                  </a:txBody>
                  <a:tcPr marL="121920" marR="121920" marT="60960" marB="60960" anchor="ctr"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실행 방안</a:t>
                      </a:r>
                    </a:p>
                  </a:txBody>
                  <a:tcPr marL="121920" marR="121920" marT="60960" marB="60960" anchor="ctr">
                    <a:solidFill>
                      <a:srgbClr val="808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8029"/>
                  </a:ext>
                </a:extLst>
              </a:tr>
              <a:tr h="1653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SO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한국어 특화 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교육 플랫폼 구축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정부 과제 연계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대학 파트너십 확대</a:t>
                      </a:r>
                      <a:endParaRPr lang="en-US" altLang="ko-KR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기업 맞춤 교육 프로그램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70072"/>
                  </a:ext>
                </a:extLst>
              </a:tr>
              <a:tr h="1546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WO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글로벌 데이터셋 확보 및 브랜드 강화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국제 대회 유치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해외 기업 협력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인플루언서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마케팅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26934"/>
                  </a:ext>
                </a:extLst>
              </a:tr>
              <a:tr h="1546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차별화된 서비스로 경쟁력 확보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협업 도구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한국 기업 데이터 특화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멘토링 시스템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93607"/>
                  </a:ext>
                </a:extLst>
              </a:tr>
              <a:tr h="1546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WT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전략적 제휴를 통한 생존 기반 마련</a:t>
                      </a:r>
                    </a:p>
                  </a:txBody>
                  <a:tcPr marL="121920" marR="121920"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대기업 투자 유치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기술 </a:t>
                      </a:r>
                      <a:r>
                        <a:rPr lang="ko-KR" altLang="en-US" sz="2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라이센싱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니치 마켓 집중</a:t>
                      </a:r>
                      <a:endParaRPr lang="en-US" altLang="ko-KR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79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24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D481-6081-C53A-171E-9935DF2E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FD77B49-DE1B-025E-EFC2-3F2CC081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53300" cy="7353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1809050-AC66-9826-9C4C-0AA3D41F0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30A10BA-0F0D-C90E-92A6-85E36B520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31B71E3-1969-FC24-6C36-FFD8C4B2C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AA86526-5EA7-02F2-0C27-D3249CA2C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7CE8B31-6C8E-3E40-4478-75EE44F09C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8778DCC-F0B5-5D07-7EC3-D749CFF65A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2DED6C5F-9FF7-6796-9A73-6C0EB404F9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F9920D7-A958-55D9-A7F2-D4FF216BC8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78700" y="9918700"/>
            <a:ext cx="2540000" cy="2070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676D16A-C53E-E9E0-64FA-95B6B6FE7B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62700" y="8737600"/>
            <a:ext cx="304800" cy="3048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7F2679AB-C354-E307-85F9-AD649C2765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62700" y="10642600"/>
            <a:ext cx="304800" cy="3048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E34452F5-2DF0-05E3-B858-D0D8810E98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43900" y="8737600"/>
            <a:ext cx="304800" cy="3048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F0878616-8517-6990-DDF7-061DE55DAF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06800" y="8305800"/>
            <a:ext cx="3492500" cy="1181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6E3799E3-57D3-742F-141B-17D439541262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데이터 환경 분석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2F6B2C3-78B3-6CF5-CFF8-F33CB2927664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dirty="0">
                <a:solidFill>
                  <a:srgbClr val="C2C2C2"/>
                </a:solidFill>
                <a:latin typeface="Pretendard Medium"/>
              </a:rPr>
              <a:t>02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70E6C64-F38E-C651-57D2-1C44E189FDAF}"/>
              </a:ext>
            </a:extLst>
          </p:cNvPr>
          <p:cNvSpPr txBox="1"/>
          <p:nvPr/>
        </p:nvSpPr>
        <p:spPr>
          <a:xfrm>
            <a:off x="1765300" y="3581400"/>
            <a:ext cx="162941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0" b="0" i="0" u="none" strike="noStrike" dirty="0">
                <a:solidFill>
                  <a:srgbClr val="000000"/>
                </a:solidFill>
                <a:ea typeface="Pretendard Bold"/>
              </a:rPr>
              <a:t>데이터 환경 분석</a:t>
            </a:r>
            <a:endParaRPr lang="en-US" sz="120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8523AFA-533B-C514-4E65-37D83A0FA7B6}"/>
              </a:ext>
            </a:extLst>
          </p:cNvPr>
          <p:cNvSpPr txBox="1"/>
          <p:nvPr/>
        </p:nvSpPr>
        <p:spPr>
          <a:xfrm>
            <a:off x="1765300" y="6858000"/>
            <a:ext cx="11341100" cy="51181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ea typeface="Pretendard Medium"/>
              </a:rPr>
              <a:t>분석 목적 정의</a:t>
            </a:r>
            <a:endParaRPr lang="en-US" altLang="ko-KR" sz="4266" b="0" i="0" u="none" strike="noStrike" dirty="0">
              <a:solidFill>
                <a:srgbClr val="C2C2C2"/>
              </a:solidFill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dirty="0">
                <a:solidFill>
                  <a:srgbClr val="C2C2C2"/>
                </a:solidFill>
                <a:latin typeface="Pretendard Medium"/>
                <a:ea typeface="Pretendard Medium"/>
              </a:rPr>
              <a:t>필요한 데이터 항목 도출</a:t>
            </a:r>
            <a:endParaRPr lang="en-US" altLang="ko-KR" sz="4266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데이터 출처 조사</a:t>
            </a:r>
            <a:endParaRPr lang="en-US" altLang="ko-KR" sz="4266" b="0" i="0" u="none" strike="noStrike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dirty="0">
                <a:solidFill>
                  <a:srgbClr val="C2C2C2"/>
                </a:solidFill>
                <a:latin typeface="Pretendard Medium"/>
                <a:ea typeface="Pretendard Medium"/>
              </a:rPr>
              <a:t>데이터 형태 파악</a:t>
            </a:r>
            <a:endParaRPr lang="en-US" altLang="ko-KR" sz="4266" b="0" i="0" u="none" strike="noStrike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dirty="0">
                <a:solidFill>
                  <a:srgbClr val="C2C2C2"/>
                </a:solidFill>
                <a:latin typeface="Pretendard Medium"/>
                <a:ea typeface="Pretendard Medium"/>
              </a:rPr>
              <a:t>수집 가능성 검토</a:t>
            </a:r>
            <a:endParaRPr lang="en-US" altLang="ko-KR" sz="4266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후보 데이터 선정</a:t>
            </a:r>
            <a:endParaRPr lang="en-US" altLang="ko-KR" sz="4266" b="0" i="0" u="none" strike="noStrike" dirty="0">
              <a:solidFill>
                <a:srgbClr val="C2C2C2"/>
              </a:solidFill>
              <a:latin typeface="Pretendard Medium"/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93884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1C39581B-CF85-408E-BA5B-C1A158577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558800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3F0CADD9-2568-4F58-B904-B6C9AC13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" y="558800"/>
            <a:ext cx="23147867" cy="1202267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212284B0-ADC2-4810-99D5-5A0A4145C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067" y="863600"/>
            <a:ext cx="9719733" cy="592667"/>
          </a:xfrm>
          <a:prstGeom prst="rect">
            <a:avLst/>
          </a:prstGeom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A46070D2-6CCA-4A1E-BD2C-F5FEF5FAF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016000"/>
            <a:ext cx="304800" cy="304800"/>
          </a:xfrm>
          <a:prstGeom prst="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F03B7D6E-9D89-4DE4-A5FB-B95FDA5DB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067" y="1016000"/>
            <a:ext cx="304800" cy="3048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D4922E9C-2A6A-42CB-AD64-91621A2D3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6000"/>
            <a:ext cx="304800" cy="304800"/>
          </a:xfrm>
          <a:prstGeom prst="rect">
            <a:avLst/>
          </a:prstGeom>
        </p:spPr>
      </p:pic>
      <p:pic>
        <p:nvPicPr>
          <p:cNvPr id="36" name="Picture 13">
            <a:extLst>
              <a:ext uri="{FF2B5EF4-FFF2-40B4-BE49-F238E27FC236}">
                <a16:creationId xmlns:a16="http://schemas.microsoft.com/office/drawing/2014/main" id="{7851A186-5F5B-4A54-938E-0ED2951F8D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6133" y="965200"/>
            <a:ext cx="304800" cy="372533"/>
          </a:xfrm>
          <a:prstGeom prst="rect">
            <a:avLst/>
          </a:prstGeom>
        </p:spPr>
      </p:pic>
      <p:sp>
        <p:nvSpPr>
          <p:cNvPr id="37" name="TextBox 15">
            <a:extLst>
              <a:ext uri="{FF2B5EF4-FFF2-40B4-BE49-F238E27FC236}">
                <a16:creationId xmlns:a16="http://schemas.microsoft.com/office/drawing/2014/main" id="{67977083-68E0-4BFC-8298-A3A2CF092D8D}"/>
              </a:ext>
            </a:extLst>
          </p:cNvPr>
          <p:cNvSpPr txBox="1"/>
          <p:nvPr/>
        </p:nvSpPr>
        <p:spPr>
          <a:xfrm>
            <a:off x="9144000" y="914400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altLang="ko-KR" sz="2667" u="sng" dirty="0">
                <a:solidFill>
                  <a:srgbClr val="FFFFFF"/>
                </a:solidFill>
                <a:latin typeface="Pretendard Light"/>
              </a:rPr>
              <a:t>02.</a:t>
            </a:r>
            <a:r>
              <a:rPr lang="ko-KR" altLang="en-US" sz="2667" u="sng" dirty="0">
                <a:solidFill>
                  <a:srgbClr val="FFFFFF"/>
                </a:solidFill>
                <a:latin typeface="Pretendard Light"/>
              </a:rPr>
              <a:t> 데이터 환경 분석</a:t>
            </a:r>
            <a:endParaRPr lang="en-US" altLang="ko-KR" sz="2667" u="sng" dirty="0">
              <a:solidFill>
                <a:srgbClr val="FFFFFF"/>
              </a:solidFill>
              <a:latin typeface="Pretendard Light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6A5C576-7859-C159-F6C9-E0BA77B59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443241"/>
              </p:ext>
            </p:extLst>
          </p:nvPr>
        </p:nvGraphicFramePr>
        <p:xfrm>
          <a:off x="1134533" y="2308806"/>
          <a:ext cx="22114933" cy="1021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955662297"/>
                    </a:ext>
                  </a:extLst>
                </a:gridCol>
                <a:gridCol w="18558933">
                  <a:extLst>
                    <a:ext uri="{9D8B030D-6E8A-4147-A177-3AD203B41FA5}">
                      <a16:colId xmlns:a16="http://schemas.microsoft.com/office/drawing/2014/main" val="1396699055"/>
                    </a:ext>
                  </a:extLst>
                </a:gridCol>
              </a:tblGrid>
              <a:tr h="1085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구분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내용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767414"/>
                  </a:ext>
                </a:extLst>
              </a:tr>
              <a:tr h="1976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모델 선정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서비스명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공공데이터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기반 빅데이터 시각화 분석 서비스</a:t>
                      </a: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목적 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각종 사이트의 데이터들을 시각화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데이터를 공유하고 코드와 그래프를 공유할 수 있는 플랫폼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840271"/>
                  </a:ext>
                </a:extLst>
              </a:tr>
              <a:tr h="18900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2.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후보 식별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내부 데이터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자체 서비스 로그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분석 결과</a:t>
                      </a: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외부 데이터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Kaggle,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공공 데이터 포탈의 공개 데이터셋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747490"/>
                  </a:ext>
                </a:extLst>
              </a:tr>
              <a:tr h="19236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3.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유형 분석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정형 데이터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CSV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기반 구조화 데이터</a:t>
                      </a: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비정형 데이터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이미지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텍스트 데이터</a:t>
                      </a: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반정형 데이터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JSON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형태 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API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76285"/>
                  </a:ext>
                </a:extLst>
              </a:tr>
              <a:tr h="33350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4.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상세 분석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보관 형태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CSV, JSON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시각화 출력</a:t>
                      </a: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크기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데이터셋 별 용량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(byte)</a:t>
                      </a: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생산 주기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공공데이터는 정기 갱신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생산 주체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en-US" altLang="ko-KR" sz="28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Hangle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이용자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기업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개인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공개 여부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대부분 공개</a:t>
                      </a: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457200" indent="-4572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원시 여부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원시 데이터 </a:t>
                      </a: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 </a:t>
                      </a:r>
                      <a:r>
                        <a:rPr lang="ko-KR" altLang="en-US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커뮤니티 가공 데이터 모두 존재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7072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6134-0AB6-5492-ACF6-9ABB7092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6299219-E297-569A-47F5-2087567C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C2EE320-96F4-9EE4-1D54-FB2EE169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578100"/>
            <a:ext cx="7061200" cy="9779000"/>
          </a:xfrm>
          <a:prstGeom prst="rect">
            <a:avLst/>
          </a:prstGeom>
          <a:effectLst>
            <a:outerShdw blurRad="352976" dist="271520" dir="4020000">
              <a:srgbClr val="000000">
                <a:alpha val="30000"/>
              </a:srgbClr>
            </a:outerShdw>
          </a:effec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38E35B0-AFF9-AE3D-C4EA-44E64A476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2578100"/>
            <a:ext cx="14312900" cy="9779000"/>
          </a:xfrm>
          <a:prstGeom prst="rect">
            <a:avLst/>
          </a:prstGeom>
          <a:effectLst>
            <a:outerShdw blurRad="348234" dist="178581" dir="4020000">
              <a:srgbClr val="000000">
                <a:alpha val="20000"/>
              </a:srgbClr>
            </a:outerShdw>
          </a:effec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4435FD4-5FCE-5AA1-445B-5A3AEE39B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500" y="6934200"/>
            <a:ext cx="1041400" cy="1041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85E44B2-338C-04BC-5704-1099E58E5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C25F3B4-C5DD-A8F5-4E48-63FA4D07F6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8196201E-B841-DD1D-5315-277A70B487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0A2B1D64-ED99-9668-ECFF-A37826C494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535BB8F5-5CA7-B91A-9F81-316B6B59E7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3D5B57F5-A642-E9D3-4F47-1A09B479AD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2C60FD3B-10BF-BEFD-B563-479B0C1AF6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1000" y="3213100"/>
            <a:ext cx="762000" cy="762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E40A3F23-F2E4-C2A7-6E85-BAE13787FF56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67" u="sng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02-01. </a:t>
            </a:r>
            <a:r>
              <a:rPr lang="ko-KR" altLang="en-US" sz="2667" u="sng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 목적 정의</a:t>
            </a:r>
            <a:r>
              <a:rPr lang="en-US" altLang="ko-KR" sz="2667" u="sng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4B05918-488B-F028-C7D1-C1CC16D9D27D}"/>
              </a:ext>
            </a:extLst>
          </p:cNvPr>
          <p:cNvSpPr txBox="1"/>
          <p:nvPr/>
        </p:nvSpPr>
        <p:spPr>
          <a:xfrm>
            <a:off x="2082800" y="3200400"/>
            <a:ext cx="56007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4666" b="0" i="0" u="none" strike="noStrike" dirty="0">
                <a:solidFill>
                  <a:srgbClr val="FFFFFF"/>
                </a:solidFill>
                <a:ea typeface="Pretendard Bold"/>
              </a:rPr>
              <a:t>1. </a:t>
            </a:r>
            <a:r>
              <a:rPr lang="ko-KR" altLang="en-US" sz="4666" b="0" i="0" u="none" strike="noStrike" dirty="0">
                <a:solidFill>
                  <a:srgbClr val="FFFFFF"/>
                </a:solidFill>
                <a:ea typeface="Pretendard Bold"/>
              </a:rPr>
              <a:t>분석 목표 정의</a:t>
            </a:r>
            <a:endParaRPr lang="en" sz="4666" b="0" i="0" u="none" strike="noStrike" dirty="0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A47696C-E285-AD57-6824-EB6B1EA7BF78}"/>
              </a:ext>
            </a:extLst>
          </p:cNvPr>
          <p:cNvSpPr txBox="1"/>
          <p:nvPr/>
        </p:nvSpPr>
        <p:spPr>
          <a:xfrm>
            <a:off x="2082800" y="4394200"/>
            <a:ext cx="5575300" cy="1320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EEEEEE"/>
                </a:solidFill>
                <a:ea typeface="Pretendard Medium"/>
              </a:rPr>
              <a:t>서비스명 </a:t>
            </a:r>
            <a:r>
              <a:rPr lang="en-US" altLang="ko-KR" sz="4000" b="0" i="0" u="none" strike="noStrike" dirty="0">
                <a:solidFill>
                  <a:srgbClr val="EEEEEE"/>
                </a:solidFill>
                <a:ea typeface="Pretendard Medium"/>
              </a:rPr>
              <a:t>:</a:t>
            </a:r>
            <a:r>
              <a:rPr lang="ko-KR" altLang="en-US" sz="4000" b="0" i="0" u="none" strike="noStrike" dirty="0">
                <a:solidFill>
                  <a:srgbClr val="EEEEEE"/>
                </a:solidFill>
                <a:ea typeface="Pretendard Medium"/>
              </a:rPr>
              <a:t> 공공 데이터 기반 빅데이터 시각화 및 분석 서비스</a:t>
            </a:r>
            <a:endParaRPr lang="en-US" sz="4000" b="0" i="0" u="none" strike="noStrike" dirty="0">
              <a:solidFill>
                <a:srgbClr val="EEEEEE"/>
              </a:solidFill>
              <a:latin typeface="Pretendard Medium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6E9A2BD-FD9F-A29F-3CC9-B4E18A4AC3FA}"/>
              </a:ext>
            </a:extLst>
          </p:cNvPr>
          <p:cNvSpPr txBox="1"/>
          <p:nvPr/>
        </p:nvSpPr>
        <p:spPr>
          <a:xfrm>
            <a:off x="2082800" y="7581900"/>
            <a:ext cx="5537200" cy="39878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marL="342900" lvl="1" indent="-342900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200" dirty="0">
                <a:solidFill>
                  <a:srgbClr val="C2C2C2"/>
                </a:solidFill>
                <a:latin typeface="Pretendard Regular"/>
              </a:rPr>
              <a:t>각종 데이터들의 시각화</a:t>
            </a:r>
          </a:p>
          <a:p>
            <a:pPr marL="342900" lvl="1" indent="-342900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200" dirty="0">
                <a:solidFill>
                  <a:srgbClr val="C2C2C2"/>
                </a:solidFill>
                <a:latin typeface="Pretendard Regular"/>
              </a:rPr>
              <a:t>코드 공유</a:t>
            </a:r>
          </a:p>
          <a:p>
            <a:pPr marL="342900" lvl="1" indent="-342900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200" dirty="0">
                <a:solidFill>
                  <a:srgbClr val="C2C2C2"/>
                </a:solidFill>
                <a:latin typeface="Pretendard Regular"/>
              </a:rPr>
              <a:t>대회 정보 공유</a:t>
            </a:r>
          </a:p>
          <a:p>
            <a:pPr marL="342900" lvl="1" indent="-342900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200" dirty="0">
                <a:solidFill>
                  <a:srgbClr val="C2C2C2"/>
                </a:solidFill>
                <a:latin typeface="Pretendard Regular"/>
              </a:rPr>
              <a:t>커뮤니티 제공</a:t>
            </a:r>
          </a:p>
          <a:p>
            <a:pPr marL="342900" lvl="1" indent="-342900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3200" dirty="0">
              <a:solidFill>
                <a:srgbClr val="C2C2C2"/>
              </a:solidFill>
              <a:latin typeface="Pretendard Regular"/>
            </a:endParaRPr>
          </a:p>
          <a:p>
            <a:pPr marL="342900" lvl="1" indent="-342900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3200" dirty="0">
              <a:solidFill>
                <a:srgbClr val="C2C2C2"/>
              </a:solidFill>
              <a:latin typeface="Pretendard Regular"/>
            </a:endParaRPr>
          </a:p>
          <a:p>
            <a:pPr marL="342900" lvl="1" indent="-342900">
              <a:lnSpc>
                <a:spcPct val="166000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3200" dirty="0">
              <a:solidFill>
                <a:srgbClr val="717377"/>
              </a:solidFill>
              <a:ea typeface="Pretendard Regular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0F9D522-C655-6530-024A-01D77C4225DD}"/>
              </a:ext>
            </a:extLst>
          </p:cNvPr>
          <p:cNvSpPr txBox="1"/>
          <p:nvPr/>
        </p:nvSpPr>
        <p:spPr>
          <a:xfrm>
            <a:off x="9804400" y="3200400"/>
            <a:ext cx="131445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666" b="0" i="0" u="none" strike="noStrike" dirty="0">
                <a:solidFill>
                  <a:srgbClr val="000000"/>
                </a:solidFill>
                <a:ea typeface="Pretendard Bold"/>
              </a:rPr>
              <a:t>목적</a:t>
            </a:r>
            <a:endParaRPr lang="ko-KR" sz="4666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E14D987-5A2F-6D31-E79F-0E5DEE4D980C}"/>
              </a:ext>
            </a:extLst>
          </p:cNvPr>
          <p:cNvSpPr txBox="1"/>
          <p:nvPr/>
        </p:nvSpPr>
        <p:spPr>
          <a:xfrm>
            <a:off x="9804400" y="4394200"/>
            <a:ext cx="13093700" cy="6743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200" dirty="0">
                <a:solidFill>
                  <a:srgbClr val="717377"/>
                </a:solidFill>
                <a:ea typeface="Pretendard Regular"/>
              </a:rPr>
              <a:t>공공데이터 시각화를 통해 데이터 이해도 제공</a:t>
            </a:r>
          </a:p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3200" dirty="0">
              <a:solidFill>
                <a:srgbClr val="717377"/>
              </a:solidFill>
              <a:ea typeface="Pretendard Regular"/>
            </a:endParaRPr>
          </a:p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200" dirty="0">
                <a:solidFill>
                  <a:srgbClr val="717377"/>
                </a:solidFill>
                <a:ea typeface="Pretendard Regular"/>
              </a:rPr>
              <a:t>데이터 분석 대회를 운영 혹은 정보 등을 제공하여 문제 해결 및 인재 양성</a:t>
            </a:r>
          </a:p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3200" dirty="0">
              <a:solidFill>
                <a:srgbClr val="717377"/>
              </a:solidFill>
              <a:ea typeface="Pretendard Regular"/>
            </a:endParaRPr>
          </a:p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3200" dirty="0">
                <a:solidFill>
                  <a:srgbClr val="717377"/>
                </a:solidFill>
                <a:ea typeface="Pretendard Regular"/>
              </a:rPr>
              <a:t>커뮤니티를 통한 지식 공유 및 데이터 활용 문화 확산</a:t>
            </a:r>
          </a:p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3200" dirty="0">
              <a:solidFill>
                <a:srgbClr val="717377"/>
              </a:solidFill>
              <a:ea typeface="Pretendard Regular"/>
            </a:endParaRPr>
          </a:p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endParaRPr lang="ko-KR" altLang="ko-KR" sz="3200" dirty="0">
              <a:solidFill>
                <a:srgbClr val="717377"/>
              </a:solidFill>
              <a:ea typeface="Pretendard Regular"/>
            </a:endParaRPr>
          </a:p>
          <a:p>
            <a:pPr marL="342900" lvl="1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3200" dirty="0">
              <a:solidFill>
                <a:srgbClr val="C2C2C2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907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2FF1-D480-2FFD-CA18-E252944E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1BEB4118-0842-7D7C-BEB8-EDABDF68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558800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4387592F-2CD1-1556-7A91-7D3D084AF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" y="558800"/>
            <a:ext cx="23147867" cy="1202267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AD86BD05-56BC-4F40-4124-80629CEBA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067" y="863600"/>
            <a:ext cx="9719733" cy="592667"/>
          </a:xfrm>
          <a:prstGeom prst="rect">
            <a:avLst/>
          </a:prstGeom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C10493A2-F53C-AD56-B31D-ED531C23D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016000"/>
            <a:ext cx="304800" cy="304800"/>
          </a:xfrm>
          <a:prstGeom prst="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08E46E45-BCA1-D01F-83A7-833A26B5A9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067" y="1016000"/>
            <a:ext cx="304800" cy="3048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B7643F27-06E9-762F-BE86-CEF87BEB8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6000"/>
            <a:ext cx="304800" cy="304800"/>
          </a:xfrm>
          <a:prstGeom prst="rect">
            <a:avLst/>
          </a:prstGeom>
        </p:spPr>
      </p:pic>
      <p:pic>
        <p:nvPicPr>
          <p:cNvPr id="36" name="Picture 13">
            <a:extLst>
              <a:ext uri="{FF2B5EF4-FFF2-40B4-BE49-F238E27FC236}">
                <a16:creationId xmlns:a16="http://schemas.microsoft.com/office/drawing/2014/main" id="{0787F65E-E50F-B346-6D61-A96BAE2709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6133" y="965200"/>
            <a:ext cx="304800" cy="372533"/>
          </a:xfrm>
          <a:prstGeom prst="rect">
            <a:avLst/>
          </a:prstGeom>
        </p:spPr>
      </p:pic>
      <p:sp>
        <p:nvSpPr>
          <p:cNvPr id="37" name="TextBox 15">
            <a:extLst>
              <a:ext uri="{FF2B5EF4-FFF2-40B4-BE49-F238E27FC236}">
                <a16:creationId xmlns:a16="http://schemas.microsoft.com/office/drawing/2014/main" id="{9273837B-E9ED-96C2-9601-8C3D84135F5A}"/>
              </a:ext>
            </a:extLst>
          </p:cNvPr>
          <p:cNvSpPr txBox="1"/>
          <p:nvPr/>
        </p:nvSpPr>
        <p:spPr>
          <a:xfrm>
            <a:off x="9144000" y="914400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u="sng" dirty="0">
                <a:solidFill>
                  <a:srgbClr val="FFFFFF"/>
                </a:solidFill>
                <a:latin typeface="Pretendard Light"/>
              </a:rPr>
              <a:t>02-02. </a:t>
            </a:r>
            <a:r>
              <a:rPr lang="ko-KR" altLang="en-US" sz="2667" u="sng" dirty="0">
                <a:solidFill>
                  <a:srgbClr val="FFFFFF"/>
                </a:solidFill>
                <a:latin typeface="Pretendard Light"/>
              </a:rPr>
              <a:t>필요한 데이터 항목 도출</a:t>
            </a:r>
            <a:endParaRPr lang="en-US" sz="2667" u="sng" dirty="0">
              <a:solidFill>
                <a:srgbClr val="FFFFFF"/>
              </a:solidFill>
              <a:latin typeface="Pretendard Light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F2CD951-DBCE-C296-EC36-27E6F846B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168238"/>
              </p:ext>
            </p:extLst>
          </p:nvPr>
        </p:nvGraphicFramePr>
        <p:xfrm>
          <a:off x="1015999" y="2218267"/>
          <a:ext cx="22114934" cy="10289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2734">
                  <a:extLst>
                    <a:ext uri="{9D8B030D-6E8A-4147-A177-3AD203B41FA5}">
                      <a16:colId xmlns:a16="http://schemas.microsoft.com/office/drawing/2014/main" val="3955662297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396699055"/>
                    </a:ext>
                  </a:extLst>
                </a:gridCol>
                <a:gridCol w="8881533">
                  <a:extLst>
                    <a:ext uri="{9D8B030D-6E8A-4147-A177-3AD203B41FA5}">
                      <a16:colId xmlns:a16="http://schemas.microsoft.com/office/drawing/2014/main" val="2793778234"/>
                    </a:ext>
                  </a:extLst>
                </a:gridCol>
              </a:tblGrid>
              <a:tr h="1053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데이터 항목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필수</a:t>
                      </a:r>
                      <a:r>
                        <a:rPr lang="en-US" altLang="ko-KR" sz="3200" dirty="0"/>
                        <a:t>/</a:t>
                      </a:r>
                      <a:r>
                        <a:rPr lang="ko-KR" altLang="en-US" sz="3200" dirty="0"/>
                        <a:t>보조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활용 목적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767414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공공 데이터셋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통계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행정자료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필수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시각화 콘텐츠 생성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대회 문제 출제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840271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업로드 데이터셋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필수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대회 참여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커뮤니티 공유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747490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대회 제출 데이터 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예측값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결과물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필수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리더보드 평가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순위 산정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76285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커뮤니티 데이터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게시글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Q&amp;A)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학습자료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토론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지식 공유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707232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외부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오픈데이터셋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국내 데이터 부족 보완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340334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리뷰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피드백 데이터 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참가자 후기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개선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알고리즘 고도화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312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308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74BF-46F3-FCDD-3240-631D34E6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783112D7-4BC9-78EB-0AA3-790E24628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558800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2AF5BAD1-3172-7881-74F8-2B5AA8C36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" y="558800"/>
            <a:ext cx="23147867" cy="1202267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1BAB5376-5F72-C73F-FA97-D56BEAEBC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067" y="863600"/>
            <a:ext cx="9719733" cy="592667"/>
          </a:xfrm>
          <a:prstGeom prst="rect">
            <a:avLst/>
          </a:prstGeom>
        </p:spPr>
      </p:pic>
      <p:pic>
        <p:nvPicPr>
          <p:cNvPr id="2" name="Picture 9">
            <a:extLst>
              <a:ext uri="{FF2B5EF4-FFF2-40B4-BE49-F238E27FC236}">
                <a16:creationId xmlns:a16="http://schemas.microsoft.com/office/drawing/2014/main" id="{405BA218-B9FE-1C17-E4D8-88AF651F0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7967" y="2034781"/>
            <a:ext cx="7437417" cy="10808737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0726A46C-0B80-F739-EE5E-A6EBAD2AE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1016000"/>
            <a:ext cx="304800" cy="304800"/>
          </a:xfrm>
          <a:prstGeom prst="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CAECA7FA-35AD-7BE0-2D0F-6CD23B458A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1067" y="1016000"/>
            <a:ext cx="304800" cy="3048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BDF5FF6B-1263-64A6-2E19-126E5B01BB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1016000"/>
            <a:ext cx="304800" cy="304800"/>
          </a:xfrm>
          <a:prstGeom prst="rect">
            <a:avLst/>
          </a:prstGeom>
        </p:spPr>
      </p:pic>
      <p:pic>
        <p:nvPicPr>
          <p:cNvPr id="36" name="Picture 13">
            <a:extLst>
              <a:ext uri="{FF2B5EF4-FFF2-40B4-BE49-F238E27FC236}">
                <a16:creationId xmlns:a16="http://schemas.microsoft.com/office/drawing/2014/main" id="{53B5F56A-0A41-8D8F-F16A-32C6AB53E6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26133" y="965200"/>
            <a:ext cx="304800" cy="372533"/>
          </a:xfrm>
          <a:prstGeom prst="rect">
            <a:avLst/>
          </a:prstGeom>
        </p:spPr>
      </p:pic>
      <p:sp>
        <p:nvSpPr>
          <p:cNvPr id="37" name="TextBox 15">
            <a:extLst>
              <a:ext uri="{FF2B5EF4-FFF2-40B4-BE49-F238E27FC236}">
                <a16:creationId xmlns:a16="http://schemas.microsoft.com/office/drawing/2014/main" id="{914898E1-E93E-CF51-91DE-94D312994C7C}"/>
              </a:ext>
            </a:extLst>
          </p:cNvPr>
          <p:cNvSpPr txBox="1"/>
          <p:nvPr/>
        </p:nvSpPr>
        <p:spPr>
          <a:xfrm>
            <a:off x="9144000" y="914400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u="sng" dirty="0">
                <a:solidFill>
                  <a:srgbClr val="FFFFFF"/>
                </a:solidFill>
                <a:latin typeface="Pretendard Light"/>
              </a:rPr>
              <a:t>02-03. </a:t>
            </a:r>
            <a:r>
              <a:rPr lang="ko-KR" altLang="en-US" sz="2667" u="sng" dirty="0">
                <a:solidFill>
                  <a:srgbClr val="FFFFFF"/>
                </a:solidFill>
                <a:latin typeface="Pretendard Light"/>
              </a:rPr>
              <a:t>데이터 출처 조사</a:t>
            </a:r>
            <a:endParaRPr lang="en-US" sz="2667" u="sng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43491D95-05BF-9A19-46B1-6A2556BC4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66" y="2034780"/>
            <a:ext cx="7437417" cy="10808737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0D3B5B40-5F74-2A49-6364-4301CED5A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99" y="2034780"/>
            <a:ext cx="7437417" cy="10808737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3" name="TextBox 12">
            <a:extLst>
              <a:ext uri="{FF2B5EF4-FFF2-40B4-BE49-F238E27FC236}">
                <a16:creationId xmlns:a16="http://schemas.microsoft.com/office/drawing/2014/main" id="{3F0A2B7F-5BBA-B9DA-AB25-469A8121374B}"/>
              </a:ext>
            </a:extLst>
          </p:cNvPr>
          <p:cNvSpPr txBox="1"/>
          <p:nvPr/>
        </p:nvSpPr>
        <p:spPr>
          <a:xfrm>
            <a:off x="857967" y="4001953"/>
            <a:ext cx="71120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en-US" sz="3733">
                <a:solidFill>
                  <a:srgbClr val="F65B20"/>
                </a:solidFill>
                <a:latin typeface="Pretendard Bold"/>
              </a:rPr>
              <a:t>Kaggle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데이터셋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2C1310AB-F776-1366-095A-D0AB976BA29D}"/>
              </a:ext>
            </a:extLst>
          </p:cNvPr>
          <p:cNvSpPr txBox="1"/>
          <p:nvPr/>
        </p:nvSpPr>
        <p:spPr>
          <a:xfrm>
            <a:off x="1016000" y="5063192"/>
            <a:ext cx="7095067" cy="49952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 40,000</a:t>
            </a:r>
            <a:r>
              <a:rPr lang="ko-KR" altLang="en-US" sz="3200" dirty="0">
                <a:ea typeface="Pretendard Medium"/>
              </a:rPr>
              <a:t>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이상의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다양한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데이터셋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보유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도메인별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고품질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접근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가능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커뮤니티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평가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시스템으로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신뢰성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확보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데이터셋과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함께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분석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코드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노트북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제공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 API</a:t>
            </a:r>
            <a:r>
              <a:rPr lang="ko-KR" altLang="en-US" sz="3200" dirty="0">
                <a:ea typeface="Pretendard Medium"/>
              </a:rPr>
              <a:t>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통한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자동화된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수집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가능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경진대회용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특화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데이터셋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활용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가능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무료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및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유료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데이터셋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모두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제공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8070874F-BE1C-868F-BE08-18168415B0FB}"/>
              </a:ext>
            </a:extLst>
          </p:cNvPr>
          <p:cNvSpPr txBox="1"/>
          <p:nvPr/>
        </p:nvSpPr>
        <p:spPr>
          <a:xfrm>
            <a:off x="8477967" y="4001953"/>
            <a:ext cx="71120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공공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데이터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포털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3A18B986-F417-0401-AD1C-59D2AA96767A}"/>
              </a:ext>
            </a:extLst>
          </p:cNvPr>
          <p:cNvSpPr txBox="1"/>
          <p:nvPr/>
        </p:nvSpPr>
        <p:spPr>
          <a:xfrm>
            <a:off x="8652933" y="5063192"/>
            <a:ext cx="7095067" cy="476660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국내외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공공기관의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표준화된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활용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정부</a:t>
            </a:r>
            <a:r>
              <a:rPr lang="en-US" sz="3200" dirty="0">
                <a:latin typeface="Pretendard Medium"/>
              </a:rPr>
              <a:t> 3.0 </a:t>
            </a:r>
            <a:r>
              <a:rPr lang="ko-KR" altLang="en-US" sz="3200" dirty="0">
                <a:ea typeface="Pretendard Medium"/>
              </a:rPr>
              <a:t>정책에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따른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개방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확대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분야별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특화된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공공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포털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연계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정기적으로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업데이트되는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시계열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법적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제약사항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및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활용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범위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명확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메타데이터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표준화로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통합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분석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용이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공공</a:t>
            </a:r>
            <a:r>
              <a:rPr lang="en-US" sz="3200" dirty="0">
                <a:latin typeface="Pretendard Medium"/>
              </a:rPr>
              <a:t> API</a:t>
            </a:r>
            <a:r>
              <a:rPr lang="ko-KR" altLang="en-US" sz="3200" dirty="0">
                <a:ea typeface="Pretendard Medium"/>
              </a:rPr>
              <a:t>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통한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실시간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수집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AFECE16A-5DB6-5F2B-7DBE-30F45F1120F6}"/>
              </a:ext>
            </a:extLst>
          </p:cNvPr>
          <p:cNvSpPr txBox="1"/>
          <p:nvPr/>
        </p:nvSpPr>
        <p:spPr>
          <a:xfrm>
            <a:off x="16097967" y="4018887"/>
            <a:ext cx="71120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기업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내부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데이터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A9B88639-9A71-1A62-40CF-71AA937FAA36}"/>
              </a:ext>
            </a:extLst>
          </p:cNvPr>
          <p:cNvSpPr txBox="1"/>
          <p:nvPr/>
        </p:nvSpPr>
        <p:spPr>
          <a:xfrm>
            <a:off x="16272933" y="5080127"/>
            <a:ext cx="7095067" cy="476660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 고객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, </a:t>
            </a:r>
            <a:r>
              <a:rPr lang="ko-KR" altLang="en-US" sz="3200" dirty="0">
                <a:ea typeface="Pretendard Medium"/>
              </a:rPr>
              <a:t>운영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, </a:t>
            </a:r>
            <a:r>
              <a:rPr lang="ko-KR" altLang="en-US" sz="3200" dirty="0">
                <a:ea typeface="Pretendard Medium"/>
              </a:rPr>
              <a:t>재무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altLang="ko-KR" sz="3200" dirty="0">
                <a:latin typeface="Pretendard Medium"/>
                <a:ea typeface="Pretendard Medium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US" altLang="ko-KR" sz="3200" dirty="0">
                <a:latin typeface="Pretendard Medium"/>
                <a:ea typeface="Pretendard Medium"/>
              </a:rPr>
              <a:t>     </a:t>
            </a:r>
            <a:r>
              <a:rPr lang="ko-KR" altLang="en-US" sz="3200" dirty="0">
                <a:latin typeface="Pretendard Medium"/>
                <a:ea typeface="Pretendard Medium"/>
              </a:rPr>
              <a:t>활용</a:t>
            </a:r>
            <a:endParaRPr lang="ko-KR" altLang="en-US" sz="3200" dirty="0">
              <a:ea typeface="Pretendard Medium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내부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시스템과의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연동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방안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검토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개인정보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보호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규정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준수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방안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마련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부서간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공유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체계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구축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필요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거버넌스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체계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수립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중요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실시간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수집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파이프라인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구축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 err="1">
                <a:ea typeface="Pretendard Medium"/>
              </a:rPr>
              <a:t>내외부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통합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분석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전략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수립</a:t>
            </a:r>
          </a:p>
        </p:txBody>
      </p:sp>
    </p:spTree>
    <p:extLst>
      <p:ext uri="{BB962C8B-B14F-4D97-AF65-F5344CB8AC3E}">
        <p14:creationId xmlns:p14="http://schemas.microsoft.com/office/powerpoint/2010/main" val="2929846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017C-B21C-A6F4-EFAC-A2E59C55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DE9CDDC7-E84C-DDB9-AFFE-4DEBA4235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558800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A25670EC-1D50-AAAA-DD49-260718E18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" y="558800"/>
            <a:ext cx="23147867" cy="1202267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E43E5E60-9966-3098-2334-399FAC0D4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067" y="863600"/>
            <a:ext cx="9719733" cy="592667"/>
          </a:xfrm>
          <a:prstGeom prst="rect">
            <a:avLst/>
          </a:prstGeom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958F6F6C-9511-D67D-5124-D48BC1F48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016000"/>
            <a:ext cx="304800" cy="304800"/>
          </a:xfrm>
          <a:prstGeom prst="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0914B528-A79A-C341-CE99-061E7B1E13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067" y="1016000"/>
            <a:ext cx="304800" cy="3048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9A462590-7609-FFBF-47E0-6F3F827AF2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6000"/>
            <a:ext cx="304800" cy="304800"/>
          </a:xfrm>
          <a:prstGeom prst="rect">
            <a:avLst/>
          </a:prstGeom>
        </p:spPr>
      </p:pic>
      <p:pic>
        <p:nvPicPr>
          <p:cNvPr id="36" name="Picture 13">
            <a:extLst>
              <a:ext uri="{FF2B5EF4-FFF2-40B4-BE49-F238E27FC236}">
                <a16:creationId xmlns:a16="http://schemas.microsoft.com/office/drawing/2014/main" id="{F93780D8-75D4-8117-B506-09A5B8A263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6133" y="965200"/>
            <a:ext cx="304800" cy="372533"/>
          </a:xfrm>
          <a:prstGeom prst="rect">
            <a:avLst/>
          </a:prstGeom>
        </p:spPr>
      </p:pic>
      <p:sp>
        <p:nvSpPr>
          <p:cNvPr id="37" name="TextBox 15">
            <a:extLst>
              <a:ext uri="{FF2B5EF4-FFF2-40B4-BE49-F238E27FC236}">
                <a16:creationId xmlns:a16="http://schemas.microsoft.com/office/drawing/2014/main" id="{35FC43C9-FA80-752D-C80D-3C5EF95579C2}"/>
              </a:ext>
            </a:extLst>
          </p:cNvPr>
          <p:cNvSpPr txBox="1"/>
          <p:nvPr/>
        </p:nvSpPr>
        <p:spPr>
          <a:xfrm>
            <a:off x="9144000" y="914400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u="sng" dirty="0">
                <a:solidFill>
                  <a:srgbClr val="FFFFFF"/>
                </a:solidFill>
                <a:latin typeface="Pretendard Light"/>
              </a:rPr>
              <a:t>02-04. </a:t>
            </a:r>
            <a:r>
              <a:rPr lang="ko-KR" altLang="en-US" sz="2667" u="sng" dirty="0">
                <a:solidFill>
                  <a:srgbClr val="FFFFFF"/>
                </a:solidFill>
                <a:latin typeface="Pretendard Light"/>
              </a:rPr>
              <a:t>데이터 형태 파악</a:t>
            </a:r>
            <a:endParaRPr lang="en-US" sz="2667" u="sng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DBB76DEB-2102-EB14-DE54-779740D540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683" y="2034781"/>
            <a:ext cx="22703701" cy="10808737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644DA00F-108E-5B23-BCB8-0BBF4D65FE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195" y="4077648"/>
            <a:ext cx="5977467" cy="2912533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40BB5D25-ECD8-D910-B28A-2F9F1FC277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66061" y="4077648"/>
            <a:ext cx="5977467" cy="2912533"/>
          </a:xfrm>
          <a:prstGeom prst="rect">
            <a:avLst/>
          </a:prstGeom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AD189183-DDFA-7F3D-8541-0FD1708F9A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424" y="8386025"/>
            <a:ext cx="5977467" cy="2929467"/>
          </a:xfrm>
          <a:prstGeom prst="rect">
            <a:avLst/>
          </a:prstGeom>
        </p:spPr>
      </p:pic>
      <p:pic>
        <p:nvPicPr>
          <p:cNvPr id="7" name="Picture 13">
            <a:extLst>
              <a:ext uri="{FF2B5EF4-FFF2-40B4-BE49-F238E27FC236}">
                <a16:creationId xmlns:a16="http://schemas.microsoft.com/office/drawing/2014/main" id="{E6CCF997-989F-6E7F-A025-593B72FFA35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38765" y="8386025"/>
            <a:ext cx="5977467" cy="2929467"/>
          </a:xfrm>
          <a:prstGeom prst="rect">
            <a:avLst/>
          </a:prstGeom>
        </p:spPr>
      </p:pic>
      <p:sp>
        <p:nvSpPr>
          <p:cNvPr id="8" name="TextBox 14">
            <a:extLst>
              <a:ext uri="{FF2B5EF4-FFF2-40B4-BE49-F238E27FC236}">
                <a16:creationId xmlns:a16="http://schemas.microsoft.com/office/drawing/2014/main" id="{84B969F1-DE14-E219-E6CB-D7470D40F38B}"/>
              </a:ext>
            </a:extLst>
          </p:cNvPr>
          <p:cNvSpPr txBox="1"/>
          <p:nvPr/>
        </p:nvSpPr>
        <p:spPr>
          <a:xfrm>
            <a:off x="7315128" y="4572000"/>
            <a:ext cx="49784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sz="3733">
                <a:solidFill>
                  <a:srgbClr val="F65B20"/>
                </a:solidFill>
                <a:latin typeface="Pretendard Bold"/>
              </a:rPr>
              <a:t>CSV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형식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E0DB95E9-6D99-3E86-C5D0-6B64C7B5C7F9}"/>
              </a:ext>
            </a:extLst>
          </p:cNvPr>
          <p:cNvSpPr txBox="1"/>
          <p:nvPr/>
        </p:nvSpPr>
        <p:spPr>
          <a:xfrm>
            <a:off x="7315128" y="5469467"/>
            <a:ext cx="4944533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표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형태의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데이터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간단한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구조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대용량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처리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용이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9ADDF63C-8977-9288-A0B2-492D60D76545}"/>
              </a:ext>
            </a:extLst>
          </p:cNvPr>
          <p:cNvSpPr txBox="1"/>
          <p:nvPr/>
        </p:nvSpPr>
        <p:spPr>
          <a:xfrm>
            <a:off x="7315128" y="8754533"/>
            <a:ext cx="49784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데이터베이스</a:t>
            </a: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49890C7D-BDC0-CBF7-F780-AF0638906556}"/>
              </a:ext>
            </a:extLst>
          </p:cNvPr>
          <p:cNvSpPr txBox="1"/>
          <p:nvPr/>
        </p:nvSpPr>
        <p:spPr>
          <a:xfrm>
            <a:off x="7315128" y="9652000"/>
            <a:ext cx="4944533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구조화된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저장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쿼리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기능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제공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다중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사용자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지원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EDCED2EE-33F9-E025-5254-7EAAA7A60DDB}"/>
              </a:ext>
            </a:extLst>
          </p:cNvPr>
          <p:cNvSpPr txBox="1"/>
          <p:nvPr/>
        </p:nvSpPr>
        <p:spPr>
          <a:xfrm>
            <a:off x="19032995" y="4572000"/>
            <a:ext cx="49784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en-US" sz="3733">
                <a:solidFill>
                  <a:srgbClr val="F65B20"/>
                </a:solidFill>
                <a:latin typeface="Pretendard Bold"/>
              </a:rPr>
              <a:t>JSON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구조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B4A7F16A-FB94-AF0E-B6F5-E713D95F63DC}"/>
              </a:ext>
            </a:extLst>
          </p:cNvPr>
          <p:cNvSpPr txBox="1"/>
          <p:nvPr/>
        </p:nvSpPr>
        <p:spPr>
          <a:xfrm>
            <a:off x="19032995" y="5469467"/>
            <a:ext cx="4944533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계층적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구조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유연한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스키마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웹</a:t>
            </a:r>
            <a:r>
              <a:rPr lang="en-US" sz="3467" dirty="0">
                <a:latin typeface="Pretendard Medium"/>
              </a:rPr>
              <a:t> API </a:t>
            </a:r>
            <a:r>
              <a:rPr lang="ko-KR" altLang="en-US" sz="3467" dirty="0">
                <a:ea typeface="Pretendard Medium"/>
              </a:rPr>
              <a:t>호환성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FD0FB2DD-3687-F0AB-4F9F-4BE2011B7499}"/>
              </a:ext>
            </a:extLst>
          </p:cNvPr>
          <p:cNvSpPr txBox="1"/>
          <p:nvPr/>
        </p:nvSpPr>
        <p:spPr>
          <a:xfrm>
            <a:off x="19032995" y="8754533"/>
            <a:ext cx="49784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비정형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데이터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19851CC6-BA76-EE6F-9CA0-2060C2A61CE8}"/>
              </a:ext>
            </a:extLst>
          </p:cNvPr>
          <p:cNvSpPr txBox="1"/>
          <p:nvPr/>
        </p:nvSpPr>
        <p:spPr>
          <a:xfrm>
            <a:off x="19032995" y="9652000"/>
            <a:ext cx="4944533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텍스트</a:t>
            </a:r>
            <a:r>
              <a:rPr lang="en-US" sz="3467" dirty="0">
                <a:latin typeface="Pretendard Medium"/>
              </a:rPr>
              <a:t>, </a:t>
            </a:r>
            <a:r>
              <a:rPr lang="ko-KR" altLang="en-US" sz="3467" dirty="0">
                <a:ea typeface="Pretendard Medium"/>
              </a:rPr>
              <a:t>이미지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특수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처리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필요</a:t>
            </a:r>
          </a:p>
          <a:p>
            <a:pPr marL="457200" lvl="0" indent="-4572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altLang="en-US" sz="3467" dirty="0">
                <a:ea typeface="Pretendard Medium"/>
              </a:rPr>
              <a:t>풍부한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정보</a:t>
            </a:r>
            <a:r>
              <a:rPr lang="en-US" sz="3467" dirty="0">
                <a:latin typeface="Pretendard Medium"/>
              </a:rPr>
              <a:t> </a:t>
            </a:r>
            <a:r>
              <a:rPr lang="ko-KR" altLang="en-US" sz="3467" dirty="0">
                <a:ea typeface="Pretendard Medium"/>
              </a:rPr>
              <a:t>함유</a:t>
            </a:r>
          </a:p>
        </p:txBody>
      </p:sp>
    </p:spTree>
    <p:extLst>
      <p:ext uri="{BB962C8B-B14F-4D97-AF65-F5344CB8AC3E}">
        <p14:creationId xmlns:p14="http://schemas.microsoft.com/office/powerpoint/2010/main" val="259814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CA9F-1ECE-0578-5E27-F4BF1C91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AB17F849-F6EE-09BD-10D0-9702D2384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558800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E08210EC-8085-77AB-4775-23ABA0C4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" y="558800"/>
            <a:ext cx="23147867" cy="1202267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095ADB68-8110-4739-2A47-DD7DBF677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067" y="863600"/>
            <a:ext cx="9719733" cy="592667"/>
          </a:xfrm>
          <a:prstGeom prst="rect">
            <a:avLst/>
          </a:prstGeom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CBAB5423-9024-41AC-3A9C-A3A88D5B0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016000"/>
            <a:ext cx="304800" cy="304800"/>
          </a:xfrm>
          <a:prstGeom prst="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765C3AE4-7DB3-5A9C-C9D8-D003B2CA2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067" y="1016000"/>
            <a:ext cx="304800" cy="3048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C9549A62-93DB-3D6C-8D32-70AF79F2F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6000"/>
            <a:ext cx="304800" cy="304800"/>
          </a:xfrm>
          <a:prstGeom prst="rect">
            <a:avLst/>
          </a:prstGeom>
        </p:spPr>
      </p:pic>
      <p:pic>
        <p:nvPicPr>
          <p:cNvPr id="36" name="Picture 13">
            <a:extLst>
              <a:ext uri="{FF2B5EF4-FFF2-40B4-BE49-F238E27FC236}">
                <a16:creationId xmlns:a16="http://schemas.microsoft.com/office/drawing/2014/main" id="{C43B2D2F-2512-3508-4C06-470E5FE87E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6133" y="965200"/>
            <a:ext cx="304800" cy="372533"/>
          </a:xfrm>
          <a:prstGeom prst="rect">
            <a:avLst/>
          </a:prstGeom>
        </p:spPr>
      </p:pic>
      <p:sp>
        <p:nvSpPr>
          <p:cNvPr id="37" name="TextBox 15">
            <a:extLst>
              <a:ext uri="{FF2B5EF4-FFF2-40B4-BE49-F238E27FC236}">
                <a16:creationId xmlns:a16="http://schemas.microsoft.com/office/drawing/2014/main" id="{B5549B0E-1AD5-51FC-1CA3-4B18992F9A46}"/>
              </a:ext>
            </a:extLst>
          </p:cNvPr>
          <p:cNvSpPr txBox="1"/>
          <p:nvPr/>
        </p:nvSpPr>
        <p:spPr>
          <a:xfrm>
            <a:off x="9144000" y="914400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u="sng" dirty="0">
                <a:solidFill>
                  <a:srgbClr val="FFFFFF"/>
                </a:solidFill>
                <a:latin typeface="Pretendard Light"/>
              </a:rPr>
              <a:t>02-05. </a:t>
            </a:r>
            <a:r>
              <a:rPr lang="ko-KR" altLang="en-US" sz="2667" u="sng" dirty="0">
                <a:solidFill>
                  <a:srgbClr val="FFFFFF"/>
                </a:solidFill>
                <a:latin typeface="Pretendard Light"/>
              </a:rPr>
              <a:t>수집 가능성 검토</a:t>
            </a:r>
            <a:endParaRPr lang="en-US" sz="2667" u="sng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C1A3DDFA-232F-1420-3B40-CB772D95B3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97967" y="2034781"/>
            <a:ext cx="7437417" cy="10808737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1A609C07-A3DB-8565-7A2A-1EA5DD3697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3166" y="2034780"/>
            <a:ext cx="7437417" cy="10808737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96466707-AF58-39B7-B5C1-A62F315E2E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099" y="2034780"/>
            <a:ext cx="7437417" cy="10808737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3" name="TextBox 12">
            <a:extLst>
              <a:ext uri="{FF2B5EF4-FFF2-40B4-BE49-F238E27FC236}">
                <a16:creationId xmlns:a16="http://schemas.microsoft.com/office/drawing/2014/main" id="{4D2343F5-E61A-CA6F-E69C-1EDA76D72DD6}"/>
              </a:ext>
            </a:extLst>
          </p:cNvPr>
          <p:cNvSpPr txBox="1"/>
          <p:nvPr/>
        </p:nvSpPr>
        <p:spPr>
          <a:xfrm>
            <a:off x="848616" y="4521200"/>
            <a:ext cx="71120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데이터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접근성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분석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8DD5E206-82E3-9952-6F71-5A815DAFB56B}"/>
              </a:ext>
            </a:extLst>
          </p:cNvPr>
          <p:cNvSpPr txBox="1"/>
          <p:nvPr/>
        </p:nvSpPr>
        <p:spPr>
          <a:xfrm>
            <a:off x="1016000" y="5466939"/>
            <a:ext cx="7095067" cy="320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소스별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접근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방식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차이점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분석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공개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데이터셋</a:t>
            </a:r>
            <a:r>
              <a:rPr lang="en-US" sz="3200" dirty="0">
                <a:latin typeface="Pretendard Medium"/>
              </a:rPr>
              <a:t> vs </a:t>
            </a:r>
            <a:r>
              <a:rPr lang="ko-KR" altLang="en-US" sz="3200" dirty="0">
                <a:ea typeface="Pretendard Medium"/>
              </a:rPr>
              <a:t>비공개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접근성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API </a:t>
            </a:r>
            <a:r>
              <a:rPr lang="ko-KR" altLang="en-US" sz="3200" dirty="0">
                <a:ea typeface="Pretendard Medium"/>
              </a:rPr>
              <a:t>제한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및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사용량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한도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파악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Kaggle </a:t>
            </a:r>
            <a:r>
              <a:rPr lang="ko-KR" altLang="en-US" sz="3200" dirty="0">
                <a:ea typeface="Pretendard Medium"/>
              </a:rPr>
              <a:t>데이터셋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접근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권한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체계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접근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인증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및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승인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프로세스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접근성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향상을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위한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전략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수립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소스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다양화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방안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0EF8D06C-11CC-89EA-3FC2-4E7A2C928018}"/>
              </a:ext>
            </a:extLst>
          </p:cNvPr>
          <p:cNvSpPr txBox="1"/>
          <p:nvPr/>
        </p:nvSpPr>
        <p:spPr>
          <a:xfrm>
            <a:off x="8468616" y="4521200"/>
            <a:ext cx="71120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법적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/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윤리적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제약사항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620087F4-F27C-6F71-6564-F5FF13B8456C}"/>
              </a:ext>
            </a:extLst>
          </p:cNvPr>
          <p:cNvSpPr txBox="1"/>
          <p:nvPr/>
        </p:nvSpPr>
        <p:spPr>
          <a:xfrm>
            <a:off x="8652933" y="5466939"/>
            <a:ext cx="7095067" cy="320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개인정보보호법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준수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여부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검토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수집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동의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확인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절차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저작권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및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라이선스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제약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확인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산업별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규제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요건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파악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국가간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이전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규제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검토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윤리적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활용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가이드라인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Pretendard Medium"/>
              </a:rPr>
              <a:t>Kaggle </a:t>
            </a:r>
            <a:r>
              <a:rPr lang="ko-KR" altLang="en-US" sz="3200" dirty="0">
                <a:ea typeface="Pretendard Medium"/>
              </a:rPr>
              <a:t>데이터셋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이용약관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준수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5016D1-B06E-D0D1-D27D-E6B1ABFA075C}"/>
              </a:ext>
            </a:extLst>
          </p:cNvPr>
          <p:cNvSpPr txBox="1"/>
          <p:nvPr/>
        </p:nvSpPr>
        <p:spPr>
          <a:xfrm>
            <a:off x="16088616" y="4538133"/>
            <a:ext cx="7112000" cy="660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수집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비용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및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자원</a:t>
            </a:r>
            <a:r>
              <a:rPr lang="en-US" sz="3733">
                <a:solidFill>
                  <a:srgbClr val="F65B20"/>
                </a:solidFill>
                <a:latin typeface="Pretendard Bold"/>
              </a:rPr>
              <a:t> </a:t>
            </a:r>
            <a:r>
              <a:rPr lang="ko-KR" altLang="en-US" sz="3733">
                <a:solidFill>
                  <a:srgbClr val="F65B20"/>
                </a:solidFill>
                <a:ea typeface="Pretendard Bold"/>
              </a:rPr>
              <a:t>요구사항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4A4F34-E984-A72D-735F-AC096490C838}"/>
              </a:ext>
            </a:extLst>
          </p:cNvPr>
          <p:cNvSpPr txBox="1"/>
          <p:nvPr/>
        </p:nvSpPr>
        <p:spPr>
          <a:xfrm>
            <a:off x="16272933" y="5483872"/>
            <a:ext cx="7095067" cy="320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수집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인프라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구축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비용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스토리지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및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처리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용량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요구사항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인력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투입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시간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및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비용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산정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지속적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업데이트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비용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품질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관리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자원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요구사항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확장성을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고려한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자원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계획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>
                <a:ea typeface="Pretendard Medium"/>
              </a:rPr>
              <a:t>비용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대비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데이터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가치</a:t>
            </a:r>
            <a:r>
              <a:rPr lang="en-US" sz="3200" dirty="0">
                <a:latin typeface="Pretendard Medium"/>
              </a:rPr>
              <a:t> </a:t>
            </a:r>
            <a:r>
              <a:rPr lang="ko-KR" altLang="en-US" sz="3200" dirty="0">
                <a:ea typeface="Pretendard Medium"/>
              </a:rPr>
              <a:t>평가</a:t>
            </a:r>
          </a:p>
        </p:txBody>
      </p:sp>
    </p:spTree>
    <p:extLst>
      <p:ext uri="{BB962C8B-B14F-4D97-AF65-F5344CB8AC3E}">
        <p14:creationId xmlns:p14="http://schemas.microsoft.com/office/powerpoint/2010/main" val="3136794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1811-6EE6-95D1-B1F3-8F98AFBF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58F50E3E-1869-824D-28BF-08F1F0FCF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558800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3EFB93DD-367B-CE42-4D12-427DC707C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" y="558800"/>
            <a:ext cx="23147867" cy="1202267"/>
          </a:xfrm>
          <a:prstGeom prst="rect">
            <a:avLst/>
          </a:prstGeom>
        </p:spPr>
      </p:pic>
      <p:pic>
        <p:nvPicPr>
          <p:cNvPr id="32" name="Picture 9">
            <a:extLst>
              <a:ext uri="{FF2B5EF4-FFF2-40B4-BE49-F238E27FC236}">
                <a16:creationId xmlns:a16="http://schemas.microsoft.com/office/drawing/2014/main" id="{461D4A06-E53E-E78E-6AF1-081B325A5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067" y="863600"/>
            <a:ext cx="9719733" cy="592667"/>
          </a:xfrm>
          <a:prstGeom prst="rect">
            <a:avLst/>
          </a:prstGeom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C19CC9CA-53B5-F867-3761-23B66B48F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1016000"/>
            <a:ext cx="304800" cy="304800"/>
          </a:xfrm>
          <a:prstGeom prst="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1C68E846-0C76-D45F-5CE0-D1A4193F3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067" y="1016000"/>
            <a:ext cx="304800" cy="304800"/>
          </a:xfrm>
          <a:prstGeom prst="rect">
            <a:avLst/>
          </a:prstGeom>
        </p:spPr>
      </p:pic>
      <p:pic>
        <p:nvPicPr>
          <p:cNvPr id="35" name="Picture 12">
            <a:extLst>
              <a:ext uri="{FF2B5EF4-FFF2-40B4-BE49-F238E27FC236}">
                <a16:creationId xmlns:a16="http://schemas.microsoft.com/office/drawing/2014/main" id="{A80DFFF2-7D67-6391-26F5-162779DB73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6000"/>
            <a:ext cx="304800" cy="304800"/>
          </a:xfrm>
          <a:prstGeom prst="rect">
            <a:avLst/>
          </a:prstGeom>
        </p:spPr>
      </p:pic>
      <p:pic>
        <p:nvPicPr>
          <p:cNvPr id="36" name="Picture 13">
            <a:extLst>
              <a:ext uri="{FF2B5EF4-FFF2-40B4-BE49-F238E27FC236}">
                <a16:creationId xmlns:a16="http://schemas.microsoft.com/office/drawing/2014/main" id="{57F23BCB-48B4-0861-0ABA-63F1F29882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6133" y="965200"/>
            <a:ext cx="304800" cy="372533"/>
          </a:xfrm>
          <a:prstGeom prst="rect">
            <a:avLst/>
          </a:prstGeom>
        </p:spPr>
      </p:pic>
      <p:sp>
        <p:nvSpPr>
          <p:cNvPr id="37" name="TextBox 15">
            <a:extLst>
              <a:ext uri="{FF2B5EF4-FFF2-40B4-BE49-F238E27FC236}">
                <a16:creationId xmlns:a16="http://schemas.microsoft.com/office/drawing/2014/main" id="{E224DACA-96B4-EAFF-953A-C30057EAED29}"/>
              </a:ext>
            </a:extLst>
          </p:cNvPr>
          <p:cNvSpPr txBox="1"/>
          <p:nvPr/>
        </p:nvSpPr>
        <p:spPr>
          <a:xfrm>
            <a:off x="9144000" y="914400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67" u="sng" dirty="0">
                <a:solidFill>
                  <a:srgbClr val="FFFFFF"/>
                </a:solidFill>
                <a:latin typeface="Pretendard Light"/>
              </a:rPr>
              <a:t>02-06. </a:t>
            </a:r>
            <a:r>
              <a:rPr lang="ko-KR" altLang="en-US" sz="2667" u="sng" dirty="0">
                <a:solidFill>
                  <a:srgbClr val="FFFFFF"/>
                </a:solidFill>
                <a:latin typeface="Pretendard Light"/>
              </a:rPr>
              <a:t>필요한 데이터 항목 도출</a:t>
            </a:r>
            <a:endParaRPr lang="en-US" sz="2667" u="sng" dirty="0">
              <a:solidFill>
                <a:srgbClr val="FFFFFF"/>
              </a:solidFill>
              <a:latin typeface="Pretendard Light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D255A42-C87C-7ECB-13A2-38E6DA68B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110113"/>
              </p:ext>
            </p:extLst>
          </p:nvPr>
        </p:nvGraphicFramePr>
        <p:xfrm>
          <a:off x="1015999" y="2218267"/>
          <a:ext cx="22114935" cy="10289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1">
                  <a:extLst>
                    <a:ext uri="{9D8B030D-6E8A-4147-A177-3AD203B41FA5}">
                      <a16:colId xmlns:a16="http://schemas.microsoft.com/office/drawing/2014/main" val="3955662297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396699055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793778234"/>
                    </a:ext>
                  </a:extLst>
                </a:gridCol>
                <a:gridCol w="7586134">
                  <a:extLst>
                    <a:ext uri="{9D8B030D-6E8A-4147-A177-3AD203B41FA5}">
                      <a16:colId xmlns:a16="http://schemas.microsoft.com/office/drawing/2014/main" val="2053593130"/>
                    </a:ext>
                  </a:extLst>
                </a:gridCol>
              </a:tblGrid>
              <a:tr h="1053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/>
                        <a:t>데이터 항목</a:t>
                      </a:r>
                      <a:endParaRPr lang="ko-KR" altLang="en-US" sz="32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/>
                        <a:t>필수</a:t>
                      </a:r>
                      <a:r>
                        <a:rPr lang="en-US" altLang="ko-KR" sz="3200"/>
                        <a:t>/</a:t>
                      </a:r>
                      <a:r>
                        <a:rPr lang="ko-KR" altLang="en-US" sz="3200"/>
                        <a:t>보조</a:t>
                      </a:r>
                      <a:endParaRPr lang="ko-KR" altLang="en-US" sz="32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/>
                        <a:t>출처</a:t>
                      </a:r>
                      <a:endParaRPr lang="ko-KR" altLang="en-US" sz="32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/>
                        <a:t>활용 목적</a:t>
                      </a:r>
                      <a:endParaRPr lang="ko-KR" altLang="en-US" sz="32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767414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공공 데이터셋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통계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행정자료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필수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공공데이터포털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통계청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시각화 콘텐츠 생성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대회 문제 출제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840271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업로드 데이터셋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필수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회원 업로드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대회 참여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커뮤니티 공유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747490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대회 제출 데이터 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예측값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결과물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필수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플랫폼 내부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제출 로그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리더보드 평가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순위 산정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76285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커뮤니티 데이터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게시글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Q&amp;A)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내부 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학습자료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토론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지식 공유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707232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외부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오픈데이터셋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Kaggle, </a:t>
                      </a:r>
                      <a:r>
                        <a:rPr lang="en-US" altLang="ko-KR" sz="28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Github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국내 데이터 부족 보완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340334"/>
                  </a:ext>
                </a:extLst>
              </a:tr>
              <a:tr h="153926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리뷰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피드백 데이터 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참가자 후기</a:t>
                      </a:r>
                      <a:r>
                        <a:rPr lang="en-US" altLang="ko-KR" sz="2800" b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</a:t>
                      </a:r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altLang="en-US" sz="2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후기 게시글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개선</a:t>
                      </a:r>
                      <a:r>
                        <a:rPr lang="en-US" altLang="ko-KR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8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알고리즘 고도화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312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374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AB231-FCF8-028F-9391-25B6475A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E4DFEB4-DE8D-5471-2188-71A0DBF2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53300" cy="7353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A1C56F9-5960-8493-C634-9347AECB7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30BCF2E-EA72-5428-4F6C-A559A2116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C222D44-3678-B5AB-A7C8-EAB05FCE1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54F9F16E-8248-7A5E-97E6-AED3B2269D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6BE2C30-836C-76DB-0157-2EBBF514C0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23B31CB-477B-499C-7B1D-E61ADC50D7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6C636A3A-0C69-8A29-8C32-D1A17867BD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37FD7337-AFB5-17FD-2743-89D4B7726D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78700" y="9918700"/>
            <a:ext cx="2540000" cy="2070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11DB3146-B2CC-3488-332C-CCC9806180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62700" y="8737600"/>
            <a:ext cx="304800" cy="3048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E7D7F77-87EA-C1AF-2780-2BD00A6146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62700" y="10642600"/>
            <a:ext cx="304800" cy="3048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6C613F7D-A31E-FF77-00C4-F0ADFE09A1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43900" y="8737600"/>
            <a:ext cx="304800" cy="3048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5EF3073-CA7A-63C9-5695-1A412A7DF6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06800" y="8305800"/>
            <a:ext cx="3492500" cy="1181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C6781E1D-F315-A924-5931-908810C3EDE5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기술 환경 분석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EDB418B-EA5C-40FB-56B2-5B0E14EE3CF9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dirty="0">
                <a:solidFill>
                  <a:srgbClr val="C2C2C2"/>
                </a:solidFill>
                <a:latin typeface="Pretendard Medium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11F65A4-B493-DBA0-1AE2-967B7B7A26BD}"/>
              </a:ext>
            </a:extLst>
          </p:cNvPr>
          <p:cNvSpPr txBox="1"/>
          <p:nvPr/>
        </p:nvSpPr>
        <p:spPr>
          <a:xfrm>
            <a:off x="1765300" y="3581400"/>
            <a:ext cx="162941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0" b="0" i="0" u="none" strike="noStrike" dirty="0">
                <a:solidFill>
                  <a:srgbClr val="000000"/>
                </a:solidFill>
                <a:ea typeface="Pretendard Bold"/>
              </a:rPr>
              <a:t>기술 환경 분석</a:t>
            </a:r>
            <a:endParaRPr lang="en-US" sz="120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52DCD51-0CE1-0088-1142-2B601CDB4019}"/>
              </a:ext>
            </a:extLst>
          </p:cNvPr>
          <p:cNvSpPr txBox="1"/>
          <p:nvPr/>
        </p:nvSpPr>
        <p:spPr>
          <a:xfrm>
            <a:off x="1765300" y="7353300"/>
            <a:ext cx="11341100" cy="46228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ea typeface="Pretendard Medium"/>
              </a:rPr>
              <a:t>데이터 수집 방식 정의</a:t>
            </a:r>
            <a:endParaRPr lang="en-US" altLang="ko-KR" sz="4266" b="0" i="0" u="none" strike="noStrike" dirty="0">
              <a:solidFill>
                <a:srgbClr val="C2C2C2"/>
              </a:solidFill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dirty="0">
                <a:solidFill>
                  <a:srgbClr val="C2C2C2"/>
                </a:solidFill>
                <a:latin typeface="Pretendard Medium"/>
                <a:ea typeface="Pretendard Medium"/>
              </a:rPr>
              <a:t>데이터 저장 방식 정의</a:t>
            </a:r>
            <a:endParaRPr lang="en-US" altLang="ko-KR" sz="4266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데이터 처리 방식 정의</a:t>
            </a:r>
            <a:endParaRPr lang="en-US" altLang="ko-KR" sz="4266" b="0" i="0" u="none" strike="noStrike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dirty="0">
                <a:solidFill>
                  <a:srgbClr val="C2C2C2"/>
                </a:solidFill>
                <a:latin typeface="Pretendard Medium"/>
                <a:ea typeface="Pretendard Medium"/>
              </a:rPr>
              <a:t>데이터 분석 방식 정의</a:t>
            </a:r>
            <a:endParaRPr lang="en-US" altLang="ko-KR" sz="4266" dirty="0">
              <a:solidFill>
                <a:srgbClr val="C2C2C2"/>
              </a:solidFill>
              <a:latin typeface="Pretendard Medium"/>
              <a:ea typeface="Pretendard Medium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4266" b="0" i="0" u="none" strike="noStrike" dirty="0">
                <a:solidFill>
                  <a:srgbClr val="C2C2C2"/>
                </a:solidFill>
                <a:latin typeface="Pretendard Medium"/>
                <a:ea typeface="Pretendard Medium"/>
              </a:rPr>
              <a:t>시각화 방식 정의</a:t>
            </a:r>
            <a:endParaRPr lang="en-US" altLang="ko-KR" sz="4266" b="0" i="0" u="none" strike="noStrike" dirty="0">
              <a:solidFill>
                <a:srgbClr val="C2C2C2"/>
              </a:solidFill>
              <a:latin typeface="Pretendard Medium"/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83750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6625-86E2-4DA9-07F6-7A45615F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95F196B-3181-E850-B0AE-72A704DEE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69588A7-0EE2-12AA-580E-8C83E0656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2B31019-DBB5-DB53-8821-8064CF72B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D480119-0276-8989-15F2-8949EBA1C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ACF55AC-9C7D-379E-4D1F-F2CFFF278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FA836037-ACF9-933F-6452-63E35E8546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A3B30DD-0492-61D4-1239-0FA8AB2BD6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9F3CEC16-4429-929E-A018-C7C1B46B2B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AE7A38F-D92E-A17F-3C1E-FA25EB30B952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기술환경 분석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FA37C85-B53A-AE72-5818-8280DC4B7BF1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dirty="0">
                <a:solidFill>
                  <a:srgbClr val="C2C2C2"/>
                </a:solidFill>
                <a:latin typeface="Pretendard Medium"/>
              </a:rPr>
              <a:t>3</a:t>
            </a:r>
            <a:endParaRPr lang="en" sz="600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B68B9C3-4AF8-775C-6BAD-B5F1D7051D9E}"/>
              </a:ext>
            </a:extLst>
          </p:cNvPr>
          <p:cNvSpPr txBox="1"/>
          <p:nvPr/>
        </p:nvSpPr>
        <p:spPr>
          <a:xfrm>
            <a:off x="1765300" y="3581400"/>
            <a:ext cx="7150100" cy="1041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6000" b="0" i="0" u="none" strike="noStrike" dirty="0">
                <a:solidFill>
                  <a:srgbClr val="000000"/>
                </a:solidFill>
                <a:ea typeface="Pretendard Bold"/>
              </a:rPr>
              <a:t>기술환경 분석</a:t>
            </a:r>
            <a:endParaRPr lang="en" sz="6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1F0C6A0-DE97-FC39-953D-F3BD28AA4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540798"/>
              </p:ext>
            </p:extLst>
          </p:nvPr>
        </p:nvGraphicFramePr>
        <p:xfrm>
          <a:off x="2527300" y="5008900"/>
          <a:ext cx="188849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477">
                  <a:extLst>
                    <a:ext uri="{9D8B030D-6E8A-4147-A177-3AD203B41FA5}">
                      <a16:colId xmlns:a16="http://schemas.microsoft.com/office/drawing/2014/main" val="2204467044"/>
                    </a:ext>
                  </a:extLst>
                </a:gridCol>
                <a:gridCol w="13209423">
                  <a:extLst>
                    <a:ext uri="{9D8B030D-6E8A-4147-A177-3AD203B41FA5}">
                      <a16:colId xmlns:a16="http://schemas.microsoft.com/office/drawing/2014/main" val="3780507476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처리기술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8133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후보 데이터 수집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API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기반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 </a:t>
                      </a:r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크롤링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로그파일 수집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수동 업로드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69724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저장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MySQL / PostgreSQL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MongoDB, HDFS, 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869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처리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대용량 배치 처리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 /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실시간 처리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메모리 기반 처리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보관 처리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79604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분석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통계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</a:t>
                      </a:r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머신러닝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추천시스템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텍스트 마이닝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13273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시각화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웹 대시보드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 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웹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모바일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UI / API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900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319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2000-4306-C7F9-C86C-3355A33C0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09D29E5-306C-D5B7-3ACC-155B0422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1D6CD07-7353-C36D-B979-15E2FB2D6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48A6F84-BC88-40F7-09F1-AC2745B85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CEE85F9-C84E-7978-B4A4-F755931A0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2FB227A-16BC-3BC6-70FE-46C2986EB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E27E9B4-8DCF-D546-5F2B-21957A5EB8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F9D7567C-79C8-4748-DF1F-F0C38C920E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3A35C6F7-BF84-2DE2-3BA8-0BFF63680C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248878D0-E94C-703F-EBE3-41D8C6222276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후보 데이터 수집 방식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E5C614C-B7F1-9E7E-D758-32BC9C9522E5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dirty="0">
                <a:solidFill>
                  <a:srgbClr val="C2C2C2"/>
                </a:solidFill>
                <a:latin typeface="Pretendard Medium"/>
              </a:rPr>
              <a:t>3-1</a:t>
            </a:r>
            <a:endParaRPr lang="en" sz="600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A27BD13-2985-79E8-6AF3-D1AE4254ABE0}"/>
              </a:ext>
            </a:extLst>
          </p:cNvPr>
          <p:cNvSpPr txBox="1"/>
          <p:nvPr/>
        </p:nvSpPr>
        <p:spPr>
          <a:xfrm>
            <a:off x="1765300" y="3581400"/>
            <a:ext cx="7150100" cy="1041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6000" dirty="0">
                <a:solidFill>
                  <a:srgbClr val="000000"/>
                </a:solidFill>
                <a:ea typeface="Pretendard Bold"/>
              </a:rPr>
              <a:t>후보 데이터 수집 방식</a:t>
            </a:r>
            <a:endParaRPr lang="en" sz="6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00BB2A0-DC33-7E25-404F-56E54BC45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16959"/>
              </p:ext>
            </p:extLst>
          </p:nvPr>
        </p:nvGraphicFramePr>
        <p:xfrm>
          <a:off x="2527300" y="5001300"/>
          <a:ext cx="19800000" cy="5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9622">
                  <a:extLst>
                    <a:ext uri="{9D8B030D-6E8A-4147-A177-3AD203B41FA5}">
                      <a16:colId xmlns:a16="http://schemas.microsoft.com/office/drawing/2014/main" val="2204467044"/>
                    </a:ext>
                  </a:extLst>
                </a:gridCol>
                <a:gridCol w="3441310">
                  <a:extLst>
                    <a:ext uri="{9D8B030D-6E8A-4147-A177-3AD203B41FA5}">
                      <a16:colId xmlns:a16="http://schemas.microsoft.com/office/drawing/2014/main" val="3780507476"/>
                    </a:ext>
                  </a:extLst>
                </a:gridCol>
                <a:gridCol w="3142065">
                  <a:extLst>
                    <a:ext uri="{9D8B030D-6E8A-4147-A177-3AD203B41FA5}">
                      <a16:colId xmlns:a16="http://schemas.microsoft.com/office/drawing/2014/main" val="3618925972"/>
                    </a:ext>
                  </a:extLst>
                </a:gridCol>
                <a:gridCol w="2543577">
                  <a:extLst>
                    <a:ext uri="{9D8B030D-6E8A-4147-A177-3AD203B41FA5}">
                      <a16:colId xmlns:a16="http://schemas.microsoft.com/office/drawing/2014/main" val="2684872603"/>
                    </a:ext>
                  </a:extLst>
                </a:gridCol>
                <a:gridCol w="5573426">
                  <a:extLst>
                    <a:ext uri="{9D8B030D-6E8A-4147-A177-3AD203B41FA5}">
                      <a16:colId xmlns:a16="http://schemas.microsoft.com/office/drawing/2014/main" val="240805717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후보 데이터 항목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수집 경로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수집 방식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수집 주기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활용목적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8133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공공 데이터셋 메타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공공데이터포털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API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REST API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호출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대회 주제 데이터셋 후보 제공</a:t>
                      </a:r>
                      <a:endParaRPr lang="en-US" altLang="ko-KR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69724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대회제출기록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앱 내 서비스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SDK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로그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대회용 데이터셋 등록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커뮤니티 공유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869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커뮤니티 게시글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댓글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자체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DB + </a:t>
                      </a:r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크롤링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로그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토론주제 분석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트랜드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79604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앱 내 이용로그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직접 입력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+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활동로그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참가대회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데이터셋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13273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외부 데이터셋 연계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오픈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API/ </a:t>
                      </a:r>
                      <a:r>
                        <a:rPr lang="en-US" altLang="ko-KR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Github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REST API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호출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일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학습용 자료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3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539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0BC92-BE59-F012-2560-3F66B976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0CC8513-AA69-B08D-E7FF-0261F2371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5559731-5C79-39A9-A827-9C5088E5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20CB87A-79C3-DF69-8FCA-EB65C8014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54F8D47-111B-C7DD-64F8-F5FBBF71A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4D51535-851D-4C52-28A2-754DB28E3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886575A-F22F-0B4B-2303-4BA4F940E7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C979A71-AE0A-96EF-72AA-F5685491F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1348B9E1-D3FB-D430-2877-1697C3C98B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2767E95-EE43-EEF6-2A4A-9918A51BBB27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dirty="0">
                <a:solidFill>
                  <a:srgbClr val="FFFFFF"/>
                </a:solidFill>
                <a:latin typeface="Pretendard Light"/>
              </a:rPr>
              <a:t>데이터 저장 방식 정의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E988EE1-1F05-3C97-23CC-08C9569B7A97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dirty="0">
                <a:solidFill>
                  <a:srgbClr val="C2C2C2"/>
                </a:solidFill>
                <a:latin typeface="Pretendard Medium"/>
              </a:rPr>
              <a:t>3.2</a:t>
            </a:r>
            <a:endParaRPr lang="en" sz="6000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C6D47A8-3A94-CC55-A088-D71E1DA3B430}"/>
              </a:ext>
            </a:extLst>
          </p:cNvPr>
          <p:cNvSpPr txBox="1"/>
          <p:nvPr/>
        </p:nvSpPr>
        <p:spPr>
          <a:xfrm>
            <a:off x="1765300" y="3581400"/>
            <a:ext cx="7150100" cy="1041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6000" dirty="0">
                <a:solidFill>
                  <a:srgbClr val="000000"/>
                </a:solidFill>
                <a:ea typeface="Pretendard Bold"/>
              </a:rPr>
              <a:t>데이터 저장 방식 정의</a:t>
            </a:r>
          </a:p>
          <a:p>
            <a:pPr lvl="0" algn="l">
              <a:lnSpc>
                <a:spcPct val="99600"/>
              </a:lnSpc>
            </a:pPr>
            <a:endParaRPr lang="en" sz="6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584C668-B69D-7E08-9382-9C1C1B9A1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531195"/>
              </p:ext>
            </p:extLst>
          </p:nvPr>
        </p:nvGraphicFramePr>
        <p:xfrm>
          <a:off x="2527300" y="5029200"/>
          <a:ext cx="19800000" cy="45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9622">
                  <a:extLst>
                    <a:ext uri="{9D8B030D-6E8A-4147-A177-3AD203B41FA5}">
                      <a16:colId xmlns:a16="http://schemas.microsoft.com/office/drawing/2014/main" val="2204467044"/>
                    </a:ext>
                  </a:extLst>
                </a:gridCol>
                <a:gridCol w="3441310">
                  <a:extLst>
                    <a:ext uri="{9D8B030D-6E8A-4147-A177-3AD203B41FA5}">
                      <a16:colId xmlns:a16="http://schemas.microsoft.com/office/drawing/2014/main" val="3780507476"/>
                    </a:ext>
                  </a:extLst>
                </a:gridCol>
                <a:gridCol w="3142065">
                  <a:extLst>
                    <a:ext uri="{9D8B030D-6E8A-4147-A177-3AD203B41FA5}">
                      <a16:colId xmlns:a16="http://schemas.microsoft.com/office/drawing/2014/main" val="3618925972"/>
                    </a:ext>
                  </a:extLst>
                </a:gridCol>
                <a:gridCol w="2543577">
                  <a:extLst>
                    <a:ext uri="{9D8B030D-6E8A-4147-A177-3AD203B41FA5}">
                      <a16:colId xmlns:a16="http://schemas.microsoft.com/office/drawing/2014/main" val="2684872603"/>
                    </a:ext>
                  </a:extLst>
                </a:gridCol>
                <a:gridCol w="5573426">
                  <a:extLst>
                    <a:ext uri="{9D8B030D-6E8A-4147-A177-3AD203B41FA5}">
                      <a16:colId xmlns:a16="http://schemas.microsoft.com/office/drawing/2014/main" val="240805717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유형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특성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저장소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포멧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활용목적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8133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정형 데이터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(</a:t>
                      </a:r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대회명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마감일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상금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) 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MySQL/PostgreSQL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CSV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회원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대회 메타데이터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리더보드 점수</a:t>
                      </a:r>
                      <a:endParaRPr lang="en-US" altLang="ko-KR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69724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반정형 데이터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(API)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JSON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HDFS/MongoDB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JSON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JSON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기반 대회 규칙</a:t>
                      </a:r>
                      <a:endParaRPr lang="en-US" altLang="ko-KR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공공데이터 메타정보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869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비정형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리뷰 사진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HDFS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JSON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사용자 업로드 데이터셋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79604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장기보관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원시 데이터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Hadoop HDFS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Parquet/ORC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종료된 대회 기록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제출 히스토리</a:t>
                      </a:r>
                      <a:endParaRPr lang="en-US" altLang="ko-KR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교육용 데이터셋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132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064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601F-3166-3813-2958-E8FD0FE8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17472C3-2B64-3C03-6EC2-C25334D5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9E699A1-6E47-4B93-7DB6-702B749C1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78197D7-A365-32A8-EBBB-CD29C995A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1FB524F-2925-7F76-BE9D-BC2651C7F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89B1F26-3892-6488-CA75-140046000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04671D1-6B35-CC2E-D476-5B0E6C1867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364F165-A2B2-6DED-A355-B69A34303C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58D9671D-2D62-A3A0-C69F-550BC626A5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6BD5DDCE-4F5B-6633-5529-D1AC49B65604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데이터 처리 방식 정의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D96E3F7-8FE4-1DC7-A651-8B61DB7224E0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dirty="0">
                <a:solidFill>
                  <a:srgbClr val="C2C2C2"/>
                </a:solidFill>
                <a:latin typeface="Pretendard Medium"/>
              </a:rPr>
              <a:t>3.3</a:t>
            </a:r>
            <a:endParaRPr lang="en" sz="6000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D93EB0C-A3C5-2EDF-A006-2A5BA0B3D82D}"/>
              </a:ext>
            </a:extLst>
          </p:cNvPr>
          <p:cNvSpPr txBox="1"/>
          <p:nvPr/>
        </p:nvSpPr>
        <p:spPr>
          <a:xfrm>
            <a:off x="1765300" y="3581400"/>
            <a:ext cx="7150100" cy="1041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6000" dirty="0">
                <a:solidFill>
                  <a:srgbClr val="000000"/>
                </a:solidFill>
                <a:ea typeface="Pretendard Bold"/>
              </a:rPr>
              <a:t>데이터 처리 방식 정의</a:t>
            </a:r>
          </a:p>
          <a:p>
            <a:pPr lvl="0" algn="l">
              <a:lnSpc>
                <a:spcPct val="99600"/>
              </a:lnSpc>
            </a:pPr>
            <a:endParaRPr lang="en" sz="6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6B0D80A-7BC5-DD0B-EF3B-5BE0908DA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65860"/>
              </p:ext>
            </p:extLst>
          </p:nvPr>
        </p:nvGraphicFramePr>
        <p:xfrm>
          <a:off x="2527300" y="5029200"/>
          <a:ext cx="19800000" cy="45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0661">
                  <a:extLst>
                    <a:ext uri="{9D8B030D-6E8A-4147-A177-3AD203B41FA5}">
                      <a16:colId xmlns:a16="http://schemas.microsoft.com/office/drawing/2014/main" val="2204467044"/>
                    </a:ext>
                  </a:extLst>
                </a:gridCol>
                <a:gridCol w="2984925">
                  <a:extLst>
                    <a:ext uri="{9D8B030D-6E8A-4147-A177-3AD203B41FA5}">
                      <a16:colId xmlns:a16="http://schemas.microsoft.com/office/drawing/2014/main" val="3780507476"/>
                    </a:ext>
                  </a:extLst>
                </a:gridCol>
                <a:gridCol w="6582903">
                  <a:extLst>
                    <a:ext uri="{9D8B030D-6E8A-4147-A177-3AD203B41FA5}">
                      <a16:colId xmlns:a16="http://schemas.microsoft.com/office/drawing/2014/main" val="2684872603"/>
                    </a:ext>
                  </a:extLst>
                </a:gridCol>
                <a:gridCol w="5271511">
                  <a:extLst>
                    <a:ext uri="{9D8B030D-6E8A-4147-A177-3AD203B41FA5}">
                      <a16:colId xmlns:a16="http://schemas.microsoft.com/office/drawing/2014/main" val="240805717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처리구분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처리기술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적용범위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설명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8133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대용량 배치 처리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Spark SQL 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대회 참가자 수 통계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제출 횟수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하루 단위로 참가자 수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제출 로그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69724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실시간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Flink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제출 점수 업데이트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리더보드 실시간 반영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즉시 모델 점수 계산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&amp;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리더보드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869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메모리 기반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Redis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Redis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로 빠른 응답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자주 조회되는 상위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10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개 대회 리더보드를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Redis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에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79604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레이크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HDFS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원시 데이터 보관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재학습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연구에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132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436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2464-6217-F6FF-3698-C5A15BD0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FD2DB65-CE6C-6F6B-FA6A-8430F46F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29EB476-EDFE-FD09-79A5-B8B7F3E39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D8F4BB7-D150-28EC-89AF-9036FAD7A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573A9BE-AF88-D928-B944-E11803E51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5E292AC-F365-34CF-B7F2-08C4748BC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96C79DC-0A46-3E95-30DB-590DFDEAA8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BC44CDB-885D-A735-6503-BB16A4779D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BB754BB-9D78-65F1-4DAC-73DD8F64C4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28E6D84-3ACB-3B45-1A3E-6A953599D9C2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데이터 분석 방식 정의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3955EC5-E4D2-0229-7B9F-A6F94D14EF06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dirty="0">
                <a:solidFill>
                  <a:srgbClr val="C2C2C2"/>
                </a:solidFill>
                <a:latin typeface="Pretendard Medium"/>
              </a:rPr>
              <a:t>3.4</a:t>
            </a:r>
            <a:endParaRPr lang="en" sz="6000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E4D2FDF-244B-EB4D-4F33-305AA56CB0EA}"/>
              </a:ext>
            </a:extLst>
          </p:cNvPr>
          <p:cNvSpPr txBox="1"/>
          <p:nvPr/>
        </p:nvSpPr>
        <p:spPr>
          <a:xfrm>
            <a:off x="1765300" y="3581400"/>
            <a:ext cx="7150100" cy="1041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6000" dirty="0">
                <a:solidFill>
                  <a:srgbClr val="000000"/>
                </a:solidFill>
                <a:ea typeface="Pretendard Bold"/>
              </a:rPr>
              <a:t>데이터 분석 방식 정의</a:t>
            </a:r>
          </a:p>
          <a:p>
            <a:pPr lvl="0" algn="l">
              <a:lnSpc>
                <a:spcPct val="99600"/>
              </a:lnSpc>
            </a:pPr>
            <a:endParaRPr lang="en" sz="6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847ED06-B456-79D4-19EA-3FC3DBEB1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034312"/>
              </p:ext>
            </p:extLst>
          </p:nvPr>
        </p:nvGraphicFramePr>
        <p:xfrm>
          <a:off x="2527300" y="5029200"/>
          <a:ext cx="19799999" cy="45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57335">
                  <a:extLst>
                    <a:ext uri="{9D8B030D-6E8A-4147-A177-3AD203B41FA5}">
                      <a16:colId xmlns:a16="http://schemas.microsoft.com/office/drawing/2014/main" val="2204467044"/>
                    </a:ext>
                  </a:extLst>
                </a:gridCol>
                <a:gridCol w="2799642">
                  <a:extLst>
                    <a:ext uri="{9D8B030D-6E8A-4147-A177-3AD203B41FA5}">
                      <a16:colId xmlns:a16="http://schemas.microsoft.com/office/drawing/2014/main" val="3780507476"/>
                    </a:ext>
                  </a:extLst>
                </a:gridCol>
                <a:gridCol w="5271511">
                  <a:extLst>
                    <a:ext uri="{9D8B030D-6E8A-4147-A177-3AD203B41FA5}">
                      <a16:colId xmlns:a16="http://schemas.microsoft.com/office/drawing/2014/main" val="2684872603"/>
                    </a:ext>
                  </a:extLst>
                </a:gridCol>
                <a:gridCol w="5271511">
                  <a:extLst>
                    <a:ext uri="{9D8B030D-6E8A-4147-A177-3AD203B41FA5}">
                      <a16:colId xmlns:a16="http://schemas.microsoft.com/office/drawing/2014/main" val="240805717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분석유형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실시간 여부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사용기술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서비스 </a:t>
                      </a:r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적용예시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8133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기술통계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Spark SQL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Kaggle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대회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데이터셋 </a:t>
                      </a:r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이용량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69724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예측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배치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+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실시간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Spark </a:t>
                      </a:r>
                      <a:r>
                        <a:rPr lang="en-US" altLang="ko-KR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MLlib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, TensorFlow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참가자 트렌드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·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대회 인기 예측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869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추천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실시간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협업필터링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+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콘텐츠 기반 추천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맞춤 대회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데이터셋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79604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텍스트 마이닝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Spark NLP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커뮤니티 토론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·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리뷰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132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895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C7DFC-D706-3E28-C1E8-9010C484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FBE84B-F1CF-BF84-317A-6E69BF43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AFDC6E2-C2AC-B0A3-19F8-D79E6449D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39618BF-B0FB-5A9A-C126-9932627A9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85C009E-73B3-E24D-4269-A77749714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98D1A59-6D40-D3C6-DB86-882FB2418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64E4C62-8BE7-D0FC-3D53-543D74DDA0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E11C795-51D7-BB8E-5872-E884095364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565077E-3090-88E7-D326-02C812736D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0795000"/>
            <a:ext cx="1346200" cy="1181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BDEBA0DB-2D4A-F318-5260-7A0E6F72DF0E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데이터 시각화 방식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DC181BB-7F49-A7FD-F86D-A52EC47A324D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dirty="0">
                <a:solidFill>
                  <a:srgbClr val="C2C2C2"/>
                </a:solidFill>
                <a:latin typeface="Pretendard Medium"/>
              </a:rPr>
              <a:t>3.5</a:t>
            </a:r>
            <a:endParaRPr lang="en" sz="6000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14D583A-AC0B-67CF-F393-61BFF1DFE0C1}"/>
              </a:ext>
            </a:extLst>
          </p:cNvPr>
          <p:cNvSpPr txBox="1"/>
          <p:nvPr/>
        </p:nvSpPr>
        <p:spPr>
          <a:xfrm>
            <a:off x="1765300" y="3581400"/>
            <a:ext cx="7150100" cy="1041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6000" dirty="0">
                <a:solidFill>
                  <a:srgbClr val="000000"/>
                </a:solidFill>
                <a:ea typeface="Pretendard Bold"/>
              </a:rPr>
              <a:t>데이터</a:t>
            </a:r>
            <a:r>
              <a:rPr lang="en-US" altLang="ko-KR" sz="6000" dirty="0">
                <a:solidFill>
                  <a:srgbClr val="000000"/>
                </a:solidFill>
                <a:ea typeface="Pretendard Bold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ea typeface="Pretendard Bold"/>
              </a:rPr>
              <a:t>시각화 방식</a:t>
            </a:r>
          </a:p>
          <a:p>
            <a:pPr lvl="0" algn="l">
              <a:lnSpc>
                <a:spcPct val="99600"/>
              </a:lnSpc>
            </a:pPr>
            <a:endParaRPr lang="en" sz="6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0CF4A10-F1C5-187F-B54D-95C078F41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02327"/>
              </p:ext>
            </p:extLst>
          </p:nvPr>
        </p:nvGraphicFramePr>
        <p:xfrm>
          <a:off x="2527300" y="5058000"/>
          <a:ext cx="19799999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57335">
                  <a:extLst>
                    <a:ext uri="{9D8B030D-6E8A-4147-A177-3AD203B41FA5}">
                      <a16:colId xmlns:a16="http://schemas.microsoft.com/office/drawing/2014/main" val="2204467044"/>
                    </a:ext>
                  </a:extLst>
                </a:gridCol>
                <a:gridCol w="2799642">
                  <a:extLst>
                    <a:ext uri="{9D8B030D-6E8A-4147-A177-3AD203B41FA5}">
                      <a16:colId xmlns:a16="http://schemas.microsoft.com/office/drawing/2014/main" val="3780507476"/>
                    </a:ext>
                  </a:extLst>
                </a:gridCol>
                <a:gridCol w="5271511">
                  <a:extLst>
                    <a:ext uri="{9D8B030D-6E8A-4147-A177-3AD203B41FA5}">
                      <a16:colId xmlns:a16="http://schemas.microsoft.com/office/drawing/2014/main" val="2684872603"/>
                    </a:ext>
                  </a:extLst>
                </a:gridCol>
                <a:gridCol w="5271511">
                  <a:extLst>
                    <a:ext uri="{9D8B030D-6E8A-4147-A177-3AD203B41FA5}">
                      <a16:colId xmlns:a16="http://schemas.microsoft.com/office/drawing/2014/main" val="2408057175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대상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제공방식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기술스택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설명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8133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관리자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웹 대시보드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Apache Superset, React 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대회별 참가자 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69724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사용자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웹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모바일 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UI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React, D3.js / Map API 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추천 대회</a:t>
                      </a:r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데이터셋 리스트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8695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데이터 공유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API </a:t>
                      </a:r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제공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Spring Boot REST API </a:t>
                      </a:r>
                      <a:endParaRPr lang="ko-KR" altLang="en-US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인터랙티브 데이터 시각화</a:t>
                      </a:r>
                      <a:endParaRPr lang="en-US" altLang="ko-KR" sz="25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796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91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5BA1D-F164-4C17-516E-1F9E8CE3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BDA5D2D-2210-0487-814F-7FD7E4121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53300" cy="73533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E69256A-4C81-6920-39AA-56D5196F6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571500"/>
            <a:ext cx="23152100" cy="12573000"/>
          </a:xfrm>
          <a:prstGeom prst="rect">
            <a:avLst/>
          </a:prstGeom>
          <a:effectLst>
            <a:outerShdw blurRad="628582" dist="483525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EF85B1A-6B51-DA97-406E-83E718037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" y="571500"/>
            <a:ext cx="23152100" cy="1206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7EB412E-56FB-6221-E94E-94FCDE7C1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900" y="876300"/>
            <a:ext cx="9715500" cy="5969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C1C8156-EE3D-F7B0-7F45-AE8B05CBC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028700"/>
            <a:ext cx="3048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FB851ED-3C7A-CACF-AD5B-59201763FD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10287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C77822C-89F3-4EA7-889D-AA0D6916F4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500" y="1028700"/>
            <a:ext cx="304800" cy="3048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327DF7AB-3140-FC88-0A6B-4B77D50E5D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21900" y="990600"/>
            <a:ext cx="304800" cy="381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5DEF29A-6C1F-B22F-8A71-EC79E87D5A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78700" y="9918700"/>
            <a:ext cx="2540000" cy="2070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62A2834A-4485-76AB-BA48-F4279838C7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62700" y="8737600"/>
            <a:ext cx="304800" cy="3048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4BEDE382-B1B1-3B8D-6E26-9371352C85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62700" y="10642600"/>
            <a:ext cx="304800" cy="3048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2CB6179C-A7D7-0D1D-21C1-2E33FFDD35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43900" y="8737600"/>
            <a:ext cx="304800" cy="3048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51DE227F-3F44-C24A-1DF0-6E217CF3E1A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06800" y="8305800"/>
            <a:ext cx="3492500" cy="1181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69875971-05FC-07D6-5AF2-7C8E8EFF742B}"/>
              </a:ext>
            </a:extLst>
          </p:cNvPr>
          <p:cNvSpPr txBox="1"/>
          <p:nvPr/>
        </p:nvSpPr>
        <p:spPr>
          <a:xfrm>
            <a:off x="9105900" y="939800"/>
            <a:ext cx="6172200" cy="4699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Light"/>
              </a:rPr>
              <a:t>인력 환경 분석</a:t>
            </a:r>
            <a:endParaRPr lang="en" sz="2666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01976B3-BA93-0EB4-E5F8-CFEB70095E92}"/>
              </a:ext>
            </a:extLst>
          </p:cNvPr>
          <p:cNvSpPr txBox="1"/>
          <p:nvPr/>
        </p:nvSpPr>
        <p:spPr>
          <a:xfrm>
            <a:off x="1765300" y="2667000"/>
            <a:ext cx="5003800" cy="1066800"/>
          </a:xfrm>
          <a:prstGeom prst="rect">
            <a:avLst/>
          </a:prstGeom>
        </p:spPr>
        <p:txBody>
          <a:bodyPr lIns="0" tIns="76200" rIns="0" bIns="76200" rtlCol="0" anchor="ctr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dirty="0">
                <a:solidFill>
                  <a:srgbClr val="C2C2C2"/>
                </a:solidFill>
                <a:latin typeface="Pretendard Medium"/>
              </a:rPr>
              <a:t>04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8E1BBEE-EE6D-F9F0-4B70-1A591CD4E5CD}"/>
              </a:ext>
            </a:extLst>
          </p:cNvPr>
          <p:cNvSpPr txBox="1"/>
          <p:nvPr/>
        </p:nvSpPr>
        <p:spPr>
          <a:xfrm>
            <a:off x="1765300" y="3581400"/>
            <a:ext cx="162941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0" b="0" i="0" u="none" strike="noStrike" dirty="0">
                <a:solidFill>
                  <a:srgbClr val="000000"/>
                </a:solidFill>
                <a:ea typeface="Pretendard Bold"/>
              </a:rPr>
              <a:t>인력 환경 분석</a:t>
            </a:r>
            <a:endParaRPr lang="en-US" sz="12000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C43E9F5-48FC-503A-CAF8-B65F4AE97E20}"/>
              </a:ext>
            </a:extLst>
          </p:cNvPr>
          <p:cNvSpPr txBox="1"/>
          <p:nvPr/>
        </p:nvSpPr>
        <p:spPr>
          <a:xfrm>
            <a:off x="1765300" y="9918700"/>
            <a:ext cx="11341100" cy="20574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4266" b="0" i="0" u="none" strike="noStrike" dirty="0">
                <a:solidFill>
                  <a:srgbClr val="C2C2C2"/>
                </a:solidFill>
                <a:ea typeface="Pretendard Medium"/>
              </a:rPr>
              <a:t>- </a:t>
            </a:r>
            <a:r>
              <a:rPr lang="ko-KR" altLang="en-US" sz="4266" b="0" i="0" u="none" strike="noStrike" dirty="0">
                <a:solidFill>
                  <a:srgbClr val="C2C2C2"/>
                </a:solidFill>
                <a:ea typeface="Pretendard Medium"/>
              </a:rPr>
              <a:t>서비스 인력 분석</a:t>
            </a:r>
            <a:endParaRPr lang="en-US" sz="4266" b="0" i="0" u="none" strike="noStrike" dirty="0">
              <a:solidFill>
                <a:srgbClr val="C2C2C2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67013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75734"/>
            <a:ext cx="23147867" cy="12564533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75733"/>
            <a:ext cx="23147867" cy="120226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134" y="880533"/>
            <a:ext cx="9719733" cy="59266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067" y="1032933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4133" y="1032933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8267" y="1032933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09200" y="982134"/>
            <a:ext cx="304800" cy="372533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127067" y="931334"/>
            <a:ext cx="6129867" cy="4741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67" dirty="0">
                <a:solidFill>
                  <a:srgbClr val="FFFFFF"/>
                </a:solidFill>
                <a:latin typeface="Pretendard Light"/>
              </a:rPr>
              <a:t>인력 환경 분석</a:t>
            </a:r>
            <a:endParaRPr lang="en-US" sz="2667" dirty="0">
              <a:solidFill>
                <a:srgbClr val="FFFFFF"/>
              </a:solidFill>
              <a:latin typeface="Pretendard Light"/>
            </a:endParaRPr>
          </a:p>
        </p:txBody>
      </p:sp>
      <p:graphicFrame>
        <p:nvGraphicFramePr>
          <p:cNvPr id="14" name="표 14">
            <a:extLst>
              <a:ext uri="{FF2B5EF4-FFF2-40B4-BE49-F238E27FC236}">
                <a16:creationId xmlns:a16="http://schemas.microsoft.com/office/drawing/2014/main" id="{9A6C4D9F-BE8C-4D6D-84DF-82D46C818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08210"/>
              </p:ext>
            </p:extLst>
          </p:nvPr>
        </p:nvGraphicFramePr>
        <p:xfrm>
          <a:off x="1453849" y="4691300"/>
          <a:ext cx="21358320" cy="75007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331786">
                  <a:extLst>
                    <a:ext uri="{9D8B030D-6E8A-4147-A177-3AD203B41FA5}">
                      <a16:colId xmlns:a16="http://schemas.microsoft.com/office/drawing/2014/main" val="2582931445"/>
                    </a:ext>
                  </a:extLst>
                </a:gridCol>
                <a:gridCol w="5158894">
                  <a:extLst>
                    <a:ext uri="{9D8B030D-6E8A-4147-A177-3AD203B41FA5}">
                      <a16:colId xmlns:a16="http://schemas.microsoft.com/office/drawing/2014/main" val="708680152"/>
                    </a:ext>
                  </a:extLst>
                </a:gridCol>
                <a:gridCol w="5752671">
                  <a:extLst>
                    <a:ext uri="{9D8B030D-6E8A-4147-A177-3AD203B41FA5}">
                      <a16:colId xmlns:a16="http://schemas.microsoft.com/office/drawing/2014/main" val="145984568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95337889"/>
                    </a:ext>
                  </a:extLst>
                </a:gridCol>
                <a:gridCol w="4981369">
                  <a:extLst>
                    <a:ext uri="{9D8B030D-6E8A-4147-A177-3AD203B41FA5}">
                      <a16:colId xmlns:a16="http://schemas.microsoft.com/office/drawing/2014/main" val="4105925674"/>
                    </a:ext>
                  </a:extLst>
                </a:gridCol>
              </a:tblGrid>
              <a:tr h="11346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개발팀 구성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인원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주요 업무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필요 기술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인원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운영팀 구성</a:t>
                      </a:r>
                    </a:p>
                  </a:txBody>
                  <a:tcPr marL="121920" marR="121920" marT="60960" marB="609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21481"/>
                  </a:ext>
                </a:extLst>
              </a:tr>
              <a:tr h="13615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엔지니어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서버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API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DB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설계 및 연동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Flask or Spring, DB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구축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API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엔지니어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</a:t>
                      </a:r>
                      <a:endParaRPr lang="en-US" altLang="ko-KR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(DB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관리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651909"/>
                  </a:ext>
                </a:extLst>
              </a:tr>
              <a:tr h="15296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프론트엔드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웹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UI/UX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인터페이스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HTML, CSS, JavaScript, React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개발자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</a:t>
                      </a:r>
                      <a:endParaRPr lang="en-US" altLang="ko-KR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웹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앱 개발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5008"/>
                  </a:ext>
                </a:extLst>
              </a:tr>
              <a:tr h="19451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분석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&amp;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업로드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업로드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.csv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 처리 및 컬럼 추출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pandas, </a:t>
                      </a:r>
                      <a:r>
                        <a:rPr lang="en-US" altLang="ko-KR" sz="2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numpy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csv, Python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기초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기획자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 </a:t>
                      </a:r>
                      <a:endParaRPr lang="en-US" altLang="ko-KR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데이터셋 관리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업로드 정책 수립 등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978593"/>
                  </a:ext>
                </a:extLst>
              </a:tr>
              <a:tr h="15296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처리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&amp; 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시각화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선택된 컬럼 기반 그래프 생성 및 화면 출력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pandas, matplotlib, seaborn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콘텐츠 담당 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 </a:t>
                      </a:r>
                      <a:b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결과물 정리 및 문서화</a:t>
                      </a:r>
                      <a:r>
                        <a:rPr lang="en-US" altLang="ko-KR" sz="2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2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12774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A2B046F-59FF-4B46-A7E7-57FB7BD8B525}"/>
              </a:ext>
            </a:extLst>
          </p:cNvPr>
          <p:cNvSpPr txBox="1"/>
          <p:nvPr/>
        </p:nvSpPr>
        <p:spPr>
          <a:xfrm>
            <a:off x="1422401" y="3810000"/>
            <a:ext cx="4257897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267" b="1" u="sng" dirty="0"/>
              <a:t>서비스 인력 분석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26512-3ED6-A3A4-EC94-96480A6282B1}"/>
              </a:ext>
            </a:extLst>
          </p:cNvPr>
          <p:cNvSpPr txBox="1"/>
          <p:nvPr/>
        </p:nvSpPr>
        <p:spPr>
          <a:xfrm>
            <a:off x="1557867" y="2427982"/>
            <a:ext cx="10244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400" b="1" dirty="0">
                <a:solidFill>
                  <a:schemeClr val="tx2"/>
                </a:solidFill>
              </a:rPr>
              <a:t>04 </a:t>
            </a:r>
            <a:r>
              <a:rPr lang="ko-KR" altLang="en-US" sz="6400" b="1" dirty="0">
                <a:solidFill>
                  <a:schemeClr val="tx2"/>
                </a:solidFill>
              </a:rPr>
              <a:t>인력 환경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1803</Words>
  <Application>Microsoft Office PowerPoint</Application>
  <PresentationFormat>사용자 지정</PresentationFormat>
  <Paragraphs>485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Pretendard Regular</vt:lpstr>
      <vt:lpstr>Pretendard Light</vt:lpstr>
      <vt:lpstr>Pretendard Bold</vt:lpstr>
      <vt:lpstr>Calibri</vt:lpstr>
      <vt:lpstr>Wingdings</vt:lpstr>
      <vt:lpstr>Pretendard Medium</vt:lpstr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16</cp:revision>
  <dcterms:created xsi:type="dcterms:W3CDTF">2006-08-16T00:00:00Z</dcterms:created>
  <dcterms:modified xsi:type="dcterms:W3CDTF">2025-09-16T02:23:33Z</dcterms:modified>
</cp:coreProperties>
</file>