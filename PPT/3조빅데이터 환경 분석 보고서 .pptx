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72" r:id="rId3"/>
    <p:sldId id="268" r:id="rId4"/>
    <p:sldId id="271" r:id="rId5"/>
    <p:sldId id="265" r:id="rId6"/>
    <p:sldId id="273" r:id="rId7"/>
    <p:sldId id="261" r:id="rId8"/>
    <p:sldId id="270" r:id="rId9"/>
    <p:sldId id="262" r:id="rId10"/>
  </p:sldIdLst>
  <p:sldSz cx="18288000" cy="10287000"/>
  <p:notesSz cx="6858000" cy="9144000"/>
  <p:embeddedFontLst>
    <p:embeddedFont>
      <p:font typeface="Pretendard Bold" panose="020B0600000101010101" charset="-127"/>
      <p:bold r:id="rId12"/>
    </p:embeddedFont>
    <p:embeddedFont>
      <p:font typeface="Pretendard Light" panose="020B0600000101010101" charset="-127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맑은 고딕" panose="020B0503020000020004" pitchFamily="50" charset="-127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7276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270" y="-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2800" dirty="0">
                <a:solidFill>
                  <a:schemeClr val="tx2"/>
                </a:solidFill>
              </a:rPr>
              <a:t>Customer /</a:t>
            </a:r>
            <a:r>
              <a:rPr lang="en-US" altLang="ko-KR" sz="2800" baseline="0" dirty="0">
                <a:solidFill>
                  <a:schemeClr val="tx2"/>
                </a:solidFill>
              </a:rPr>
              <a:t> Competitor / Company</a:t>
            </a:r>
            <a:endParaRPr lang="ko-KR" altLang="en-US" sz="2800" dirty="0">
              <a:solidFill>
                <a:schemeClr val="tx2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"/>
          <c:y val="7.9992249015748029E-2"/>
          <c:w val="0.9770833333333333"/>
          <c:h val="0.85990784940944887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3C 분석</c:v>
                </c:pt>
              </c:strCache>
            </c:strRef>
          </c:tx>
          <c:explosion val="23"/>
          <c:dPt>
            <c:idx val="0"/>
            <c:bubble3D val="0"/>
            <c:explosion val="2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35CD-4680-B492-28BE87AFFEBC}"/>
              </c:ext>
            </c:extLst>
          </c:dPt>
          <c:dPt>
            <c:idx val="1"/>
            <c:bubble3D val="0"/>
            <c:explosion val="10"/>
            <c:spPr>
              <a:gradFill rotWithShape="1">
                <a:gsLst>
                  <a:gs pos="0">
                    <a:schemeClr val="accent2">
                      <a:shade val="51000"/>
                      <a:satMod val="130000"/>
                    </a:schemeClr>
                  </a:gs>
                  <a:gs pos="80000">
                    <a:schemeClr val="accent2">
                      <a:shade val="93000"/>
                      <a:satMod val="130000"/>
                    </a:schemeClr>
                  </a:gs>
                  <a:gs pos="100000">
                    <a:schemeClr val="accent2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4-35CD-4680-B492-28BE87AFFEBC}"/>
              </c:ext>
            </c:extLst>
          </c:dPt>
          <c:dPt>
            <c:idx val="2"/>
            <c:bubble3D val="0"/>
            <c:explosion val="0"/>
            <c:spPr>
              <a:gradFill rotWithShape="1">
                <a:gsLst>
                  <a:gs pos="0">
                    <a:schemeClr val="accent3">
                      <a:shade val="51000"/>
                      <a:satMod val="130000"/>
                    </a:schemeClr>
                  </a:gs>
                  <a:gs pos="80000">
                    <a:schemeClr val="accent3">
                      <a:shade val="93000"/>
                      <a:satMod val="130000"/>
                    </a:schemeClr>
                  </a:gs>
                  <a:gs pos="100000">
                    <a:schemeClr val="accent3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2-35CD-4680-B492-28BE87AFFEBC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hade val="51000"/>
                      <a:satMod val="130000"/>
                    </a:schemeClr>
                  </a:gs>
                  <a:gs pos="80000">
                    <a:schemeClr val="accent4">
                      <a:shade val="93000"/>
                      <a:satMod val="130000"/>
                    </a:schemeClr>
                  </a:gs>
                  <a:gs pos="100000">
                    <a:schemeClr val="accent4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7-3BD3-4C3B-9C6C-EB4509C35DC3}"/>
              </c:ext>
            </c:extLst>
          </c:dPt>
          <c:cat>
            <c:strRef>
              <c:f>Sheet1!$A$2:$A$5</c:f>
              <c:strCache>
                <c:ptCount val="3"/>
                <c:pt idx="0">
                  <c:v>Customer</c:v>
                </c:pt>
                <c:pt idx="1">
                  <c:v>Competitor</c:v>
                </c:pt>
                <c:pt idx="2">
                  <c:v>Company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33.299999999999997</c:v>
                </c:pt>
                <c:pt idx="1">
                  <c:v>33.299999999999997</c:v>
                </c:pt>
                <c:pt idx="2">
                  <c:v>33.299999999999997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CD-4680-B492-28BE87AFFE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9D14A8-56E4-4670-A140-1D963804E205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0C8D67-C9F3-4362-8882-11F4F3FEC8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950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4.png"/><Relationship Id="rId5" Type="http://schemas.openxmlformats.org/officeDocument/2006/relationships/image" Target="../media/image4.png"/><Relationship Id="rId10" Type="http://schemas.openxmlformats.org/officeDocument/2006/relationships/image" Target="../media/image13.png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Pretendard Light"/>
              </a:rPr>
              <a:t>Title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5E3A8330-DE22-4D9E-AC89-7835532189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28300" y="1320800"/>
            <a:ext cx="7289800" cy="83058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0AA6418-EF74-4E3F-A5BE-64EBBEF7F630}"/>
              </a:ext>
            </a:extLst>
          </p:cNvPr>
          <p:cNvSpPr txBox="1"/>
          <p:nvPr/>
        </p:nvSpPr>
        <p:spPr>
          <a:xfrm>
            <a:off x="762000" y="2185361"/>
            <a:ext cx="76835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4800" b="1" dirty="0"/>
              <a:t>빅데이터 환경 분석 보고서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B03843-0659-4814-B693-8EABA6A2D1D8}"/>
              </a:ext>
            </a:extLst>
          </p:cNvPr>
          <p:cNvSpPr txBox="1"/>
          <p:nvPr/>
        </p:nvSpPr>
        <p:spPr>
          <a:xfrm>
            <a:off x="533400" y="7442418"/>
            <a:ext cx="990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latin typeface="맑은 고딕 (본문)"/>
              </a:rPr>
              <a:t>빅데이터 플랫폼 구축 및 데이터 시각화</a:t>
            </a:r>
            <a:r>
              <a:rPr lang="en-US" altLang="ko-KR" sz="2800" dirty="0">
                <a:latin typeface="맑은 고딕 (본문)"/>
              </a:rPr>
              <a:t>, </a:t>
            </a:r>
            <a:r>
              <a:rPr lang="ko-KR" altLang="en-US" sz="2800" dirty="0">
                <a:latin typeface="맑은 고딕 (본문)"/>
              </a:rPr>
              <a:t>각종 커뮤니티</a:t>
            </a:r>
          </a:p>
          <a:p>
            <a:endParaRPr lang="en-US" altLang="ko-KR" sz="2800" dirty="0">
              <a:latin typeface="맑은 고딕 (본문)"/>
            </a:endParaRPr>
          </a:p>
          <a:p>
            <a:endParaRPr lang="en-US" altLang="ko-KR" sz="2800" dirty="0">
              <a:latin typeface="맑은 고딕 (본문)"/>
            </a:endParaRPr>
          </a:p>
          <a:p>
            <a:r>
              <a:rPr lang="en-US" altLang="ko-KR" sz="2800" dirty="0">
                <a:latin typeface="맑은 고딕 (본문)"/>
              </a:rPr>
              <a:t>3</a:t>
            </a:r>
            <a:r>
              <a:rPr lang="ko-KR" altLang="en-US" sz="2800" dirty="0">
                <a:latin typeface="맑은 고딕 (본문)"/>
              </a:rPr>
              <a:t>조</a:t>
            </a:r>
            <a:r>
              <a:rPr lang="en-US" altLang="ko-KR" sz="2800" dirty="0">
                <a:latin typeface="맑은 고딕 (본문)"/>
              </a:rPr>
              <a:t>. </a:t>
            </a:r>
            <a:r>
              <a:rPr lang="ko-KR" altLang="en-US" sz="2800" dirty="0">
                <a:latin typeface="맑은 고딕 (본문)"/>
              </a:rPr>
              <a:t>서동성</a:t>
            </a:r>
            <a:r>
              <a:rPr lang="en-US" altLang="ko-KR" sz="2800" dirty="0">
                <a:latin typeface="맑은 고딕 (본문)"/>
              </a:rPr>
              <a:t>(</a:t>
            </a:r>
            <a:r>
              <a:rPr lang="ko-KR" altLang="en-US" sz="2800" dirty="0">
                <a:latin typeface="맑은 고딕 (본문)"/>
              </a:rPr>
              <a:t>조장</a:t>
            </a:r>
            <a:r>
              <a:rPr lang="en-US" altLang="ko-KR" sz="2800" dirty="0">
                <a:latin typeface="맑은 고딕 (본문)"/>
              </a:rPr>
              <a:t>), </a:t>
            </a:r>
            <a:r>
              <a:rPr lang="ko-KR" altLang="en-US" sz="2800" dirty="0">
                <a:latin typeface="맑은 고딕 (본문)"/>
              </a:rPr>
              <a:t>이혜연</a:t>
            </a:r>
            <a:r>
              <a:rPr lang="en-US" altLang="ko-KR" sz="2800" dirty="0">
                <a:latin typeface="맑은 고딕 (본문)"/>
              </a:rPr>
              <a:t>, </a:t>
            </a:r>
            <a:r>
              <a:rPr lang="ko-KR" altLang="en-US" sz="2800" dirty="0">
                <a:latin typeface="맑은 고딕 (본문)"/>
              </a:rPr>
              <a:t>장지원</a:t>
            </a:r>
            <a:r>
              <a:rPr lang="en-US" altLang="ko-KR" sz="2800" dirty="0">
                <a:latin typeface="맑은 고딕 (본문)"/>
              </a:rPr>
              <a:t>, </a:t>
            </a:r>
            <a:r>
              <a:rPr lang="ko-KR" altLang="en-US" sz="2800" dirty="0">
                <a:latin typeface="맑은 고딕 (본문)"/>
              </a:rPr>
              <a:t>최승호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F1571D-3079-4C66-992C-E5C23F8FFC34}"/>
              </a:ext>
            </a:extLst>
          </p:cNvPr>
          <p:cNvSpPr txBox="1"/>
          <p:nvPr/>
        </p:nvSpPr>
        <p:spPr>
          <a:xfrm>
            <a:off x="762000" y="3491925"/>
            <a:ext cx="97971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dirty="0">
                <a:latin typeface="맑은 고딕 (본문)"/>
              </a:rPr>
              <a:t>Project : </a:t>
            </a:r>
            <a:r>
              <a:rPr lang="en-US" altLang="ko-KR" sz="3200" b="1" u="sng" dirty="0" err="1">
                <a:latin typeface="맑은 고딕 (본문)"/>
              </a:rPr>
              <a:t>Hangle</a:t>
            </a:r>
            <a:endParaRPr lang="en-US" altLang="ko-KR" sz="3200" b="1" u="sng" dirty="0">
              <a:latin typeface="맑은 고딕 (본문)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000" b="0" i="0" u="none" strike="noStrike" dirty="0">
                <a:solidFill>
                  <a:srgbClr val="FFFFFF"/>
                </a:solidFill>
                <a:latin typeface="Pretendard Light"/>
              </a:rPr>
              <a:t>서비스 환경 분석</a:t>
            </a:r>
            <a:endParaRPr lang="en-US" sz="2000" b="0" i="0" u="none" strike="noStrike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AA6418-EF74-4E3F-A5BE-64EBBEF7F630}"/>
              </a:ext>
            </a:extLst>
          </p:cNvPr>
          <p:cNvSpPr txBox="1"/>
          <p:nvPr/>
        </p:nvSpPr>
        <p:spPr>
          <a:xfrm>
            <a:off x="685800" y="2102703"/>
            <a:ext cx="76835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800" b="1" dirty="0">
                <a:solidFill>
                  <a:schemeClr val="tx2"/>
                </a:solidFill>
              </a:rPr>
              <a:t>01 </a:t>
            </a:r>
            <a:r>
              <a:rPr lang="ko-KR" altLang="en-US" sz="4800" b="1" dirty="0">
                <a:solidFill>
                  <a:schemeClr val="tx2"/>
                </a:solidFill>
              </a:rPr>
              <a:t>서비스 환경 분석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A10912-06ED-4618-B991-A79B658FB6D2}"/>
              </a:ext>
            </a:extLst>
          </p:cNvPr>
          <p:cNvSpPr txBox="1"/>
          <p:nvPr/>
        </p:nvSpPr>
        <p:spPr>
          <a:xfrm>
            <a:off x="14706600" y="2167235"/>
            <a:ext cx="24416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err="1"/>
              <a:t>Hangle</a:t>
            </a:r>
            <a:r>
              <a:rPr lang="ko-KR" altLang="en-US" sz="2400" b="1" dirty="0"/>
              <a:t> 주요 분석</a:t>
            </a:r>
          </a:p>
        </p:txBody>
      </p:sp>
      <p:graphicFrame>
        <p:nvGraphicFramePr>
          <p:cNvPr id="10" name="표 10">
            <a:extLst>
              <a:ext uri="{FF2B5EF4-FFF2-40B4-BE49-F238E27FC236}">
                <a16:creationId xmlns:a16="http://schemas.microsoft.com/office/drawing/2014/main" id="{556CC7CE-6023-4051-921C-BF63B15A41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573054"/>
              </p:ext>
            </p:extLst>
          </p:nvPr>
        </p:nvGraphicFramePr>
        <p:xfrm>
          <a:off x="762000" y="3086100"/>
          <a:ext cx="15024101" cy="342723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22708015"/>
                    </a:ext>
                  </a:extLst>
                </a:gridCol>
                <a:gridCol w="12280901">
                  <a:extLst>
                    <a:ext uri="{9D8B030D-6E8A-4147-A177-3AD203B41FA5}">
                      <a16:colId xmlns:a16="http://schemas.microsoft.com/office/drawing/2014/main" val="295737703"/>
                    </a:ext>
                  </a:extLst>
                </a:gridCol>
              </a:tblGrid>
              <a:tr h="5375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구분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내용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892654"/>
                  </a:ext>
                </a:extLst>
              </a:tr>
              <a:tr h="52929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서비스명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 err="1"/>
                        <a:t>Hangle</a:t>
                      </a:r>
                      <a:r>
                        <a:rPr lang="en-US" altLang="ko-KR" dirty="0"/>
                        <a:t> (Kaggle </a:t>
                      </a:r>
                      <a:r>
                        <a:rPr lang="ko-KR" altLang="en-US" dirty="0"/>
                        <a:t>벤치마킹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1041261"/>
                  </a:ext>
                </a:extLst>
              </a:tr>
              <a:tr h="53902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목적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데이터의 시각화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1203941"/>
                  </a:ext>
                </a:extLst>
              </a:tr>
              <a:tr h="85764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주요기능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데이터의 시각화</a:t>
                      </a:r>
                      <a:endParaRPr lang="en-US" altLang="ko-KR" dirty="0"/>
                    </a:p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각종 커뮤니티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코드공유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토론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대회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코딩공부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689725"/>
                  </a:ext>
                </a:extLst>
              </a:tr>
              <a:tr h="4653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시장분석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/>
                        <a:t>Kaggle</a:t>
                      </a:r>
                      <a:r>
                        <a:rPr lang="ko-KR" altLang="en-US" dirty="0"/>
                        <a:t>의 성공 모델을 기반으로 한 국내 데이터 사이언스 플랫폼 구축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875474"/>
                  </a:ext>
                </a:extLst>
              </a:tr>
              <a:tr h="48640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차별화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한국어 기반 커뮤니티와 국내 데이터셋 특화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86662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6EEDB43-9541-442D-9B43-21CE332ED672}"/>
              </a:ext>
            </a:extLst>
          </p:cNvPr>
          <p:cNvSpPr txBox="1"/>
          <p:nvPr/>
        </p:nvSpPr>
        <p:spPr>
          <a:xfrm>
            <a:off x="938360" y="6591300"/>
            <a:ext cx="45480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tx2"/>
                </a:solidFill>
              </a:rPr>
              <a:t>주요 경쟁사와 </a:t>
            </a:r>
            <a:r>
              <a:rPr lang="ko-KR" altLang="en-US" sz="3600" b="1" dirty="0" err="1">
                <a:solidFill>
                  <a:schemeClr val="tx2"/>
                </a:solidFill>
              </a:rPr>
              <a:t>차별점</a:t>
            </a:r>
            <a:endParaRPr lang="ko-KR" altLang="en-US" sz="3600" b="1" dirty="0">
              <a:solidFill>
                <a:schemeClr val="tx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D912D6-78C7-4518-AC73-93B7CAE98DC4}"/>
              </a:ext>
            </a:extLst>
          </p:cNvPr>
          <p:cNvSpPr txBox="1"/>
          <p:nvPr/>
        </p:nvSpPr>
        <p:spPr>
          <a:xfrm>
            <a:off x="874354" y="7353062"/>
            <a:ext cx="7660046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2800" dirty="0"/>
              <a:t>Kaggle</a:t>
            </a:r>
            <a:r>
              <a:rPr lang="ko-KR" altLang="en-US" sz="2800" dirty="0"/>
              <a:t> 대비 한국어 지원과 국내 데이터셋 특화</a:t>
            </a:r>
            <a:endParaRPr lang="en-US" altLang="ko-KR" sz="28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2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800" dirty="0"/>
              <a:t>초보자를 위한 단계별 학습 프로그램 제공</a:t>
            </a:r>
            <a:endParaRPr lang="en-US" altLang="ko-KR" sz="28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ko-KR" sz="2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2800" dirty="0"/>
              <a:t>국내 기업과의 협업 프로젝트 연계</a:t>
            </a:r>
          </a:p>
        </p:txBody>
      </p:sp>
    </p:spTree>
    <p:extLst>
      <p:ext uri="{BB962C8B-B14F-4D97-AF65-F5344CB8AC3E}">
        <p14:creationId xmlns:p14="http://schemas.microsoft.com/office/powerpoint/2010/main" val="4245624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99600"/>
              </a:lnSpc>
            </a:pPr>
            <a:r>
              <a:rPr lang="ko-KR" altLang="en-US" sz="2000" dirty="0">
                <a:solidFill>
                  <a:srgbClr val="FFFFFF"/>
                </a:solidFill>
                <a:latin typeface="Pretendard Light"/>
              </a:rPr>
              <a:t>시장규모 분석</a:t>
            </a:r>
            <a:endParaRPr lang="en-US" altLang="ko-KR" sz="2000" b="0" i="0" u="none" strike="noStrike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6BD871-82DF-4C65-9813-2339117F8304}"/>
              </a:ext>
            </a:extLst>
          </p:cNvPr>
          <p:cNvSpPr txBox="1"/>
          <p:nvPr/>
        </p:nvSpPr>
        <p:spPr>
          <a:xfrm>
            <a:off x="718458" y="1748016"/>
            <a:ext cx="9797142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4000" b="1" dirty="0">
                <a:solidFill>
                  <a:schemeClr val="tx2"/>
                </a:solidFill>
              </a:rPr>
              <a:t>서비스 환경 분석</a:t>
            </a:r>
          </a:p>
          <a:p>
            <a:r>
              <a:rPr lang="ko-KR" altLang="en-US" sz="3600" b="1" dirty="0">
                <a:solidFill>
                  <a:schemeClr val="tx2"/>
                </a:solidFill>
              </a:rPr>
              <a:t>글로벌 빅데이터 시각화 시장 현황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CBBEBC4A-73FB-4F7A-B11F-1FED636E16D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1" y="3086100"/>
            <a:ext cx="7543799" cy="574040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96700D14-5263-4B4F-8C62-1BDE36E5783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0" y="3060700"/>
            <a:ext cx="4801270" cy="5740400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A8648D2C-4F42-4F1D-9C4F-74CFE5E1060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867593" y="3086100"/>
            <a:ext cx="4887007" cy="569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211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2213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99600"/>
              </a:lnSpc>
            </a:pPr>
            <a:r>
              <a:rPr lang="ko-KR" altLang="en-US" sz="2000" dirty="0">
                <a:solidFill>
                  <a:srgbClr val="FFFFFF"/>
                </a:solidFill>
                <a:latin typeface="Pretendard Light"/>
              </a:rPr>
              <a:t>국내 시장 분석</a:t>
            </a:r>
            <a:endParaRPr lang="en-US" altLang="ko-KR" sz="2000" b="0" i="0" u="none" strike="noStrike" dirty="0">
              <a:solidFill>
                <a:srgbClr val="FFFFFF"/>
              </a:solidFill>
              <a:latin typeface="Pretendard Light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7528A5B-F82B-413C-8AA9-07EB7E5B9B4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76458" y="1320800"/>
            <a:ext cx="8841642" cy="82677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1C0BC68-3262-4936-A064-41BB4D2DB9E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" y="3078659"/>
            <a:ext cx="6400800" cy="633204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F91877E-2681-4C49-9050-586FE5115A9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76458" y="5626100"/>
            <a:ext cx="4667232" cy="39624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BBADD89-0FDE-423E-8E72-043094B3208A}"/>
              </a:ext>
            </a:extLst>
          </p:cNvPr>
          <p:cNvSpPr txBox="1"/>
          <p:nvPr/>
        </p:nvSpPr>
        <p:spPr>
          <a:xfrm>
            <a:off x="803729" y="1707059"/>
            <a:ext cx="407307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9600"/>
              </a:lnSpc>
            </a:pPr>
            <a:r>
              <a:rPr lang="ko-KR" altLang="en-US" sz="4400" b="1" dirty="0">
                <a:solidFill>
                  <a:schemeClr val="tx2"/>
                </a:solidFill>
                <a:latin typeface="Pretendard Light"/>
              </a:rPr>
              <a:t>국내 시장 분석</a:t>
            </a:r>
            <a:endParaRPr lang="en-US" altLang="ko-KR" sz="4400" b="1" i="0" u="none" strike="noStrike" dirty="0">
              <a:solidFill>
                <a:schemeClr val="tx2"/>
              </a:solidFill>
              <a:latin typeface="Pretendard Light"/>
            </a:endParaRPr>
          </a:p>
        </p:txBody>
      </p:sp>
    </p:spTree>
    <p:extLst>
      <p:ext uri="{BB962C8B-B14F-4D97-AF65-F5344CB8AC3E}">
        <p14:creationId xmlns:p14="http://schemas.microsoft.com/office/powerpoint/2010/main" val="3702403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000" dirty="0">
                <a:solidFill>
                  <a:srgbClr val="FFFFFF"/>
                </a:solidFill>
                <a:latin typeface="Pretendard Light"/>
              </a:rPr>
              <a:t>서비스 요구사항 분석</a:t>
            </a:r>
            <a:endParaRPr lang="en-US" sz="2000" b="0" i="0" u="none" strike="noStrike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B128E9-BEB9-417F-B270-2771072FA392}"/>
              </a:ext>
            </a:extLst>
          </p:cNvPr>
          <p:cNvSpPr txBox="1"/>
          <p:nvPr/>
        </p:nvSpPr>
        <p:spPr>
          <a:xfrm>
            <a:off x="914400" y="1935659"/>
            <a:ext cx="608371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1" dirty="0">
                <a:solidFill>
                  <a:schemeClr val="tx2"/>
                </a:solidFill>
              </a:rPr>
              <a:t>서비스 요구사항 분석표</a:t>
            </a:r>
          </a:p>
        </p:txBody>
      </p:sp>
      <p:graphicFrame>
        <p:nvGraphicFramePr>
          <p:cNvPr id="28" name="표 28">
            <a:extLst>
              <a:ext uri="{FF2B5EF4-FFF2-40B4-BE49-F238E27FC236}">
                <a16:creationId xmlns:a16="http://schemas.microsoft.com/office/drawing/2014/main" id="{B2E7125B-D7E4-4120-8685-8A54E0B62B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095626"/>
              </p:ext>
            </p:extLst>
          </p:nvPr>
        </p:nvGraphicFramePr>
        <p:xfrm>
          <a:off x="1017814" y="3009899"/>
          <a:ext cx="15212787" cy="457200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106386">
                  <a:extLst>
                    <a:ext uri="{9D8B030D-6E8A-4147-A177-3AD203B41FA5}">
                      <a16:colId xmlns:a16="http://schemas.microsoft.com/office/drawing/2014/main" val="1059377848"/>
                    </a:ext>
                  </a:extLst>
                </a:gridCol>
                <a:gridCol w="7162800">
                  <a:extLst>
                    <a:ext uri="{9D8B030D-6E8A-4147-A177-3AD203B41FA5}">
                      <a16:colId xmlns:a16="http://schemas.microsoft.com/office/drawing/2014/main" val="2792648342"/>
                    </a:ext>
                  </a:extLst>
                </a:gridCol>
                <a:gridCol w="5943601">
                  <a:extLst>
                    <a:ext uri="{9D8B030D-6E8A-4147-A177-3AD203B41FA5}">
                      <a16:colId xmlns:a16="http://schemas.microsoft.com/office/drawing/2014/main" val="3476917551"/>
                    </a:ext>
                  </a:extLst>
                </a:gridCol>
              </a:tblGrid>
              <a:tr h="753269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분류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요구사항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상세내용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928029"/>
                  </a:ext>
                </a:extLst>
              </a:tr>
              <a:tr h="80565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데이터 시각화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직관적 차트 생성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드래그</a:t>
                      </a:r>
                      <a:r>
                        <a:rPr lang="en-US" altLang="ko-KR" dirty="0"/>
                        <a:t>&amp;</a:t>
                      </a:r>
                      <a:r>
                        <a:rPr lang="ko-KR" altLang="en-US" dirty="0"/>
                        <a:t>드롭 방식의 차트 </a:t>
                      </a:r>
                      <a:r>
                        <a:rPr lang="ko-KR" altLang="en-US" dirty="0" err="1"/>
                        <a:t>빌더</a:t>
                      </a:r>
                      <a:r>
                        <a:rPr lang="en-US" altLang="ko-KR" dirty="0"/>
                        <a:t>, 30+</a:t>
                      </a:r>
                      <a:r>
                        <a:rPr lang="ko-KR" altLang="en-US" dirty="0"/>
                        <a:t>종류 차트지원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70072"/>
                  </a:ext>
                </a:extLst>
              </a:tr>
              <a:tr h="753269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커뮤니티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코드 공유 플랫폼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 err="1"/>
                        <a:t>GitHUb</a:t>
                      </a:r>
                      <a:r>
                        <a:rPr lang="ko-KR" altLang="en-US" dirty="0"/>
                        <a:t> 공유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실시간 협업 에디터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버전관리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326934"/>
                  </a:ext>
                </a:extLst>
              </a:tr>
              <a:tr h="753269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경진대회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AI/ML </a:t>
                      </a:r>
                      <a:r>
                        <a:rPr lang="ko-KR" altLang="en-US" dirty="0"/>
                        <a:t>대회 운영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리더보드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자동 평가 시스템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상금 지급 관리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293607"/>
                  </a:ext>
                </a:extLst>
              </a:tr>
              <a:tr h="753269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교육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온라인 러닝 패스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단계별 학습 과정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실습 환경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인증서 발급</a:t>
                      </a:r>
                      <a:endParaRPr lang="en-US" altLang="ko-KR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5793437"/>
                  </a:ext>
                </a:extLst>
              </a:tr>
              <a:tr h="753269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토론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기술 </a:t>
                      </a:r>
                      <a:r>
                        <a:rPr lang="en-US" altLang="ko-KR" dirty="0"/>
                        <a:t>Q&amp;A </a:t>
                      </a:r>
                      <a:r>
                        <a:rPr lang="ko-KR" altLang="en-US" dirty="0"/>
                        <a:t>포럼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카테고리별 분류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전문가 답변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평점 시스템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797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6142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 dirty="0">
                <a:solidFill>
                  <a:srgbClr val="FFFFFF"/>
                </a:solidFill>
                <a:latin typeface="Pretendard Light"/>
              </a:rPr>
              <a:t>3C</a:t>
            </a:r>
            <a:r>
              <a:rPr lang="ko-KR" altLang="en-US" sz="2000" b="0" i="0" u="none" strike="noStrike" dirty="0">
                <a:solidFill>
                  <a:srgbClr val="FFFFFF"/>
                </a:solidFill>
                <a:latin typeface="Pretendard Light"/>
              </a:rPr>
              <a:t>분석</a:t>
            </a:r>
            <a:endParaRPr lang="en-US" sz="2000" b="0" i="0" u="none" strike="noStrike" dirty="0">
              <a:solidFill>
                <a:srgbClr val="FFFFFF"/>
              </a:solidFill>
              <a:latin typeface="Pretendard Light"/>
            </a:endParaRPr>
          </a:p>
        </p:txBody>
      </p:sp>
      <p:graphicFrame>
        <p:nvGraphicFramePr>
          <p:cNvPr id="14" name="차트 13">
            <a:extLst>
              <a:ext uri="{FF2B5EF4-FFF2-40B4-BE49-F238E27FC236}">
                <a16:creationId xmlns:a16="http://schemas.microsoft.com/office/drawing/2014/main" id="{9C0BB0D5-76AE-43C5-97FE-CF3FF22169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3324204"/>
              </p:ext>
            </p:extLst>
          </p:nvPr>
        </p:nvGraphicFramePr>
        <p:xfrm>
          <a:off x="5715000" y="2832100"/>
          <a:ext cx="7086600" cy="551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F90E00B9-FF4C-4323-AA35-B9441E02892C}"/>
              </a:ext>
            </a:extLst>
          </p:cNvPr>
          <p:cNvSpPr txBox="1"/>
          <p:nvPr/>
        </p:nvSpPr>
        <p:spPr>
          <a:xfrm>
            <a:off x="990600" y="1790700"/>
            <a:ext cx="21932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tx2"/>
                </a:solidFill>
              </a:rPr>
              <a:t>3C </a:t>
            </a:r>
            <a:r>
              <a:rPr lang="ko-KR" altLang="en-US" sz="4800" b="1" dirty="0">
                <a:solidFill>
                  <a:schemeClr val="tx2"/>
                </a:solidFill>
              </a:rPr>
              <a:t>분석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1157CA-2BF7-48F5-9FB2-1BE0FBF461B8}"/>
              </a:ext>
            </a:extLst>
          </p:cNvPr>
          <p:cNvSpPr txBox="1"/>
          <p:nvPr/>
        </p:nvSpPr>
        <p:spPr>
          <a:xfrm>
            <a:off x="13258800" y="3162300"/>
            <a:ext cx="29043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/>
              <a:t>Customer(</a:t>
            </a:r>
            <a:r>
              <a:rPr lang="ko-KR" altLang="en-US" sz="3200" b="1" dirty="0"/>
              <a:t>고객</a:t>
            </a:r>
            <a:r>
              <a:rPr lang="en-US" altLang="ko-KR" sz="3200" b="1" dirty="0"/>
              <a:t>)</a:t>
            </a:r>
            <a:endParaRPr lang="ko-KR" altLang="en-US" sz="32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F5E4BC-773B-45D6-ABD1-6B13F4777749}"/>
              </a:ext>
            </a:extLst>
          </p:cNvPr>
          <p:cNvSpPr txBox="1"/>
          <p:nvPr/>
        </p:nvSpPr>
        <p:spPr>
          <a:xfrm>
            <a:off x="13280571" y="3747075"/>
            <a:ext cx="3369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/>
              <a:t>데이터 </a:t>
            </a:r>
            <a:r>
              <a:rPr lang="ko-KR" altLang="en-US" sz="2400" dirty="0" err="1"/>
              <a:t>사이언티스트</a:t>
            </a:r>
            <a:endParaRPr lang="en-US" altLang="ko-K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AI/ML </a:t>
            </a:r>
            <a:r>
              <a:rPr lang="ko-KR" altLang="en-US" sz="2400" dirty="0"/>
              <a:t>엔지니어</a:t>
            </a:r>
            <a:endParaRPr lang="en-US" altLang="ko-K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/>
              <a:t>개발자</a:t>
            </a:r>
            <a:endParaRPr lang="en-US" altLang="ko-K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/>
              <a:t>분석 </a:t>
            </a:r>
            <a:r>
              <a:rPr lang="ko-KR" altLang="en-US" sz="2400" dirty="0" err="1"/>
              <a:t>입문자</a:t>
            </a:r>
            <a:endParaRPr lang="en-US" altLang="ko-K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/>
              <a:t>대학생</a:t>
            </a:r>
            <a:r>
              <a:rPr lang="en-US" altLang="ko-KR" sz="2400" dirty="0"/>
              <a:t>/</a:t>
            </a:r>
            <a:r>
              <a:rPr lang="ko-KR" altLang="en-US" sz="2400" dirty="0"/>
              <a:t>연구원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0BFF51-D39C-45C7-A082-DD4BAAC2E587}"/>
              </a:ext>
            </a:extLst>
          </p:cNvPr>
          <p:cNvSpPr txBox="1"/>
          <p:nvPr/>
        </p:nvSpPr>
        <p:spPr>
          <a:xfrm>
            <a:off x="13280571" y="6541171"/>
            <a:ext cx="3617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/>
              <a:t>Competitor(</a:t>
            </a:r>
            <a:r>
              <a:rPr lang="ko-KR" altLang="en-US" sz="3200" b="1" dirty="0"/>
              <a:t>경쟁자</a:t>
            </a:r>
            <a:r>
              <a:rPr lang="en-US" altLang="ko-KR" sz="3200" b="1" dirty="0"/>
              <a:t>)</a:t>
            </a:r>
            <a:endParaRPr lang="ko-KR" altLang="en-US" sz="3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A595D5-57A4-44E0-98CD-0FC2D9952D46}"/>
              </a:ext>
            </a:extLst>
          </p:cNvPr>
          <p:cNvSpPr txBox="1"/>
          <p:nvPr/>
        </p:nvSpPr>
        <p:spPr>
          <a:xfrm>
            <a:off x="13258800" y="7125946"/>
            <a:ext cx="361349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Kaggle(</a:t>
            </a:r>
            <a:r>
              <a:rPr lang="ko-KR" altLang="en-US" sz="2400" dirty="0"/>
              <a:t>글로벌 </a:t>
            </a:r>
            <a:r>
              <a:rPr lang="en-US" altLang="ko-KR" sz="2400" dirty="0"/>
              <a:t>1</a:t>
            </a:r>
            <a:r>
              <a:rPr lang="ko-KR" altLang="en-US" sz="2400" dirty="0"/>
              <a:t>위</a:t>
            </a:r>
            <a:r>
              <a:rPr lang="en-US" altLang="ko-KR" sz="24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 err="1"/>
              <a:t>DrivenData</a:t>
            </a:r>
            <a:r>
              <a:rPr lang="en-US" altLang="ko-KR" sz="2400" dirty="0"/>
              <a:t>, </a:t>
            </a:r>
            <a:r>
              <a:rPr lang="en-US" altLang="ko-KR" sz="2400" dirty="0" err="1"/>
              <a:t>Zindi</a:t>
            </a:r>
            <a:endParaRPr lang="en-US" altLang="ko-K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GitHub, Stack </a:t>
            </a:r>
            <a:r>
              <a:rPr lang="en-US" altLang="ko-KR" sz="2400" dirty="0" err="1"/>
              <a:t>OverFlow</a:t>
            </a:r>
            <a:endParaRPr lang="en-US" altLang="ko-K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/>
              <a:t>국내 </a:t>
            </a:r>
            <a:r>
              <a:rPr lang="en-US" altLang="ko-KR" sz="2400" dirty="0"/>
              <a:t>: </a:t>
            </a:r>
            <a:r>
              <a:rPr lang="ko-KR" altLang="en-US" sz="2400" dirty="0" err="1"/>
              <a:t>데이콘</a:t>
            </a:r>
            <a:r>
              <a:rPr lang="en-US" altLang="ko-KR" sz="2400" dirty="0"/>
              <a:t>, AI</a:t>
            </a:r>
            <a:r>
              <a:rPr lang="ko-KR" altLang="en-US" sz="2400" dirty="0"/>
              <a:t>팩토리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ECA2AF-201A-4C49-87F6-C6A353CFE1DE}"/>
              </a:ext>
            </a:extLst>
          </p:cNvPr>
          <p:cNvSpPr txBox="1"/>
          <p:nvPr/>
        </p:nvSpPr>
        <p:spPr>
          <a:xfrm>
            <a:off x="1600200" y="4736221"/>
            <a:ext cx="290335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/>
              <a:t>Company(</a:t>
            </a:r>
            <a:r>
              <a:rPr lang="ko-KR" altLang="en-US" sz="3200" b="1" dirty="0"/>
              <a:t>회사</a:t>
            </a:r>
            <a:r>
              <a:rPr lang="en-US" altLang="ko-KR" sz="3200" b="1" dirty="0"/>
              <a:t>)</a:t>
            </a:r>
          </a:p>
          <a:p>
            <a:r>
              <a:rPr lang="en-US" altLang="ko-KR" sz="2400" b="1" dirty="0" err="1"/>
              <a:t>Hangle</a:t>
            </a:r>
            <a:r>
              <a:rPr lang="en-US" altLang="ko-KR" sz="2400" b="1" dirty="0"/>
              <a:t> </a:t>
            </a:r>
            <a:r>
              <a:rPr lang="ko-KR" altLang="en-US" sz="2400" b="1" dirty="0"/>
              <a:t>차별화 전략 </a:t>
            </a:r>
            <a:r>
              <a:rPr lang="en-US" altLang="ko-KR" sz="2400" b="1" dirty="0"/>
              <a:t>:</a:t>
            </a:r>
            <a:endParaRPr lang="ko-KR" altLang="en-US" sz="24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697D97-C144-4C5E-9AAC-A8E76DF1A9FE}"/>
              </a:ext>
            </a:extLst>
          </p:cNvPr>
          <p:cNvSpPr txBox="1"/>
          <p:nvPr/>
        </p:nvSpPr>
        <p:spPr>
          <a:xfrm>
            <a:off x="1600200" y="5695771"/>
            <a:ext cx="419217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/>
              <a:t>한국어 기반 커뮤니티</a:t>
            </a:r>
            <a:endParaRPr lang="en-US" altLang="ko-K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/>
              <a:t>시각화 기능 강화</a:t>
            </a:r>
            <a:endParaRPr lang="en-US" altLang="ko-K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 err="1"/>
              <a:t>현지화된</a:t>
            </a:r>
            <a:r>
              <a:rPr lang="ko-KR" altLang="en-US" sz="2400" dirty="0"/>
              <a:t> 대회 및 학습 센터</a:t>
            </a:r>
          </a:p>
        </p:txBody>
      </p:sp>
    </p:spTree>
    <p:extLst>
      <p:ext uri="{BB962C8B-B14F-4D97-AF65-F5344CB8AC3E}">
        <p14:creationId xmlns:p14="http://schemas.microsoft.com/office/powerpoint/2010/main" val="2591281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B/>
          </a:sp3d>
        </p:spPr>
      </p:pic>
      <p:sp>
        <p:nvSpPr>
          <p:cNvPr id="3" name="TextBox 3"/>
          <p:cNvSpPr txBox="1"/>
          <p:nvPr/>
        </p:nvSpPr>
        <p:spPr>
          <a:xfrm>
            <a:off x="5067300" y="927100"/>
            <a:ext cx="81661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목표를</a:t>
            </a: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설명하는</a:t>
            </a: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인포그래픽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dirty="0">
                <a:solidFill>
                  <a:srgbClr val="FFFFFF"/>
                </a:solidFill>
                <a:latin typeface="Pretendard Light"/>
              </a:rPr>
              <a:t>SWOT</a:t>
            </a:r>
            <a:r>
              <a:rPr lang="ko-KR" altLang="en-US" sz="2000" dirty="0">
                <a:solidFill>
                  <a:srgbClr val="FFFFFF"/>
                </a:solidFill>
                <a:latin typeface="Pretendard Light"/>
              </a:rPr>
              <a:t> 분석</a:t>
            </a:r>
            <a:endParaRPr lang="en-US" sz="2000" b="0" i="0" u="none" strike="noStrike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562100" y="2413000"/>
            <a:ext cx="41529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3500" b="0" i="0" u="none" strike="noStrike">
                <a:solidFill>
                  <a:srgbClr val="FFFFFF"/>
                </a:solidFill>
                <a:ea typeface="Pretendard Bold"/>
              </a:rPr>
              <a:t>목표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C981BC-EACA-4085-BB2B-0B811D00C9BE}"/>
              </a:ext>
            </a:extLst>
          </p:cNvPr>
          <p:cNvSpPr txBox="1"/>
          <p:nvPr/>
        </p:nvSpPr>
        <p:spPr>
          <a:xfrm>
            <a:off x="1143000" y="1943100"/>
            <a:ext cx="29611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tx2"/>
                </a:solidFill>
              </a:rPr>
              <a:t>SWOT</a:t>
            </a:r>
            <a:r>
              <a:rPr lang="ko-KR" altLang="en-US" sz="4800" b="1" dirty="0">
                <a:solidFill>
                  <a:schemeClr val="tx2"/>
                </a:solidFill>
              </a:rPr>
              <a:t>분석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5C0FED4-0021-4E1B-BBA3-E3E14B2A3BFE}"/>
              </a:ext>
            </a:extLst>
          </p:cNvPr>
          <p:cNvSpPr txBox="1"/>
          <p:nvPr/>
        </p:nvSpPr>
        <p:spPr>
          <a:xfrm>
            <a:off x="10043029" y="3380413"/>
            <a:ext cx="4511171" cy="1631216"/>
          </a:xfrm>
          <a:prstGeom prst="rect">
            <a:avLst/>
          </a:prstGeom>
          <a:gradFill flip="none" rotWithShape="1">
            <a:lin ang="18900000" scaled="1"/>
            <a:tileRect/>
          </a:gradFill>
          <a:scene3d>
            <a:camera prst="orthographicFront"/>
            <a:lightRig rig="threePt" dir="t"/>
          </a:scene3d>
          <a:sp3d>
            <a:bevelB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90000" numCol="1" rtlCol="0" anchor="ctr" anchorCtr="0">
            <a:spAutoFit/>
          </a:bodyPr>
          <a:lstStyle/>
          <a:p>
            <a:r>
              <a:rPr lang="en-US" altLang="ko-KR" sz="4000" b="1" dirty="0"/>
              <a:t>Strengths(</a:t>
            </a:r>
            <a:r>
              <a:rPr lang="ko-KR" altLang="en-US" sz="4000" b="1" dirty="0"/>
              <a:t>강점</a:t>
            </a:r>
            <a:r>
              <a:rPr lang="en-US" altLang="ko-KR" sz="4000" b="1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000" b="1" dirty="0"/>
              <a:t>한국어 특화 서비스</a:t>
            </a:r>
            <a:endParaRPr lang="en-US" altLang="ko-KR" sz="20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000" b="1" dirty="0"/>
              <a:t>현지 기업 네트워크</a:t>
            </a:r>
            <a:endParaRPr lang="en-US" altLang="ko-KR" sz="20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000" b="1" dirty="0"/>
              <a:t>빠른 의사결정 구조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EEDF392-1246-4BCC-B4E8-4F5D111DE2AD}"/>
              </a:ext>
            </a:extLst>
          </p:cNvPr>
          <p:cNvSpPr txBox="1"/>
          <p:nvPr/>
        </p:nvSpPr>
        <p:spPr>
          <a:xfrm>
            <a:off x="10043030" y="6642893"/>
            <a:ext cx="4511170" cy="1631216"/>
          </a:xfrm>
          <a:prstGeom prst="rect">
            <a:avLst/>
          </a:prstGeom>
          <a:gradFill flip="none" rotWithShape="1">
            <a:lin ang="18900000" scaled="1"/>
            <a:tileRect/>
          </a:gradFill>
          <a:scene3d>
            <a:camera prst="orthographicFront"/>
            <a:lightRig rig="threePt" dir="t"/>
          </a:scene3d>
          <a:sp3d>
            <a:bevelB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90000" numCol="1" rtlCol="0" anchor="ctr" anchorCtr="0">
            <a:spAutoFit/>
          </a:bodyPr>
          <a:lstStyle/>
          <a:p>
            <a:r>
              <a:rPr lang="en-US" altLang="ko-KR" sz="4000" b="1" dirty="0"/>
              <a:t>Weaknesses(</a:t>
            </a:r>
            <a:r>
              <a:rPr lang="ko-KR" altLang="en-US" sz="4000" b="1" dirty="0"/>
              <a:t>약점</a:t>
            </a:r>
            <a:r>
              <a:rPr lang="en-US" altLang="ko-KR" sz="4000" b="1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000" b="1" dirty="0"/>
              <a:t>글로벌 브랜드 인지도</a:t>
            </a:r>
            <a:endParaRPr lang="en-US" altLang="ko-KR" sz="20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000" b="1" dirty="0"/>
              <a:t>초기 사용자 확보</a:t>
            </a:r>
            <a:endParaRPr lang="en-US" altLang="ko-KR" sz="20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000" b="1" dirty="0"/>
              <a:t>데이터셋 규모 한계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D8CD428-0F75-495E-AF28-2E26B5DF487B}"/>
              </a:ext>
            </a:extLst>
          </p:cNvPr>
          <p:cNvSpPr txBox="1"/>
          <p:nvPr/>
        </p:nvSpPr>
        <p:spPr>
          <a:xfrm>
            <a:off x="1777999" y="3380461"/>
            <a:ext cx="4511171" cy="1631216"/>
          </a:xfrm>
          <a:prstGeom prst="rect">
            <a:avLst/>
          </a:prstGeom>
          <a:gradFill flip="none" rotWithShape="1">
            <a:lin ang="18900000" scaled="1"/>
            <a:tileRect/>
          </a:gradFill>
          <a:scene3d>
            <a:camera prst="orthographicFront"/>
            <a:lightRig rig="threePt" dir="t"/>
          </a:scene3d>
          <a:sp3d>
            <a:bevelB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numCol="1" rtlCol="0" anchor="ctr" anchorCtr="0">
            <a:spAutoFit/>
          </a:bodyPr>
          <a:lstStyle/>
          <a:p>
            <a:r>
              <a:rPr lang="en-US" altLang="ko-KR" sz="4000" b="1" dirty="0"/>
              <a:t>Threats(</a:t>
            </a:r>
            <a:r>
              <a:rPr lang="ko-KR" altLang="en-US" sz="4000" b="1" dirty="0"/>
              <a:t>위협</a:t>
            </a:r>
            <a:r>
              <a:rPr lang="en-US" altLang="ko-KR" sz="4000" b="1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 b="1" dirty="0"/>
              <a:t>Kaggle</a:t>
            </a:r>
            <a:r>
              <a:rPr lang="ko-KR" altLang="en-US" sz="2000" b="1" dirty="0"/>
              <a:t>의 시장 지배력</a:t>
            </a:r>
            <a:endParaRPr lang="en-US" altLang="ko-KR" sz="20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000" b="1" dirty="0"/>
              <a:t>해외 플랫폼 진출</a:t>
            </a:r>
            <a:endParaRPr lang="en-US" altLang="ko-KR" sz="20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000" b="1" dirty="0"/>
              <a:t>기술 발전 속도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4BEE0D8-F576-423B-84F7-CDE1C6F17C1C}"/>
              </a:ext>
            </a:extLst>
          </p:cNvPr>
          <p:cNvSpPr txBox="1"/>
          <p:nvPr/>
        </p:nvSpPr>
        <p:spPr>
          <a:xfrm>
            <a:off x="1778000" y="6642893"/>
            <a:ext cx="4511171" cy="1631216"/>
          </a:xfrm>
          <a:prstGeom prst="rect">
            <a:avLst/>
          </a:prstGeom>
          <a:gradFill flip="none" rotWithShape="1">
            <a:lin ang="18900000" scaled="1"/>
            <a:tileRect/>
          </a:gradFill>
          <a:scene3d>
            <a:camera prst="orthographicFront"/>
            <a:lightRig rig="threePt" dir="t"/>
          </a:scene3d>
          <a:sp3d>
            <a:bevelB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numCol="1" rtlCol="0" anchor="ctr" anchorCtr="0">
            <a:spAutoFit/>
          </a:bodyPr>
          <a:lstStyle/>
          <a:p>
            <a:pPr algn="dist"/>
            <a:r>
              <a:rPr lang="en-US" altLang="ko-KR" sz="4000" b="1" dirty="0"/>
              <a:t>Opportunities(</a:t>
            </a:r>
            <a:r>
              <a:rPr lang="ko-KR" altLang="en-US" sz="4000" b="1" dirty="0"/>
              <a:t>기회</a:t>
            </a:r>
            <a:r>
              <a:rPr lang="en-US" altLang="ko-KR" sz="4000" b="1" dirty="0"/>
              <a:t>)</a:t>
            </a:r>
          </a:p>
          <a:p>
            <a:pPr marL="457200" indent="-457200" algn="dist">
              <a:buFont typeface="Arial" panose="020B0604020202020204" pitchFamily="34" charset="0"/>
              <a:buChar char="•"/>
            </a:pPr>
            <a:r>
              <a:rPr lang="ko-KR" altLang="en-US" sz="2000" b="1" dirty="0"/>
              <a:t>디지털 뉴딜 정책</a:t>
            </a:r>
            <a:endParaRPr lang="en-US" altLang="ko-KR" sz="2000" b="1" dirty="0"/>
          </a:p>
          <a:p>
            <a:pPr marL="457200" indent="-457200" algn="dist">
              <a:buFont typeface="Arial" panose="020B0604020202020204" pitchFamily="34" charset="0"/>
              <a:buChar char="•"/>
            </a:pPr>
            <a:r>
              <a:rPr lang="en-US" altLang="ko-KR" sz="2000" b="1" dirty="0"/>
              <a:t>AI</a:t>
            </a:r>
            <a:r>
              <a:rPr lang="ko-KR" altLang="en-US" sz="2000" b="1" dirty="0"/>
              <a:t>교육 수요 증가</a:t>
            </a:r>
            <a:endParaRPr lang="en-US" altLang="ko-KR" sz="2000" b="1" dirty="0"/>
          </a:p>
          <a:p>
            <a:pPr marL="457200" indent="-457200" algn="dist">
              <a:buFont typeface="Arial" panose="020B0604020202020204" pitchFamily="34" charset="0"/>
              <a:buChar char="•"/>
            </a:pPr>
            <a:r>
              <a:rPr lang="ko-KR" altLang="en-US" sz="2000" b="1" dirty="0"/>
              <a:t>원격근무 확산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sp>
        <p:nvSpPr>
          <p:cNvPr id="3" name="TextBox 3"/>
          <p:cNvSpPr txBox="1"/>
          <p:nvPr/>
        </p:nvSpPr>
        <p:spPr>
          <a:xfrm>
            <a:off x="5067300" y="927100"/>
            <a:ext cx="81661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목표를</a:t>
            </a: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설명하는</a:t>
            </a: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인포그래픽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 dirty="0">
                <a:solidFill>
                  <a:srgbClr val="FFFFFF"/>
                </a:solidFill>
                <a:latin typeface="Pretendard Light"/>
              </a:rPr>
              <a:t>SWOT </a:t>
            </a:r>
            <a:r>
              <a:rPr lang="ko-KR" altLang="en-US" sz="2000" b="0" i="0" u="none" strike="noStrike" dirty="0">
                <a:solidFill>
                  <a:srgbClr val="FFFFFF"/>
                </a:solidFill>
                <a:latin typeface="Pretendard Light"/>
              </a:rPr>
              <a:t>전략 수립</a:t>
            </a:r>
            <a:endParaRPr lang="en-US" sz="2000" b="0" i="0" u="none" strike="noStrike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562100" y="2413000"/>
            <a:ext cx="41529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3500" b="0" i="0" u="none" strike="noStrike">
                <a:solidFill>
                  <a:srgbClr val="FFFFFF"/>
                </a:solidFill>
                <a:ea typeface="Pretendard Bold"/>
              </a:rPr>
              <a:t>목표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73A5D5-8430-435A-AF4C-142FC6D21EE0}"/>
              </a:ext>
            </a:extLst>
          </p:cNvPr>
          <p:cNvSpPr txBox="1"/>
          <p:nvPr/>
        </p:nvSpPr>
        <p:spPr>
          <a:xfrm>
            <a:off x="1057729" y="1926811"/>
            <a:ext cx="408349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chemeClr val="tx2"/>
                </a:solidFill>
              </a:rPr>
              <a:t>SWOT </a:t>
            </a:r>
            <a:r>
              <a:rPr lang="ko-KR" altLang="en-US" sz="4400" b="1" dirty="0">
                <a:solidFill>
                  <a:schemeClr val="tx2"/>
                </a:solidFill>
              </a:rPr>
              <a:t>전략 수립</a:t>
            </a:r>
          </a:p>
        </p:txBody>
      </p:sp>
      <p:graphicFrame>
        <p:nvGraphicFramePr>
          <p:cNvPr id="20" name="표 28">
            <a:extLst>
              <a:ext uri="{FF2B5EF4-FFF2-40B4-BE49-F238E27FC236}">
                <a16:creationId xmlns:a16="http://schemas.microsoft.com/office/drawing/2014/main" id="{81ABDBDE-DC03-4E32-8D7B-A67309E400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579527"/>
              </p:ext>
            </p:extLst>
          </p:nvPr>
        </p:nvGraphicFramePr>
        <p:xfrm>
          <a:off x="1168400" y="3182441"/>
          <a:ext cx="15824200" cy="4691557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191043">
                  <a:extLst>
                    <a:ext uri="{9D8B030D-6E8A-4147-A177-3AD203B41FA5}">
                      <a16:colId xmlns:a16="http://schemas.microsoft.com/office/drawing/2014/main" val="1059377848"/>
                    </a:ext>
                  </a:extLst>
                </a:gridCol>
                <a:gridCol w="7450678">
                  <a:extLst>
                    <a:ext uri="{9D8B030D-6E8A-4147-A177-3AD203B41FA5}">
                      <a16:colId xmlns:a16="http://schemas.microsoft.com/office/drawing/2014/main" val="2792648342"/>
                    </a:ext>
                  </a:extLst>
                </a:gridCol>
                <a:gridCol w="6182479">
                  <a:extLst>
                    <a:ext uri="{9D8B030D-6E8A-4147-A177-3AD203B41FA5}">
                      <a16:colId xmlns:a16="http://schemas.microsoft.com/office/drawing/2014/main" val="3476917551"/>
                    </a:ext>
                  </a:extLst>
                </a:gridCol>
              </a:tblGrid>
              <a:tr h="925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전략 구분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전략 내용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실행 방안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928029"/>
                  </a:ext>
                </a:extLst>
              </a:tr>
              <a:tr h="9898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SO</a:t>
                      </a:r>
                      <a:r>
                        <a:rPr lang="ko-KR" altLang="en-US" dirty="0"/>
                        <a:t>전략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한국어 특화 </a:t>
                      </a:r>
                      <a:r>
                        <a:rPr lang="en-US" altLang="ko-KR" dirty="0"/>
                        <a:t>AI </a:t>
                      </a:r>
                      <a:r>
                        <a:rPr lang="ko-KR" altLang="en-US" dirty="0"/>
                        <a:t>교육 플랫폼 구축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정부 과제 연계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대학 파트너십 확대</a:t>
                      </a:r>
                      <a:endParaRPr lang="en-US" altLang="ko-KR" dirty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기업 맞춤 교육 프로그램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70072"/>
                  </a:ext>
                </a:extLst>
              </a:tr>
              <a:tr h="9254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WO</a:t>
                      </a:r>
                      <a:r>
                        <a:rPr lang="ko-KR" altLang="en-US" dirty="0"/>
                        <a:t>전략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글로벌 데이터셋 확보 및 브랜드 강화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국제 대회 유치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해외 기업 협력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인플루언서</a:t>
                      </a:r>
                      <a:r>
                        <a:rPr lang="ko-KR" altLang="en-US" dirty="0"/>
                        <a:t> 마케팅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326934"/>
                  </a:ext>
                </a:extLst>
              </a:tr>
              <a:tr h="9254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ST</a:t>
                      </a:r>
                      <a:r>
                        <a:rPr lang="ko-KR" altLang="en-US" dirty="0"/>
                        <a:t>전략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차별화된 서비스로 경쟁력 확보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실시간 협업 도구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한국 기업 데이터 특화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멘토링 시스템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293607"/>
                  </a:ext>
                </a:extLst>
              </a:tr>
              <a:tr h="9254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WT</a:t>
                      </a:r>
                      <a:r>
                        <a:rPr lang="ko-KR" altLang="en-US" dirty="0"/>
                        <a:t>전략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전략적 제휴를 통한 생존 기반 마련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대기업 투자 유치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기술 </a:t>
                      </a:r>
                      <a:r>
                        <a:rPr lang="ko-KR" altLang="en-US" dirty="0" err="1"/>
                        <a:t>라이센싱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니치 마켓 집중</a:t>
                      </a:r>
                      <a:endParaRPr lang="en-US" altLang="ko-KR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5793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2244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Pretendard Light"/>
              </a:rPr>
              <a:t>presentation_text</a:t>
            </a:r>
          </a:p>
        </p:txBody>
      </p:sp>
      <p:graphicFrame>
        <p:nvGraphicFramePr>
          <p:cNvPr id="14" name="표 14">
            <a:extLst>
              <a:ext uri="{FF2B5EF4-FFF2-40B4-BE49-F238E27FC236}">
                <a16:creationId xmlns:a16="http://schemas.microsoft.com/office/drawing/2014/main" id="{9A6C4D9F-BE8C-4D6D-84DF-82D46C818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646631"/>
              </p:ext>
            </p:extLst>
          </p:nvPr>
        </p:nvGraphicFramePr>
        <p:xfrm>
          <a:off x="1090386" y="5143500"/>
          <a:ext cx="14351000" cy="35261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582931445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708680152"/>
                    </a:ext>
                  </a:extLst>
                </a:gridCol>
                <a:gridCol w="2509520">
                  <a:extLst>
                    <a:ext uri="{9D8B030D-6E8A-4147-A177-3AD203B41FA5}">
                      <a16:colId xmlns:a16="http://schemas.microsoft.com/office/drawing/2014/main" val="1459845682"/>
                    </a:ext>
                  </a:extLst>
                </a:gridCol>
                <a:gridCol w="2910840">
                  <a:extLst>
                    <a:ext uri="{9D8B030D-6E8A-4147-A177-3AD203B41FA5}">
                      <a16:colId xmlns:a16="http://schemas.microsoft.com/office/drawing/2014/main" val="1295337889"/>
                    </a:ext>
                  </a:extLst>
                </a:gridCol>
                <a:gridCol w="2910840">
                  <a:extLst>
                    <a:ext uri="{9D8B030D-6E8A-4147-A177-3AD203B41FA5}">
                      <a16:colId xmlns:a16="http://schemas.microsoft.com/office/drawing/2014/main" val="4105925674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dirty="0"/>
                        <a:t>개발팀 구성 </a:t>
                      </a:r>
                      <a:r>
                        <a:rPr lang="en-US" altLang="ko-KR" b="1" dirty="0"/>
                        <a:t>/ </a:t>
                      </a:r>
                      <a:r>
                        <a:rPr lang="ko-KR" altLang="en-US" b="1" dirty="0"/>
                        <a:t>인원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주요 업무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필요 기술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인원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/>
                        <a:t>운영팀 구성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621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데이터 엔지니어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서버 </a:t>
                      </a:r>
                      <a:r>
                        <a:rPr lang="en-US" altLang="ko-KR" dirty="0"/>
                        <a:t>API</a:t>
                      </a:r>
                      <a:r>
                        <a:rPr lang="ko-KR" altLang="en-US" dirty="0"/>
                        <a:t>개발</a:t>
                      </a:r>
                      <a:r>
                        <a:rPr lang="en-US" altLang="ko-KR" dirty="0"/>
                        <a:t>, DB</a:t>
                      </a:r>
                      <a:r>
                        <a:rPr lang="ko-KR" altLang="en-US" dirty="0"/>
                        <a:t>설계 및 연동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Flask or Spring, DB </a:t>
                      </a:r>
                      <a:r>
                        <a:rPr lang="ko-KR" altLang="en-US" dirty="0"/>
                        <a:t>구축</a:t>
                      </a:r>
                      <a:endParaRPr lang="en-US" altLang="ko-KR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, API</a:t>
                      </a:r>
                      <a:endParaRPr lang="ko-KR" altLang="en-US" dirty="0"/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651909"/>
                  </a:ext>
                </a:extLst>
              </a:tr>
              <a:tr h="7191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프론트엔드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웹 </a:t>
                      </a:r>
                      <a:r>
                        <a:rPr lang="en-US" altLang="ko-KR" dirty="0"/>
                        <a:t>UI/UX </a:t>
                      </a:r>
                      <a:r>
                        <a:rPr lang="ko-KR" altLang="en-US" dirty="0"/>
                        <a:t>개발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사용자 인터페이스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HTML, CSS, JavaScript, React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5008"/>
                  </a:ext>
                </a:extLst>
              </a:tr>
              <a:tr h="7191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데이터 분석 </a:t>
                      </a:r>
                      <a:r>
                        <a:rPr lang="en-US" altLang="ko-KR" dirty="0"/>
                        <a:t>&amp; </a:t>
                      </a:r>
                      <a:r>
                        <a:rPr lang="ko-KR" altLang="en-US" dirty="0"/>
                        <a:t>업로드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사용자 업로드 </a:t>
                      </a:r>
                      <a:r>
                        <a:rPr lang="en-US" altLang="ko-KR" dirty="0"/>
                        <a:t>.csv </a:t>
                      </a:r>
                      <a:r>
                        <a:rPr lang="ko-KR" altLang="en-US" dirty="0"/>
                        <a:t>파일 처리 및 컬럼 추출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pandas, </a:t>
                      </a:r>
                      <a:r>
                        <a:rPr lang="en-US" altLang="ko-KR" dirty="0" err="1"/>
                        <a:t>numpy</a:t>
                      </a:r>
                      <a:r>
                        <a:rPr lang="en-US" altLang="ko-KR" dirty="0"/>
                        <a:t>, csv, Python </a:t>
                      </a:r>
                      <a:r>
                        <a:rPr lang="ko-KR" altLang="en-US" dirty="0"/>
                        <a:t>기초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기획자 </a:t>
                      </a: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명 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데이터셋 관리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업로드 정책 수립 등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1978593"/>
                  </a:ext>
                </a:extLst>
              </a:tr>
              <a:tr h="7191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데이터 처리 </a:t>
                      </a:r>
                      <a:r>
                        <a:rPr lang="en-US" altLang="ko-KR" dirty="0"/>
                        <a:t>&amp; </a:t>
                      </a:r>
                      <a:r>
                        <a:rPr lang="ko-KR" altLang="en-US" dirty="0"/>
                        <a:t>시각화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선택된 컬럼 기반 그래프 생성 및 화면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pandas, matplotlib, seaborn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콘텐츠 담당 </a:t>
                      </a: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명 </a:t>
                      </a:r>
                      <a:br>
                        <a:rPr lang="en-US" altLang="ko-KR" dirty="0"/>
                      </a:b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결과물 정리 및 문서화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127743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9732CB2-004F-426B-A698-20A609657EF1}"/>
              </a:ext>
            </a:extLst>
          </p:cNvPr>
          <p:cNvSpPr txBox="1"/>
          <p:nvPr/>
        </p:nvSpPr>
        <p:spPr>
          <a:xfrm>
            <a:off x="939800" y="1346200"/>
            <a:ext cx="112082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200" dirty="0"/>
              <a:t>04</a:t>
            </a:r>
            <a:endParaRPr lang="ko-KR" altLang="en-US" sz="7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F7E717-208F-4560-BCC2-ED7F999FEF7F}"/>
              </a:ext>
            </a:extLst>
          </p:cNvPr>
          <p:cNvSpPr txBox="1"/>
          <p:nvPr/>
        </p:nvSpPr>
        <p:spPr>
          <a:xfrm>
            <a:off x="762000" y="2587704"/>
            <a:ext cx="564449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600" dirty="0"/>
              <a:t>인력 환경 분석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2B046F-59FF-4B46-A7E7-57FB7BD8B525}"/>
              </a:ext>
            </a:extLst>
          </p:cNvPr>
          <p:cNvSpPr txBox="1"/>
          <p:nvPr/>
        </p:nvSpPr>
        <p:spPr>
          <a:xfrm>
            <a:off x="1066800" y="4482525"/>
            <a:ext cx="32431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u="sng" dirty="0"/>
              <a:t>서비스 인력 분석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541</Words>
  <Application>Microsoft Office PowerPoint</Application>
  <PresentationFormat>사용자 지정</PresentationFormat>
  <Paragraphs>144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7" baseType="lpstr">
      <vt:lpstr>Pretendard Bold</vt:lpstr>
      <vt:lpstr>Calibri</vt:lpstr>
      <vt:lpstr>Wingdings</vt:lpstr>
      <vt:lpstr>맑은 고딕</vt:lpstr>
      <vt:lpstr>Arial</vt:lpstr>
      <vt:lpstr>Pretendard Light</vt:lpstr>
      <vt:lpstr>맑은 고딕 (본문)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FullName</cp:lastModifiedBy>
  <cp:revision>27</cp:revision>
  <dcterms:created xsi:type="dcterms:W3CDTF">2006-08-16T00:00:00Z</dcterms:created>
  <dcterms:modified xsi:type="dcterms:W3CDTF">2025-09-16T00:49:15Z</dcterms:modified>
</cp:coreProperties>
</file>