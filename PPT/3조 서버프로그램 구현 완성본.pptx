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64" r:id="rId6"/>
    <p:sldId id="263" r:id="rId7"/>
    <p:sldId id="265" r:id="rId8"/>
    <p:sldId id="271" r:id="rId9"/>
    <p:sldId id="270" r:id="rId10"/>
    <p:sldId id="275" r:id="rId11"/>
    <p:sldId id="277" r:id="rId12"/>
    <p:sldId id="278" r:id="rId13"/>
    <p:sldId id="279" r:id="rId14"/>
    <p:sldId id="280" r:id="rId15"/>
    <p:sldId id="276" r:id="rId16"/>
    <p:sldId id="266" r:id="rId17"/>
    <p:sldId id="272" r:id="rId18"/>
    <p:sldId id="294" r:id="rId19"/>
    <p:sldId id="259" r:id="rId20"/>
    <p:sldId id="286" r:id="rId21"/>
    <p:sldId id="287" r:id="rId22"/>
    <p:sldId id="288" r:id="rId23"/>
    <p:sldId id="267" r:id="rId24"/>
    <p:sldId id="289" r:id="rId25"/>
    <p:sldId id="290" r:id="rId26"/>
    <p:sldId id="291" r:id="rId27"/>
    <p:sldId id="292" r:id="rId28"/>
    <p:sldId id="293" r:id="rId29"/>
    <p:sldId id="268" r:id="rId30"/>
    <p:sldId id="274" r:id="rId31"/>
    <p:sldId id="281" r:id="rId32"/>
    <p:sldId id="282" r:id="rId33"/>
    <p:sldId id="283" r:id="rId34"/>
    <p:sldId id="285" r:id="rId35"/>
  </p:sldIdLst>
  <p:sldSz cx="18288000" cy="10287000"/>
  <p:notesSz cx="6858000" cy="9144000"/>
  <p:embeddedFontLst>
    <p:embeddedFont>
      <p:font typeface="Pretendard Bold" panose="020B0600000101010101" charset="-127"/>
      <p:bold r:id="rId36"/>
    </p:embeddedFont>
    <p:embeddedFont>
      <p:font typeface="Pretendard Light" panose="020B0600000101010101" charset="-127"/>
      <p:regular r:id="rId37"/>
    </p:embeddedFont>
    <p:embeddedFont>
      <p:font typeface="Pretendard Medium" panose="020B0600000101010101" charset="-127"/>
      <p:bold r:id="rId38"/>
    </p:embeddedFont>
    <p:embeddedFont>
      <p:font typeface="Pretendard Regular" panose="020B0600000101010101" charset="-127"/>
      <p:regular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Consolas" panose="020B0609020204030204" pitchFamily="49" charset="0"/>
      <p:regular r:id="rId44"/>
      <p:bold r:id="rId45"/>
      <p:italic r:id="rId46"/>
      <p:boldItalic r:id="rId47"/>
    </p:embeddedFont>
    <p:embeddedFont>
      <p:font typeface="맑은 고딕" panose="020B0503020000020004" pitchFamily="50" charset="-127"/>
      <p:regular r:id="rId48"/>
      <p:bold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73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17" Type="http://schemas.openxmlformats.org/officeDocument/2006/relationships/image" Target="../media/image27.png"/><Relationship Id="rId2" Type="http://schemas.openxmlformats.org/officeDocument/2006/relationships/image" Target="../media/image1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25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1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38.png"/><Relationship Id="rId4" Type="http://schemas.openxmlformats.org/officeDocument/2006/relationships/image" Target="../media/image3.png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4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4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4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47.png"/><Relationship Id="rId5" Type="http://schemas.openxmlformats.org/officeDocument/2006/relationships/image" Target="../media/image3.png"/><Relationship Id="rId10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4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49.png"/><Relationship Id="rId5" Type="http://schemas.openxmlformats.org/officeDocument/2006/relationships/image" Target="../media/image3.png"/><Relationship Id="rId10" Type="http://schemas.openxmlformats.org/officeDocument/2006/relationships/image" Target="../media/image4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4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4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51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6.png"/><Relationship Id="rId5" Type="http://schemas.openxmlformats.org/officeDocument/2006/relationships/image" Target="../media/image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53.png"/><Relationship Id="rId4" Type="http://schemas.openxmlformats.org/officeDocument/2006/relationships/image" Target="../media/image3.png"/><Relationship Id="rId9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55.png"/><Relationship Id="rId5" Type="http://schemas.openxmlformats.org/officeDocument/2006/relationships/image" Target="../media/image4.png"/><Relationship Id="rId10" Type="http://schemas.openxmlformats.org/officeDocument/2006/relationships/image" Target="../media/image54.png"/><Relationship Id="rId4" Type="http://schemas.openxmlformats.org/officeDocument/2006/relationships/image" Target="../media/image3.png"/><Relationship Id="rId9" Type="http://schemas.openxmlformats.org/officeDocument/2006/relationships/image" Target="../media/image5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56.png"/><Relationship Id="rId4" Type="http://schemas.openxmlformats.org/officeDocument/2006/relationships/image" Target="../media/image3.png"/><Relationship Id="rId9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57.png"/><Relationship Id="rId4" Type="http://schemas.openxmlformats.org/officeDocument/2006/relationships/image" Target="../media/image3.png"/><Relationship Id="rId9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59.png"/><Relationship Id="rId5" Type="http://schemas.openxmlformats.org/officeDocument/2006/relationships/image" Target="../media/image4.png"/><Relationship Id="rId10" Type="http://schemas.openxmlformats.org/officeDocument/2006/relationships/image" Target="../media/image58.png"/><Relationship Id="rId4" Type="http://schemas.openxmlformats.org/officeDocument/2006/relationships/image" Target="../media/image3.png"/><Relationship Id="rId9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73700" y="6350000"/>
            <a:ext cx="1193800" cy="1193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2500" y="6350000"/>
            <a:ext cx="1181100" cy="1181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4300" y="6985000"/>
            <a:ext cx="673100" cy="59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45900" y="6489700"/>
            <a:ext cx="914400" cy="914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75500" y="6781800"/>
            <a:ext cx="1003300" cy="10033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Title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35300" y="3670300"/>
            <a:ext cx="122301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4500" b="0" i="0" u="none" strike="noStrike">
                <a:solidFill>
                  <a:srgbClr val="494A4E"/>
                </a:solidFill>
                <a:latin typeface="Pretendard Medium"/>
              </a:rPr>
              <a:t>3</a:t>
            </a:r>
            <a:r>
              <a:rPr lang="ko-KR" sz="4500" b="0" i="0" u="none" strike="noStrike">
                <a:solidFill>
                  <a:srgbClr val="494A4E"/>
                </a:solidFill>
                <a:ea typeface="Pretendard Medium"/>
              </a:rPr>
              <a:t>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71800" y="4457700"/>
            <a:ext cx="12344400" cy="1600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9000" b="0" i="0" u="none" strike="noStrike" dirty="0">
                <a:solidFill>
                  <a:srgbClr val="000000"/>
                </a:solidFill>
                <a:ea typeface="Pretendard Bold"/>
              </a:rPr>
              <a:t>서버프로그램 구현</a:t>
            </a:r>
            <a:endParaRPr lang="ko-KR" sz="9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1600" y="8102600"/>
            <a:ext cx="1003300" cy="889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>
                <a:solidFill>
                  <a:srgbClr val="FFFFFF"/>
                </a:solidFill>
                <a:latin typeface="Pretendard Light"/>
              </a:rPr>
              <a:t>Index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10300" y="247650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242629"/>
                </a:solidFill>
                <a:ea typeface="Pretendard Bold"/>
              </a:rPr>
              <a:t>목차</a:t>
            </a:r>
            <a:r>
              <a:rPr lang="en-US" sz="3200" b="0" i="0" u="none" strike="noStrike" dirty="0">
                <a:solidFill>
                  <a:srgbClr val="242629"/>
                </a:solidFill>
                <a:latin typeface="Pretendard Bold"/>
              </a:rPr>
              <a:t>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37600" y="2476500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dirty="0">
                <a:solidFill>
                  <a:srgbClr val="494A4E"/>
                </a:solidFill>
                <a:latin typeface="Pretendard Medium"/>
                <a:ea typeface="Pretendard Medium"/>
              </a:rPr>
              <a:t>순서도 확인</a:t>
            </a:r>
            <a:endParaRPr lang="ko-KR" sz="32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210300" y="359410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>
                <a:solidFill>
                  <a:srgbClr val="242629"/>
                </a:solidFill>
                <a:ea typeface="Pretendard Bold"/>
              </a:rPr>
              <a:t>목차</a:t>
            </a:r>
            <a:r>
              <a:rPr lang="en-US" sz="3200" b="0" i="0" u="none" strike="noStrike">
                <a:solidFill>
                  <a:srgbClr val="242629"/>
                </a:solidFill>
                <a:latin typeface="Pretendard Bold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37600" y="3594100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dirty="0">
                <a:solidFill>
                  <a:srgbClr val="494A4E"/>
                </a:solidFill>
                <a:latin typeface="Pretendard Medium"/>
              </a:rPr>
              <a:t>Project Explorer</a:t>
            </a:r>
            <a:endParaRPr lang="ko-KR" sz="32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210300" y="471170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>
                <a:solidFill>
                  <a:srgbClr val="242629"/>
                </a:solidFill>
                <a:ea typeface="Pretendard Bold"/>
              </a:rPr>
              <a:t>목차</a:t>
            </a:r>
            <a:r>
              <a:rPr lang="en-US" sz="3200" b="0" i="0" u="none" strike="noStrike">
                <a:solidFill>
                  <a:srgbClr val="242629"/>
                </a:solidFill>
                <a:latin typeface="Pretendard Bol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37600" y="4711700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dirty="0">
                <a:solidFill>
                  <a:srgbClr val="494A4E"/>
                </a:solidFill>
                <a:latin typeface="Pretendard Medium"/>
              </a:rPr>
              <a:t>MemberDto.java</a:t>
            </a:r>
            <a:endParaRPr lang="ko-KR" sz="32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210300" y="582930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242629"/>
                </a:solidFill>
                <a:ea typeface="Pretendard Bold"/>
              </a:rPr>
              <a:t>목차</a:t>
            </a:r>
            <a:r>
              <a:rPr lang="en-US" sz="3200" b="0" i="0" u="none" strike="noStrike" dirty="0">
                <a:solidFill>
                  <a:srgbClr val="242629"/>
                </a:solidFill>
                <a:latin typeface="Pretendard Bold"/>
              </a:rPr>
              <a:t>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37600" y="5829300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dirty="0">
                <a:solidFill>
                  <a:srgbClr val="494A4E"/>
                </a:solidFill>
                <a:latin typeface="Pretendard Medium"/>
              </a:rPr>
              <a:t>DbUtils.java</a:t>
            </a:r>
            <a:endParaRPr lang="ko-KR" sz="32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20800" y="2019300"/>
            <a:ext cx="3695700" cy="80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>
                <a:solidFill>
                  <a:srgbClr val="C2C2C2"/>
                </a:solidFill>
                <a:latin typeface="Pretendard Medium"/>
              </a:rPr>
              <a:t>INDEX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20800" y="2730500"/>
            <a:ext cx="381000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9000" b="0" i="0" u="none" strike="noStrike" dirty="0">
                <a:solidFill>
                  <a:srgbClr val="000000"/>
                </a:solidFill>
                <a:ea typeface="Pretendard Bold"/>
              </a:rPr>
              <a:t>목차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DA55CB3D-E80C-47CC-AFAA-9E7AAC01F700}"/>
              </a:ext>
            </a:extLst>
          </p:cNvPr>
          <p:cNvSpPr txBox="1"/>
          <p:nvPr/>
        </p:nvSpPr>
        <p:spPr>
          <a:xfrm>
            <a:off x="6210300" y="701040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242629"/>
                </a:solidFill>
                <a:ea typeface="Pretendard Bold"/>
              </a:rPr>
              <a:t>목차</a:t>
            </a:r>
            <a:r>
              <a:rPr lang="en-US" altLang="ko-KR" sz="3200" dirty="0">
                <a:solidFill>
                  <a:srgbClr val="242629"/>
                </a:solidFill>
                <a:latin typeface="Pretendard Bold"/>
                <a:ea typeface="Pretendard Bold"/>
              </a:rPr>
              <a:t>5</a:t>
            </a:r>
            <a:endParaRPr lang="en-US" sz="3200" b="0" i="0" u="none" strike="noStrike" dirty="0">
              <a:solidFill>
                <a:srgbClr val="242629"/>
              </a:solidFill>
              <a:latin typeface="Pretendard Bold"/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A4396C57-E95B-4D50-A9D3-7BBAF908F29A}"/>
              </a:ext>
            </a:extLst>
          </p:cNvPr>
          <p:cNvSpPr txBox="1"/>
          <p:nvPr/>
        </p:nvSpPr>
        <p:spPr>
          <a:xfrm>
            <a:off x="8737600" y="7010400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3200" b="0" i="0" u="none" strike="noStrike" dirty="0">
                <a:solidFill>
                  <a:srgbClr val="494A4E"/>
                </a:solidFill>
                <a:latin typeface="Pretendard Medium"/>
              </a:rPr>
              <a:t>02Join.jsp</a:t>
            </a:r>
            <a:endParaRPr lang="ko-KR" sz="32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  <p:sp>
        <p:nvSpPr>
          <p:cNvPr id="23" name="TextBox 17">
            <a:extLst>
              <a:ext uri="{FF2B5EF4-FFF2-40B4-BE49-F238E27FC236}">
                <a16:creationId xmlns:a16="http://schemas.microsoft.com/office/drawing/2014/main" id="{559CBD8D-3BB2-470B-A344-1DCFE0E32E46}"/>
              </a:ext>
            </a:extLst>
          </p:cNvPr>
          <p:cNvSpPr txBox="1"/>
          <p:nvPr/>
        </p:nvSpPr>
        <p:spPr>
          <a:xfrm>
            <a:off x="6210300" y="8077200"/>
            <a:ext cx="21082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3200" b="0" i="0" u="none" strike="noStrike" dirty="0">
                <a:solidFill>
                  <a:srgbClr val="242629"/>
                </a:solidFill>
                <a:ea typeface="Pretendard Bold"/>
              </a:rPr>
              <a:t>목차</a:t>
            </a:r>
            <a:r>
              <a:rPr lang="en-US" altLang="ko-KR" sz="3200" b="0" i="0" u="none" strike="noStrike" dirty="0">
                <a:solidFill>
                  <a:srgbClr val="242629"/>
                </a:solidFill>
                <a:latin typeface="Pretendard Bold"/>
                <a:ea typeface="Pretendard Bold"/>
              </a:rPr>
              <a:t>6</a:t>
            </a:r>
            <a:endParaRPr lang="en-US" sz="3200" b="0" i="0" u="none" strike="noStrike" dirty="0">
              <a:solidFill>
                <a:srgbClr val="242629"/>
              </a:solidFill>
              <a:latin typeface="Pretendard Bold"/>
            </a:endParaRPr>
          </a:p>
        </p:txBody>
      </p:sp>
      <p:sp>
        <p:nvSpPr>
          <p:cNvPr id="24" name="TextBox 18">
            <a:extLst>
              <a:ext uri="{FF2B5EF4-FFF2-40B4-BE49-F238E27FC236}">
                <a16:creationId xmlns:a16="http://schemas.microsoft.com/office/drawing/2014/main" id="{87CA001D-5746-4B57-8070-60779F2AE0C5}"/>
              </a:ext>
            </a:extLst>
          </p:cNvPr>
          <p:cNvSpPr txBox="1"/>
          <p:nvPr/>
        </p:nvSpPr>
        <p:spPr>
          <a:xfrm>
            <a:off x="8737600" y="8077200"/>
            <a:ext cx="8788400" cy="571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3200" b="0" i="0" u="none" strike="noStrike" dirty="0">
                <a:solidFill>
                  <a:srgbClr val="494A4E"/>
                </a:solidFill>
                <a:ea typeface="Pretendard Medium"/>
              </a:rPr>
              <a:t>최종 결과</a:t>
            </a:r>
            <a:endParaRPr lang="ko-KR" sz="32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순서도 확인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C2C2C2"/>
                </a:solidFill>
                <a:latin typeface="Pretendard Medium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0800" y="2730500"/>
            <a:ext cx="121031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9600" dirty="0">
                <a:solidFill>
                  <a:srgbClr val="494A4E"/>
                </a:solidFill>
                <a:latin typeface="Pretendard Medium"/>
                <a:ea typeface="Pretendard Medium"/>
              </a:rPr>
              <a:t>순서도 확인</a:t>
            </a:r>
            <a:endParaRPr lang="ko-KR" altLang="ko-KR" sz="96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순서도 확인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000" b="0" i="0" u="none" strike="noStrike" dirty="0">
                <a:solidFill>
                  <a:srgbClr val="000000"/>
                </a:solidFill>
                <a:ea typeface="Pretendard Bold"/>
              </a:rPr>
              <a:t>순서도</a:t>
            </a: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994900" y="3568700"/>
            <a:ext cx="7188200" cy="4368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000" b="0" i="0" u="none" strike="noStrike" dirty="0">
                <a:solidFill>
                  <a:srgbClr val="494A4E"/>
                </a:solidFill>
                <a:latin typeface="Pretendard Medium"/>
                <a:ea typeface="Pretendard Medium"/>
              </a:rPr>
              <a:t> 순서도는 기능을 구현하기 위한 전체 흐름을 시각적으로 정의하고 개발자와 기획자가 동일한 절차를 이해할 수 있도록 돕는 것</a:t>
            </a:r>
            <a:endParaRPr lang="en-US" altLang="ko-KR" sz="3000" b="0" i="0" u="none" strike="noStrike" dirty="0">
              <a:solidFill>
                <a:srgbClr val="494A4E"/>
              </a:solidFill>
              <a:latin typeface="Pretendard Medium"/>
              <a:ea typeface="Pretendard Medium"/>
            </a:endParaRPr>
          </a:p>
          <a:p>
            <a:pPr lvl="0" algn="l">
              <a:lnSpc>
                <a:spcPct val="99600"/>
              </a:lnSpc>
            </a:pPr>
            <a:endParaRPr lang="en-US" sz="3000" dirty="0">
              <a:solidFill>
                <a:srgbClr val="494A4E"/>
              </a:solidFill>
              <a:latin typeface="Pretendard Medium"/>
              <a:ea typeface="Pretendard Medium"/>
            </a:endParaRPr>
          </a:p>
          <a:p>
            <a:pPr lvl="0" algn="l">
              <a:lnSpc>
                <a:spcPct val="99600"/>
              </a:lnSpc>
            </a:pP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3E5A874-702B-4802-9FF5-2D3D9FB82BE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5728" y="876300"/>
            <a:ext cx="6462648" cy="81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50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dirty="0">
                <a:solidFill>
                  <a:srgbClr val="FFFFFF"/>
                </a:solidFill>
                <a:latin typeface="Pretendard Light"/>
              </a:rPr>
              <a:t>Project Explorer</a:t>
            </a:r>
            <a:endParaRPr lang="en-US" altLang="ko-KR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C2C2C2"/>
                </a:solidFill>
                <a:latin typeface="Pretendard Medium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0800" y="2730500"/>
            <a:ext cx="121031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9600" b="0" i="0" u="none" strike="noStrike" dirty="0">
                <a:solidFill>
                  <a:srgbClr val="494A4E"/>
                </a:solidFill>
                <a:latin typeface="Pretendard Medium"/>
              </a:rPr>
              <a:t>Project Explorer</a:t>
            </a:r>
            <a:endParaRPr lang="ko-KR" altLang="ko-KR" sz="96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1833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60500" y="4216400"/>
            <a:ext cx="3949700" cy="18034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3400" y="3721100"/>
            <a:ext cx="1003300" cy="100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4216400"/>
            <a:ext cx="3949700" cy="18034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5473700" y="7734300"/>
            <a:ext cx="35814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altLang="en-US" sz="2400" b="0" i="0" u="none" strike="noStrike" dirty="0">
                <a:solidFill>
                  <a:srgbClr val="717377"/>
                </a:solidFill>
                <a:latin typeface="Pretendard Regular"/>
              </a:rPr>
              <a:t>회원가입</a:t>
            </a:r>
            <a:endParaRPr lang="en-US" altLang="ko-KR" sz="2400" b="0" i="0" u="none" strike="noStrike" dirty="0">
              <a:solidFill>
                <a:srgbClr val="717377"/>
              </a:solidFill>
              <a:latin typeface="Pretendard Regular"/>
            </a:endParaRPr>
          </a:p>
          <a:p>
            <a:pPr lvl="0" algn="l">
              <a:lnSpc>
                <a:spcPct val="124499"/>
              </a:lnSpc>
            </a:pPr>
            <a:r>
              <a:rPr lang="en-US" sz="2400" b="0" i="0" u="none" strike="noStrike" dirty="0" err="1">
                <a:solidFill>
                  <a:srgbClr val="717377"/>
                </a:solidFill>
                <a:latin typeface="Pretendard Regular"/>
              </a:rPr>
              <a:t>Join.jsp</a:t>
            </a:r>
            <a:br>
              <a:rPr lang="en-US" sz="2400" b="0" i="0" u="none" strike="noStrike" dirty="0">
                <a:solidFill>
                  <a:srgbClr val="717377"/>
                </a:solidFill>
                <a:latin typeface="Pretendard Regular"/>
              </a:rPr>
            </a:br>
            <a:r>
              <a:rPr lang="en-US" sz="2400" b="0" i="0" u="none" strike="noStrike" dirty="0">
                <a:solidFill>
                  <a:srgbClr val="717377"/>
                </a:solidFill>
                <a:latin typeface="Pretendard Regular"/>
              </a:rPr>
              <a:t>memberDto.java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7800" y="4216400"/>
            <a:ext cx="3949700" cy="18034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77800" y="4216400"/>
            <a:ext cx="3949700" cy="1803400"/>
          </a:xfrm>
          <a:prstGeom prst="rect">
            <a:avLst/>
          </a:prstGeom>
          <a:effectLst>
            <a:outerShdw blurRad="80605" dist="69203" dir="4020000">
              <a:srgbClr val="000000">
                <a:alpha val="20000"/>
              </a:srgbClr>
            </a:outerShdw>
          </a:effectLst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262100" y="4508500"/>
            <a:ext cx="1193800" cy="1193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42100" y="4521200"/>
            <a:ext cx="1181100" cy="1181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1800" y="4660900"/>
            <a:ext cx="914400" cy="914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41000" y="4597400"/>
            <a:ext cx="1016000" cy="1016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9900" y="3721100"/>
            <a:ext cx="1003300" cy="1003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23400" y="3721100"/>
            <a:ext cx="1003300" cy="1003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233400" y="3721100"/>
            <a:ext cx="1003300" cy="10033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dirty="0">
                <a:solidFill>
                  <a:srgbClr val="FFFFFF"/>
                </a:solidFill>
                <a:latin typeface="Pretendard Light"/>
              </a:rPr>
              <a:t>Project Explorer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03400" y="3886200"/>
            <a:ext cx="1003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49900" y="3886200"/>
            <a:ext cx="1003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23400" y="3886200"/>
            <a:ext cx="1003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233400" y="3886200"/>
            <a:ext cx="1003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76400" y="6794500"/>
            <a:ext cx="3594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1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단계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76400" y="7734300"/>
            <a:ext cx="3581400" cy="889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 dirty="0">
                <a:solidFill>
                  <a:srgbClr val="717377"/>
                </a:solidFill>
                <a:latin typeface="Pretendard Regular"/>
              </a:rPr>
              <a:t>DB</a:t>
            </a:r>
            <a:r>
              <a:rPr lang="ko-KR" altLang="en-US" sz="2400" b="0" i="0" u="none" strike="noStrike" dirty="0">
                <a:solidFill>
                  <a:srgbClr val="717377"/>
                </a:solidFill>
                <a:latin typeface="Pretendard Regular"/>
              </a:rPr>
              <a:t>연결</a:t>
            </a:r>
            <a:endParaRPr lang="en-US" altLang="ko-KR" sz="2400" b="0" i="0" u="none" strike="noStrike" dirty="0">
              <a:solidFill>
                <a:srgbClr val="717377"/>
              </a:solidFill>
              <a:latin typeface="Pretendard Regular"/>
            </a:endParaRPr>
          </a:p>
          <a:p>
            <a:pPr lvl="0" algn="l">
              <a:lnSpc>
                <a:spcPct val="124499"/>
              </a:lnSpc>
            </a:pPr>
            <a:r>
              <a:rPr lang="en-US" sz="2400" dirty="0">
                <a:solidFill>
                  <a:srgbClr val="717377"/>
                </a:solidFill>
                <a:latin typeface="Pretendard Regular"/>
              </a:rPr>
              <a:t>Conn()</a:t>
            </a:r>
            <a:endParaRPr lang="en-US" sz="24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486400" y="6794500"/>
            <a:ext cx="3594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2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단계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96400" y="6794500"/>
            <a:ext cx="3594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3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단계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83700" y="7734300"/>
            <a:ext cx="35814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ko-KR" altLang="en-US" sz="2400" dirty="0">
                <a:solidFill>
                  <a:srgbClr val="717377"/>
                </a:solidFill>
                <a:latin typeface="Pretendard Regular"/>
                <a:ea typeface="Pretendard Regular"/>
              </a:rPr>
              <a:t>로그인</a:t>
            </a:r>
            <a:endParaRPr lang="en-US" altLang="ko-KR" sz="2400" dirty="0">
              <a:solidFill>
                <a:srgbClr val="717377"/>
              </a:solidFill>
              <a:latin typeface="Pretendard Regular"/>
              <a:ea typeface="Pretendard Regular"/>
            </a:endParaRPr>
          </a:p>
          <a:p>
            <a:pPr lvl="0" algn="l">
              <a:lnSpc>
                <a:spcPct val="124499"/>
              </a:lnSpc>
            </a:pPr>
            <a:r>
              <a:rPr lang="en-US" sz="2400" b="0" i="0" u="none" strike="noStrike" dirty="0" err="1">
                <a:solidFill>
                  <a:srgbClr val="717377"/>
                </a:solidFill>
                <a:latin typeface="Pretendard Regular"/>
                <a:ea typeface="Pretendard Regular"/>
              </a:rPr>
              <a:t>Login.jsp</a:t>
            </a:r>
            <a:endParaRPr lang="en-US" sz="24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106400" y="6794500"/>
            <a:ext cx="35941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500" b="0" i="0" u="none" strike="noStrike">
                <a:solidFill>
                  <a:srgbClr val="000000"/>
                </a:solidFill>
                <a:latin typeface="Pretendard Bold"/>
              </a:rPr>
              <a:t>4</a:t>
            </a:r>
            <a:r>
              <a:rPr lang="ko-KR" sz="3500" b="0" i="0" u="none" strike="noStrike">
                <a:solidFill>
                  <a:srgbClr val="000000"/>
                </a:solidFill>
                <a:ea typeface="Pretendard Bold"/>
              </a:rPr>
              <a:t>단계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093700" y="7734300"/>
            <a:ext cx="35814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 dirty="0">
                <a:solidFill>
                  <a:srgbClr val="717377"/>
                </a:solidFill>
                <a:latin typeface="Pretendard Regular"/>
              </a:rPr>
              <a:t>DB</a:t>
            </a:r>
            <a:r>
              <a:rPr lang="ko-KR" altLang="en-US" sz="2400" b="0" i="0" u="none" strike="noStrike" dirty="0">
                <a:solidFill>
                  <a:srgbClr val="717377"/>
                </a:solidFill>
                <a:latin typeface="Pretendard Regular"/>
              </a:rPr>
              <a:t>저장</a:t>
            </a:r>
            <a:endParaRPr lang="en-US" sz="24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334000" y="2108200"/>
            <a:ext cx="7620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000" b="0" i="0" u="none" strike="noStrike" dirty="0">
                <a:solidFill>
                  <a:srgbClr val="000000"/>
                </a:solidFill>
                <a:ea typeface="Pretendard Bold"/>
              </a:rPr>
              <a:t>서버프로그램 구현 흐름</a:t>
            </a: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FFFFFF"/>
                </a:solidFill>
                <a:latin typeface="Pretendard Light"/>
              </a:rPr>
              <a:t>MemberDto.java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C2C2C2"/>
                </a:solidFill>
                <a:latin typeface="Pretendard Medium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0800" y="2730500"/>
            <a:ext cx="121031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9600" b="0" i="0" u="none" strike="noStrike" dirty="0">
                <a:solidFill>
                  <a:srgbClr val="494A4E"/>
                </a:solidFill>
                <a:latin typeface="Pretendard Medium"/>
              </a:rPr>
              <a:t>MemberDto.java</a:t>
            </a:r>
            <a:endParaRPr lang="ko-KR" altLang="ko-KR" sz="96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11376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6800" y="3708400"/>
            <a:ext cx="736600" cy="736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MemberDto.java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ea typeface="Pretendard Bold"/>
              </a:rPr>
              <a:t>MemberDto.java</a:t>
            </a: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000" dirty="0" err="1">
                <a:solidFill>
                  <a:srgbClr val="494A4E"/>
                </a:solidFill>
                <a:latin typeface="Pretendard Medium"/>
              </a:rPr>
              <a:t>MemberDto</a:t>
            </a:r>
            <a:r>
              <a:rPr lang="en-US" sz="3000" dirty="0">
                <a:solidFill>
                  <a:srgbClr val="494A4E"/>
                </a:solidFill>
                <a:latin typeface="Pretendard Medium"/>
              </a:rPr>
              <a:t> class </a:t>
            </a:r>
            <a:r>
              <a:rPr lang="ko-KR" altLang="en-US" sz="3000" dirty="0">
                <a:solidFill>
                  <a:srgbClr val="494A4E"/>
                </a:solidFill>
                <a:latin typeface="Pretendard Medium"/>
              </a:rPr>
              <a:t>선언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2600" dirty="0">
                <a:solidFill>
                  <a:srgbClr val="717377"/>
                </a:solidFill>
                <a:latin typeface="Pretendard Regular"/>
              </a:rPr>
              <a:t>로그인 폼에서 받을 데이터들이 들어갈 변수 선언 </a:t>
            </a: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3256D2A-AC18-4109-BD83-227ADABE9A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0" y="1161817"/>
            <a:ext cx="7200000" cy="798876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535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6800" y="3708400"/>
            <a:ext cx="736600" cy="736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MemberDto.java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ea typeface="Pretendard Bold"/>
              </a:rPr>
              <a:t>MemberDto.j</a:t>
            </a:r>
            <a:r>
              <a:rPr lang="en-US" altLang="ko-KR" sz="4000" dirty="0">
                <a:solidFill>
                  <a:srgbClr val="000000"/>
                </a:solidFill>
                <a:ea typeface="Pretendard Bold"/>
              </a:rPr>
              <a:t>ava</a:t>
            </a: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000" dirty="0">
                <a:solidFill>
                  <a:srgbClr val="494A4E"/>
                </a:solidFill>
                <a:latin typeface="Pretendard Medium"/>
                <a:ea typeface="Pretendard Medium"/>
              </a:rPr>
              <a:t>디폴트 생성자</a:t>
            </a:r>
            <a:r>
              <a:rPr lang="en-US" altLang="ko-KR" sz="3000" dirty="0">
                <a:solidFill>
                  <a:srgbClr val="494A4E"/>
                </a:solidFill>
                <a:latin typeface="Pretendard Medium"/>
                <a:ea typeface="Pretendard Medium"/>
              </a:rPr>
              <a:t>, </a:t>
            </a:r>
            <a:r>
              <a:rPr lang="ko-KR" altLang="en-US" sz="3000" dirty="0">
                <a:solidFill>
                  <a:srgbClr val="494A4E"/>
                </a:solidFill>
                <a:latin typeface="Pretendard Medium"/>
                <a:ea typeface="Pretendard Medium"/>
              </a:rPr>
              <a:t>모든 인자 생성자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ko-KR" altLang="en-US" sz="2600" b="0" i="0" u="none" strike="noStrike" dirty="0">
                <a:solidFill>
                  <a:srgbClr val="717377"/>
                </a:solidFill>
                <a:latin typeface="Pretendard Regular"/>
              </a:rPr>
              <a:t>디폴트 생성자 </a:t>
            </a:r>
            <a:r>
              <a:rPr lang="en-US" altLang="ko-KR" sz="2600" b="0" i="0" u="none" strike="noStrike" dirty="0">
                <a:solidFill>
                  <a:srgbClr val="717377"/>
                </a:solidFill>
                <a:latin typeface="Pretendard Regular"/>
              </a:rPr>
              <a:t>: </a:t>
            </a:r>
            <a:r>
              <a:rPr lang="ko-KR" altLang="en-US" sz="2600" b="0" i="0" u="none" strike="noStrike" dirty="0">
                <a:solidFill>
                  <a:srgbClr val="717377"/>
                </a:solidFill>
                <a:latin typeface="Pretendard Regular"/>
              </a:rPr>
              <a:t>객체 생성 시 아무 값도 초기화 하지 않고 빈 객체 생성</a:t>
            </a:r>
            <a:endParaRPr lang="en-US" altLang="ko-KR" sz="2600" b="0" i="0" u="none" strike="noStrike" dirty="0">
              <a:solidFill>
                <a:srgbClr val="717377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endParaRPr lang="en-US" sz="2600" dirty="0">
              <a:solidFill>
                <a:srgbClr val="717377"/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ko-KR" altLang="en-US" sz="2600" b="0" i="0" u="none" strike="noStrike" dirty="0">
                <a:solidFill>
                  <a:srgbClr val="717377"/>
                </a:solidFill>
                <a:latin typeface="Pretendard Regular"/>
              </a:rPr>
              <a:t>모든 인자 생성자 </a:t>
            </a:r>
            <a:r>
              <a:rPr lang="en-US" altLang="ko-KR" sz="2600" b="0" i="0" u="none" strike="noStrike" dirty="0">
                <a:solidFill>
                  <a:srgbClr val="717377"/>
                </a:solidFill>
                <a:latin typeface="Pretendard Regular"/>
              </a:rPr>
              <a:t>: </a:t>
            </a:r>
            <a:r>
              <a:rPr lang="ko-KR" altLang="en-US" sz="2600" b="0" i="0" u="none" strike="noStrike" dirty="0">
                <a:solidFill>
                  <a:srgbClr val="717377"/>
                </a:solidFill>
                <a:latin typeface="Pretendard Regular"/>
              </a:rPr>
              <a:t>객체 생성 시 모든 필드 값을 한번에 초기화</a:t>
            </a: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8672C12-6FEA-4337-BCA2-94AABE155F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0" y="3557554"/>
            <a:ext cx="7200000" cy="317189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4986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6800" y="3708400"/>
            <a:ext cx="736600" cy="736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MemberDto.java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ea typeface="Pretendard Bold"/>
              </a:rPr>
              <a:t>MemberDto.j</a:t>
            </a:r>
            <a:r>
              <a:rPr lang="en-US" altLang="ko-KR" sz="4000" dirty="0">
                <a:solidFill>
                  <a:srgbClr val="000000"/>
                </a:solidFill>
                <a:ea typeface="Pretendard Bold"/>
              </a:rPr>
              <a:t>ava</a:t>
            </a:r>
            <a:endParaRPr lang="ko-KR" alt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000" dirty="0">
                <a:solidFill>
                  <a:srgbClr val="494A4E"/>
                </a:solidFill>
                <a:latin typeface="Pretendard Medium"/>
                <a:ea typeface="Pretendard Medium"/>
              </a:rPr>
              <a:t>Getter and Setter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 Getter and </a:t>
            </a:r>
            <a:r>
              <a:rPr lang="en-US" sz="2600" dirty="0">
                <a:solidFill>
                  <a:srgbClr val="717377"/>
                </a:solidFill>
                <a:latin typeface="Pretendard Regular"/>
              </a:rPr>
              <a:t>Setter : private </a:t>
            </a:r>
            <a:r>
              <a:rPr lang="ko-KR" altLang="en-US" sz="2600" dirty="0">
                <a:solidFill>
                  <a:srgbClr val="717377"/>
                </a:solidFill>
                <a:latin typeface="Pretendard Regular"/>
              </a:rPr>
              <a:t>필드에 접근하거나 값을 수정할 수 있도록 제공</a:t>
            </a:r>
            <a:r>
              <a:rPr lang="en-US" sz="2600" dirty="0">
                <a:solidFill>
                  <a:srgbClr val="717377"/>
                </a:solidFill>
                <a:latin typeface="Pretendard Regular"/>
              </a:rPr>
              <a:t> </a:t>
            </a: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D8227E7-AF69-4C3F-A2CF-7BE52FD7F10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0" y="1048584"/>
            <a:ext cx="7200000" cy="818983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5621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6800" y="3708400"/>
            <a:ext cx="736600" cy="736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MemberDto.java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ea typeface="Pretendard Bold"/>
              </a:rPr>
              <a:t>MemberDto.j</a:t>
            </a:r>
            <a:r>
              <a:rPr lang="en-US" altLang="ko-KR" sz="4000" dirty="0">
                <a:solidFill>
                  <a:srgbClr val="000000"/>
                </a:solidFill>
                <a:ea typeface="Pretendard Bold"/>
              </a:rPr>
              <a:t>ava</a:t>
            </a:r>
            <a:endParaRPr lang="ko-KR" alt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000" dirty="0">
                <a:solidFill>
                  <a:srgbClr val="494A4E"/>
                </a:solidFill>
                <a:latin typeface="Pretendard Medium"/>
                <a:ea typeface="Pretendard Medium"/>
              </a:rPr>
              <a:t>Getter and Setter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 Getter and </a:t>
            </a:r>
            <a:r>
              <a:rPr lang="en-US" sz="2600" dirty="0">
                <a:solidFill>
                  <a:srgbClr val="717377"/>
                </a:solidFill>
                <a:latin typeface="Pretendard Regular"/>
              </a:rPr>
              <a:t>Setter : private </a:t>
            </a:r>
            <a:r>
              <a:rPr lang="ko-KR" altLang="en-US" sz="2600" dirty="0">
                <a:solidFill>
                  <a:srgbClr val="717377"/>
                </a:solidFill>
                <a:latin typeface="Pretendard Regular"/>
              </a:rPr>
              <a:t>필드에 접근하거나 값을 수정할 수 있도록 제공</a:t>
            </a:r>
            <a:r>
              <a:rPr lang="en-US" sz="2600" dirty="0">
                <a:solidFill>
                  <a:srgbClr val="717377"/>
                </a:solidFill>
                <a:latin typeface="Pretendard Regular"/>
              </a:rPr>
              <a:t> </a:t>
            </a: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5E6F3EA-9A73-4A84-8444-94F0B403B8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0" y="595678"/>
            <a:ext cx="7200000" cy="912104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22016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6800" y="3708400"/>
            <a:ext cx="736600" cy="736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MemberDto.java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ea typeface="Pretendard Bold"/>
              </a:rPr>
              <a:t>MemberDto.j</a:t>
            </a:r>
            <a:r>
              <a:rPr lang="en-US" altLang="ko-KR" sz="4000" dirty="0">
                <a:solidFill>
                  <a:srgbClr val="000000"/>
                </a:solidFill>
                <a:ea typeface="Pretendard Bold"/>
              </a:rPr>
              <a:t>ava</a:t>
            </a:r>
            <a:endParaRPr lang="ko-KR" alt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000" dirty="0">
                <a:solidFill>
                  <a:srgbClr val="494A4E"/>
                </a:solidFill>
                <a:latin typeface="Pretendard Medium"/>
                <a:ea typeface="Pretendard Medium"/>
              </a:rPr>
              <a:t>Getter and Setter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 Getter and </a:t>
            </a:r>
            <a:r>
              <a:rPr lang="en-US" sz="2600" dirty="0">
                <a:solidFill>
                  <a:srgbClr val="717377"/>
                </a:solidFill>
                <a:latin typeface="Pretendard Regular"/>
              </a:rPr>
              <a:t>Setter : private </a:t>
            </a:r>
            <a:r>
              <a:rPr lang="ko-KR" altLang="en-US" sz="2600" dirty="0">
                <a:solidFill>
                  <a:srgbClr val="717377"/>
                </a:solidFill>
                <a:latin typeface="Pretendard Regular"/>
              </a:rPr>
              <a:t>필드에 접근하거나 값을 수정할 수 있도록 제공</a:t>
            </a:r>
            <a:r>
              <a:rPr lang="en-US" sz="2600" dirty="0">
                <a:solidFill>
                  <a:srgbClr val="717377"/>
                </a:solidFill>
                <a:latin typeface="Pretendard Regular"/>
              </a:rPr>
              <a:t> </a:t>
            </a: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15FEC2E-2795-43DB-A462-1ED0CC9723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0" y="712586"/>
            <a:ext cx="7200000" cy="886182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56379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6800" y="3708400"/>
            <a:ext cx="736600" cy="736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MemberDto.java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ea typeface="Pretendard Bold"/>
              </a:rPr>
              <a:t>MemberDto.j</a:t>
            </a:r>
            <a:r>
              <a:rPr lang="en-US" altLang="ko-KR" sz="4000" dirty="0">
                <a:solidFill>
                  <a:srgbClr val="000000"/>
                </a:solidFill>
                <a:ea typeface="Pretendard Bold"/>
              </a:rPr>
              <a:t>ava</a:t>
            </a:r>
            <a:endParaRPr lang="ko-KR" alt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000" dirty="0">
                <a:solidFill>
                  <a:srgbClr val="494A4E"/>
                </a:solidFill>
                <a:latin typeface="Pretendard Medium"/>
                <a:ea typeface="Pretendard Medium"/>
              </a:rPr>
              <a:t>Getter and Setter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 Getter and </a:t>
            </a:r>
            <a:r>
              <a:rPr lang="en-US" sz="2600" dirty="0">
                <a:solidFill>
                  <a:srgbClr val="717377"/>
                </a:solidFill>
                <a:latin typeface="Pretendard Regular"/>
              </a:rPr>
              <a:t>Setter : private </a:t>
            </a:r>
            <a:r>
              <a:rPr lang="ko-KR" altLang="en-US" sz="2600" dirty="0">
                <a:solidFill>
                  <a:srgbClr val="717377"/>
                </a:solidFill>
                <a:latin typeface="Pretendard Regular"/>
              </a:rPr>
              <a:t>필드에 접근하거나 값을 수정할 수 있도록 제공</a:t>
            </a:r>
            <a:r>
              <a:rPr lang="en-US" sz="2600" dirty="0">
                <a:solidFill>
                  <a:srgbClr val="717377"/>
                </a:solidFill>
                <a:latin typeface="Pretendard Regular"/>
              </a:rPr>
              <a:t> </a:t>
            </a: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A381B04-79BD-4F4A-BC45-613684340D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0" y="759113"/>
            <a:ext cx="7200000" cy="876877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48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6800" y="3708400"/>
            <a:ext cx="736600" cy="736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MemberDto.java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ea typeface="Pretendard Bold"/>
              </a:rPr>
              <a:t>MemberDto.j</a:t>
            </a:r>
            <a:r>
              <a:rPr lang="en-US" altLang="ko-KR" sz="4000" dirty="0">
                <a:solidFill>
                  <a:srgbClr val="000000"/>
                </a:solidFill>
                <a:ea typeface="Pretendard Bold"/>
              </a:rPr>
              <a:t>ava</a:t>
            </a:r>
            <a:endParaRPr lang="ko-KR" alt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000" dirty="0">
                <a:solidFill>
                  <a:srgbClr val="494A4E"/>
                </a:solidFill>
                <a:latin typeface="Pretendard Medium"/>
                <a:ea typeface="Pretendard Medium"/>
              </a:rPr>
              <a:t>Getter and Setter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 Getter and </a:t>
            </a:r>
            <a:r>
              <a:rPr lang="en-US" sz="2600" dirty="0">
                <a:solidFill>
                  <a:srgbClr val="717377"/>
                </a:solidFill>
                <a:latin typeface="Pretendard Regular"/>
              </a:rPr>
              <a:t>Setter : private </a:t>
            </a:r>
            <a:r>
              <a:rPr lang="ko-KR" altLang="en-US" sz="2600" dirty="0">
                <a:solidFill>
                  <a:srgbClr val="717377"/>
                </a:solidFill>
                <a:latin typeface="Pretendard Regular"/>
              </a:rPr>
              <a:t>필드에 접근하거나 값을 수정할 수 있도록 제공</a:t>
            </a:r>
            <a:r>
              <a:rPr lang="en-US" sz="2600" dirty="0">
                <a:solidFill>
                  <a:srgbClr val="717377"/>
                </a:solidFill>
                <a:latin typeface="Pretendard Regular"/>
              </a:rPr>
              <a:t> </a:t>
            </a: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F24CD0B-0E81-42AB-83A1-8C3499E1C3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0" y="4031235"/>
            <a:ext cx="7200000" cy="222452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5701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6800" y="3708400"/>
            <a:ext cx="736600" cy="736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MemberDto.java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ea typeface="Pretendard Bold"/>
              </a:rPr>
              <a:t>MemberDto.j</a:t>
            </a:r>
            <a:r>
              <a:rPr lang="en-US" altLang="ko-KR" sz="4000" dirty="0">
                <a:solidFill>
                  <a:srgbClr val="000000"/>
                </a:solidFill>
                <a:ea typeface="Pretendard Bold"/>
              </a:rPr>
              <a:t>ava</a:t>
            </a:r>
            <a:endParaRPr lang="ko-KR" alt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058400" y="4622800"/>
            <a:ext cx="71882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3000" b="0" i="0" u="none" strike="noStrike" dirty="0" err="1">
                <a:solidFill>
                  <a:srgbClr val="494A4E"/>
                </a:solidFill>
                <a:latin typeface="Pretendard Medium"/>
              </a:rPr>
              <a:t>toString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058400" y="5753100"/>
            <a:ext cx="7175500" cy="323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en-US" sz="2600" b="0" i="0" u="none" strike="noStrike" dirty="0" err="1">
                <a:solidFill>
                  <a:srgbClr val="717377"/>
                </a:solidFill>
                <a:latin typeface="Pretendard Regular"/>
              </a:rPr>
              <a:t>toString</a:t>
            </a:r>
            <a:r>
              <a:rPr lang="en-US" sz="2600" b="0" i="0" u="none" strike="noStrike" dirty="0">
                <a:solidFill>
                  <a:srgbClr val="717377"/>
                </a:solidFill>
                <a:latin typeface="Pretendard Regular"/>
              </a:rPr>
              <a:t> : </a:t>
            </a:r>
            <a:r>
              <a:rPr lang="ko-KR" altLang="en-US" sz="2600" b="0" i="0" u="none" strike="noStrike" dirty="0">
                <a:solidFill>
                  <a:srgbClr val="717377"/>
                </a:solidFill>
                <a:latin typeface="Pretendard Regular"/>
              </a:rPr>
              <a:t>객체의 모든 필드 값을 문자열 형태로 반환</a:t>
            </a:r>
            <a:endParaRPr lang="en-US" sz="26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603BD11-E8CA-4ECF-A01F-181078F0C6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000" y="4549917"/>
            <a:ext cx="7200000" cy="118716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09563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FFFFFF"/>
                </a:solidFill>
                <a:latin typeface="Pretendard Light"/>
              </a:rPr>
              <a:t>DbUtils.java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C2C2C2"/>
                </a:solidFill>
                <a:latin typeface="Pretendard Medium"/>
              </a:rPr>
              <a:t>04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0800" y="2730500"/>
            <a:ext cx="121031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9600" b="0" i="0" u="none" strike="noStrike" dirty="0">
                <a:solidFill>
                  <a:srgbClr val="494A4E"/>
                </a:solidFill>
                <a:latin typeface="Pretendard Medium"/>
              </a:rPr>
              <a:t>DbUtils.java</a:t>
            </a:r>
            <a:endParaRPr lang="ko-KR" altLang="ko-KR" sz="96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2183275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DbUtils.java </a:t>
            </a: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전체코드</a:t>
            </a:r>
            <a:endParaRPr lang="en-US" altLang="ko-KR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B1858498-CF0A-4BAD-997A-06A276D90D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1998732"/>
            <a:ext cx="7267575" cy="758976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2AA9356-549E-4F9D-A2B5-811AACB753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08121" y="1997075"/>
            <a:ext cx="7267575" cy="759142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B82F139-50D4-47D7-9B9A-AD4D6189144C}"/>
              </a:ext>
            </a:extLst>
          </p:cNvPr>
          <p:cNvSpPr txBox="1"/>
          <p:nvPr/>
        </p:nvSpPr>
        <p:spPr>
          <a:xfrm>
            <a:off x="6921500" y="1343854"/>
            <a:ext cx="4356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>
                <a:latin typeface="Pretendard Medium" panose="020B0600000101010101" charset="-127"/>
                <a:ea typeface="Pretendard Medium" panose="020B0600000101010101" charset="-127"/>
              </a:rPr>
              <a:t>DbUtils</a:t>
            </a:r>
            <a:r>
              <a:rPr lang="en-US" altLang="ko-KR" sz="4000" b="1" dirty="0"/>
              <a:t> </a:t>
            </a:r>
            <a:r>
              <a:rPr lang="ko-KR" altLang="en-US" sz="4000" b="1" dirty="0"/>
              <a:t>전체 코드</a:t>
            </a:r>
          </a:p>
        </p:txBody>
      </p:sp>
    </p:spTree>
    <p:extLst>
      <p:ext uri="{BB962C8B-B14F-4D97-AF65-F5344CB8AC3E}">
        <p14:creationId xmlns:p14="http://schemas.microsoft.com/office/powerpoint/2010/main" val="1886080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DbUtils.java </a:t>
            </a: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전체코드</a:t>
            </a:r>
            <a:endParaRPr lang="en-US" altLang="ko-KR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B82F139-50D4-47D7-9B9A-AD4D6189144C}"/>
              </a:ext>
            </a:extLst>
          </p:cNvPr>
          <p:cNvSpPr txBox="1"/>
          <p:nvPr/>
        </p:nvSpPr>
        <p:spPr>
          <a:xfrm>
            <a:off x="6921500" y="1343854"/>
            <a:ext cx="43561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err="1"/>
              <a:t>tbl_member</a:t>
            </a:r>
            <a:r>
              <a:rPr lang="en-US" altLang="ko-KR" sz="4000" b="1" dirty="0"/>
              <a:t>  </a:t>
            </a:r>
            <a:r>
              <a:rPr lang="ko-KR" altLang="en-US" sz="4000" b="1" dirty="0"/>
              <a:t>생성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6CAB58-20C4-4B37-ACBE-3F33353D83E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000" y="3109531"/>
            <a:ext cx="14400000" cy="586478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572270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FFFFFF"/>
                </a:solidFill>
                <a:latin typeface="Pretendard Light"/>
              </a:rPr>
              <a:t>4-1 </a:t>
            </a: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DbUtils.java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7C6B217-F2DC-4481-AAD9-D64C165978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050" y="3461603"/>
            <a:ext cx="8089900" cy="4582994"/>
          </a:xfrm>
          <a:prstGeom prst="rect">
            <a:avLst/>
          </a:prstGeom>
        </p:spPr>
      </p:pic>
      <p:sp>
        <p:nvSpPr>
          <p:cNvPr id="16" name="TextBox 12">
            <a:extLst>
              <a:ext uri="{FF2B5EF4-FFF2-40B4-BE49-F238E27FC236}">
                <a16:creationId xmlns:a16="http://schemas.microsoft.com/office/drawing/2014/main" id="{74EF2E4F-8AC8-4FCF-A42E-E3B4EBDA8770}"/>
              </a:ext>
            </a:extLst>
          </p:cNvPr>
          <p:cNvSpPr txBox="1"/>
          <p:nvPr/>
        </p:nvSpPr>
        <p:spPr>
          <a:xfrm>
            <a:off x="469900" y="774700"/>
            <a:ext cx="8470900" cy="20446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000" b="0" i="0" dirty="0">
                <a:solidFill>
                  <a:srgbClr val="212529"/>
                </a:solidFill>
                <a:effectLst/>
                <a:latin typeface="NanumSquareNeo"/>
              </a:rPr>
              <a:t>문제 </a:t>
            </a:r>
            <a:r>
              <a:rPr lang="en-US" altLang="ko-KR" sz="4000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4-1</a:t>
            </a:r>
          </a:p>
          <a:p>
            <a:pPr lvl="0" algn="l">
              <a:lnSpc>
                <a:spcPct val="99600"/>
              </a:lnSpc>
            </a:pPr>
            <a:r>
              <a:rPr lang="en-US" altLang="ko-KR" sz="2800" dirty="0">
                <a:solidFill>
                  <a:srgbClr val="212529"/>
                </a:solidFill>
                <a:latin typeface="Pretendard Medium" panose="020B0600000101010101" charset="-127"/>
                <a:ea typeface="Pretendard Medium" panose="020B0600000101010101" charset="-127"/>
              </a:rPr>
              <a:t>p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ublic static void conn() throws Exception </a:t>
            </a:r>
          </a:p>
          <a:p>
            <a:pPr lvl="0" algn="l">
              <a:lnSpc>
                <a:spcPct val="99600"/>
              </a:lnSpc>
            </a:pPr>
            <a:r>
              <a:rPr lang="ko-KR" altLang="en-US" sz="2800" b="0" i="0" dirty="0">
                <a:solidFill>
                  <a:srgbClr val="212529"/>
                </a:solidFill>
                <a:effectLst/>
                <a:latin typeface="NanumSquareNeo"/>
              </a:rPr>
              <a:t>코드 완성하기</a:t>
            </a:r>
            <a:endParaRPr lang="ko-KR" sz="28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2ED5A7-35BB-458E-9388-110315DB0468}"/>
              </a:ext>
            </a:extLst>
          </p:cNvPr>
          <p:cNvSpPr txBox="1"/>
          <p:nvPr/>
        </p:nvSpPr>
        <p:spPr>
          <a:xfrm>
            <a:off x="9334500" y="1676400"/>
            <a:ext cx="8483600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Consolas" panose="020B0609020204030204" pitchFamily="49" charset="0"/>
              </a:rPr>
              <a:t>1.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u="sng" dirty="0">
                <a:effectLst/>
                <a:latin typeface="Consolas" panose="020B0609020204030204" pitchFamily="49" charset="0"/>
              </a:rPr>
              <a:t>DB</a:t>
            </a:r>
            <a:r>
              <a:rPr lang="ko-KR" altLang="en-US" sz="1600" b="1" u="sng" dirty="0">
                <a:effectLst/>
                <a:latin typeface="Consolas" panose="020B0609020204030204" pitchFamily="49" charset="0"/>
              </a:rPr>
              <a:t>연결을 하기위한 함수생성</a:t>
            </a:r>
            <a:r>
              <a:rPr lang="en-US" altLang="ko-KR" sz="1600" b="1" u="sng" dirty="0">
                <a:effectLst/>
                <a:latin typeface="Consolas" panose="020B0609020204030204" pitchFamily="49" charset="0"/>
              </a:rPr>
              <a:t>.</a:t>
            </a:r>
            <a:endParaRPr lang="ko-KR" altLang="en-US" sz="1600" b="1" u="sng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en-US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600" b="1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ko-KR" altLang="en-US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ko-KR" altLang="en-US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{</a:t>
            </a:r>
            <a:endParaRPr lang="ko-KR" altLang="en-US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드라이브 클래스 메모리 공간 적재</a:t>
            </a:r>
            <a:endParaRPr lang="ko-KR" altLang="en-US" sz="16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발생 가능한 예외를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ko-KR" alt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를 사용하여 호출한 쪽으로 던진 후 아래의 코드를 실행</a:t>
            </a:r>
            <a:r>
              <a:rPr lang="en-US" altLang="ko-KR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(DB </a:t>
            </a:r>
            <a:r>
              <a:rPr lang="ko-KR" alt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로딩</a:t>
            </a:r>
            <a:r>
              <a:rPr lang="en-US" altLang="ko-KR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연결</a:t>
            </a:r>
            <a:r>
              <a:rPr lang="en-US" altLang="ko-KR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)</a:t>
            </a:r>
            <a:endParaRPr lang="ko-KR" altLang="en-US" sz="16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i="1" dirty="0" err="1">
                <a:solidFill>
                  <a:srgbClr val="96EC3F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600" b="1" dirty="0" err="1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com.mysql.cj.jdbc.Driver</a:t>
            </a:r>
            <a:r>
              <a:rPr lang="en-US" altLang="ko-KR" sz="1600" dirty="0">
                <a:solidFill>
                  <a:srgbClr val="808080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600" dirty="0">
                <a:latin typeface="Consolas" panose="020B0609020204030204" pitchFamily="49" charset="0"/>
              </a:rPr>
              <a:t>);</a:t>
            </a:r>
            <a:endParaRPr lang="ko-KR" altLang="en-US" sz="1600" dirty="0"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"Driver Loading Success“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1" dirty="0"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ko-KR" altLang="en-US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Consolas" panose="020B0609020204030204" pitchFamily="49" charset="0"/>
              </a:rPr>
              <a:t>2.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u="sng" dirty="0">
                <a:effectLst/>
                <a:latin typeface="Consolas" panose="020B0609020204030204" pitchFamily="49" charset="0"/>
              </a:rPr>
              <a:t>JDBC </a:t>
            </a:r>
            <a:r>
              <a:rPr lang="ko-KR" altLang="en-US" sz="1600" b="1" u="sng" dirty="0">
                <a:effectLst/>
                <a:latin typeface="Consolas" panose="020B0609020204030204" pitchFamily="49" charset="0"/>
              </a:rPr>
              <a:t>드라이버 로딩</a:t>
            </a:r>
            <a:r>
              <a:rPr lang="en-US" altLang="ko-KR" sz="1600" b="1" u="sng" dirty="0">
                <a:effectLst/>
                <a:latin typeface="Consolas" panose="020B0609020204030204" pitchFamily="49" charset="0"/>
              </a:rPr>
              <a:t>.</a:t>
            </a:r>
            <a:endParaRPr lang="ko-KR" altLang="en-US" sz="1600" b="1" u="sng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ko-KR" alt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클래스 경로에서 </a:t>
            </a:r>
            <a:r>
              <a:rPr lang="en-US" altLang="ko-KR" sz="1600" b="1" dirty="0" err="1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com.mysql.cj.jdbc.Driver</a:t>
            </a:r>
            <a:r>
              <a:rPr lang="en-US" altLang="ko-KR" sz="16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클래스 파일을 찾아서 불러옴</a:t>
            </a:r>
            <a:endParaRPr lang="ko-KR" altLang="en-US" sz="16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u="sng" dirty="0">
                <a:effectLst/>
                <a:latin typeface="Consolas" panose="020B0609020204030204" pitchFamily="49" charset="0"/>
              </a:rPr>
              <a:t>Connection conn</a:t>
            </a:r>
            <a:r>
              <a:rPr lang="ko-KR" alt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멤버에 </a:t>
            </a:r>
            <a:r>
              <a:rPr lang="en-US" altLang="ko-KR" sz="1600" b="1" u="sng" dirty="0">
                <a:effectLst/>
                <a:latin typeface="Consolas" panose="020B0609020204030204" pitchFamily="49" charset="0"/>
              </a:rPr>
              <a:t>Connection </a:t>
            </a:r>
            <a:r>
              <a:rPr lang="ko-KR" altLang="en-US" sz="1600" b="1" u="sng" dirty="0">
                <a:effectLst/>
                <a:latin typeface="Consolas" panose="020B0609020204030204" pitchFamily="49" charset="0"/>
              </a:rPr>
              <a:t>객체 연결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i="1" dirty="0" err="1">
                <a:solidFill>
                  <a:srgbClr val="96EC3F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ko-KR" alt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으로 불러온 드라이버를 사용할 수 있게 등록 후 </a:t>
            </a:r>
            <a:r>
              <a:rPr lang="en-US" altLang="ko-KR" sz="1600" b="1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ko-KR" alt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과 일치하는 드라이버를 선택해서 </a:t>
            </a:r>
            <a:r>
              <a:rPr lang="en-US" altLang="ko-KR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ko-KR" altLang="en-US" sz="16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와 연결</a:t>
            </a:r>
            <a:endParaRPr lang="ko-KR" altLang="en-US" sz="16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i="1" dirty="0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ko-KR" altLang="en-US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i="1" dirty="0" err="1">
                <a:solidFill>
                  <a:srgbClr val="96EC3F"/>
                </a:solidFill>
                <a:effectLst/>
                <a:latin typeface="Consolas" panose="020B0609020204030204" pitchFamily="49" charset="0"/>
              </a:rPr>
              <a:t>getConnection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1600" b="1" i="1" dirty="0" err="1">
                <a:latin typeface="Consolas" panose="020B0609020204030204" pitchFamily="49" charset="0"/>
              </a:rPr>
              <a:t>,</a:t>
            </a: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600" b="1" i="1" dirty="0" err="1">
                <a:latin typeface="Consolas" panose="020B0609020204030204" pitchFamily="49" charset="0"/>
              </a:rPr>
              <a:t>,</a:t>
            </a: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pw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1" dirty="0">
                <a:latin typeface="Consolas" panose="020B0609020204030204" pitchFamily="49" charset="0"/>
              </a:rPr>
              <a:t> ;</a:t>
            </a:r>
            <a:endParaRPr lang="ko-KR" altLang="en-US" sz="16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"DB CONNECTED"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600" b="1" dirty="0">
                <a:latin typeface="Consolas" panose="020B0609020204030204" pitchFamily="49" charset="0"/>
              </a:rPr>
              <a:t> 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Consolas" panose="020B0609020204030204" pitchFamily="49" charset="0"/>
              </a:rPr>
              <a:t>3. </a:t>
            </a:r>
            <a:r>
              <a:rPr lang="en-US" altLang="ko-KR" sz="1600" b="1" u="sng" dirty="0">
                <a:latin typeface="Consolas" panose="020B0609020204030204" pitchFamily="49" charset="0"/>
              </a:rPr>
              <a:t>Conn </a:t>
            </a:r>
            <a:r>
              <a:rPr lang="ko-KR" altLang="en-US" sz="1600" b="1" u="sng" dirty="0">
                <a:latin typeface="Consolas" panose="020B0609020204030204" pitchFamily="49" charset="0"/>
              </a:rPr>
              <a:t>함수 생성완료</a:t>
            </a:r>
            <a:r>
              <a:rPr lang="en-US" altLang="ko-KR" sz="1600" b="1" u="sng" dirty="0">
                <a:latin typeface="Consolas" panose="020B0609020204030204" pitchFamily="49" charset="0"/>
              </a:rPr>
              <a:t>.</a:t>
            </a:r>
            <a:endParaRPr lang="ko-KR" altLang="en-US" sz="1600" b="1" u="sng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en-US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ko-KR" altLang="en-US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en-US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800" b="1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ko-KR" altLang="en-US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ko-KR" altLang="en-US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{</a:t>
            </a:r>
            <a:endParaRPr lang="ko-KR" altLang="en-US" sz="18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i="1" dirty="0" err="1">
                <a:solidFill>
                  <a:srgbClr val="96EC3F"/>
                </a:solidFill>
                <a:effectLst/>
                <a:latin typeface="Consolas" panose="020B0609020204030204" pitchFamily="49" charset="0"/>
              </a:rPr>
              <a:t>forName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sz="1800" b="1" dirty="0" err="1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com.mysql.cj.jdbc.Driver</a:t>
            </a:r>
            <a:r>
              <a:rPr lang="en-US" altLang="ko-KR" sz="1800" dirty="0">
                <a:solidFill>
                  <a:srgbClr val="808080"/>
                </a:solidFill>
                <a:latin typeface="Consolas" panose="020B0609020204030204" pitchFamily="49" charset="0"/>
              </a:rPr>
              <a:t>"</a:t>
            </a:r>
            <a:r>
              <a:rPr lang="en-US" altLang="ko-KR" sz="1800" dirty="0">
                <a:latin typeface="Consolas" panose="020B0609020204030204" pitchFamily="49" charset="0"/>
              </a:rPr>
              <a:t>);</a:t>
            </a:r>
            <a:endParaRPr lang="ko-KR" altLang="en-US" sz="1800" dirty="0"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"Driver Loading Success“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800" b="1" dirty="0"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ko-KR" altLang="en-US" sz="18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ko-KR" altLang="en-US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=</a:t>
            </a:r>
            <a:r>
              <a:rPr lang="ko-KR" altLang="en-US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DriverManager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i="1" dirty="0" err="1">
                <a:solidFill>
                  <a:srgbClr val="96EC3F"/>
                </a:solidFill>
                <a:effectLst/>
                <a:latin typeface="Consolas" panose="020B0609020204030204" pitchFamily="49" charset="0"/>
              </a:rPr>
              <a:t>getConnection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altLang="ko-KR" sz="1800" b="1" i="1" dirty="0" err="1">
                <a:latin typeface="Consolas" panose="020B0609020204030204" pitchFamily="49" charset="0"/>
              </a:rPr>
              <a:t>,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800" b="1" i="1" dirty="0" err="1">
                <a:latin typeface="Consolas" panose="020B0609020204030204" pitchFamily="49" charset="0"/>
              </a:rPr>
              <a:t>,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pw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800" b="1" dirty="0">
                <a:latin typeface="Consolas" panose="020B0609020204030204" pitchFamily="49" charset="0"/>
              </a:rPr>
              <a:t> ;</a:t>
            </a:r>
            <a:endParaRPr lang="ko-KR" altLang="en-US" sz="18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"DB CONNECTED"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800" b="1" dirty="0">
                <a:latin typeface="Consolas" panose="020B0609020204030204" pitchFamily="49" charset="0"/>
              </a:rPr>
              <a:t> 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effectLst/>
                <a:latin typeface="Consolas" panose="020B0609020204030204" pitchFamily="49" charset="0"/>
              </a:rPr>
              <a:t>}</a:t>
            </a:r>
            <a:endParaRPr lang="ko-KR" altLang="en-US" sz="18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ko-KR" altLang="en-US" sz="180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solidFill>
            <a:srgbClr val="6A6C70"/>
          </a:solidFill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963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062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FFFFFF"/>
                </a:solidFill>
                <a:latin typeface="Pretendard Light"/>
              </a:rPr>
              <a:t>4-2 </a:t>
            </a: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DbUtils.java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4EF2E4F-8AC8-4FCF-A42E-E3B4EBDA8770}"/>
              </a:ext>
            </a:extLst>
          </p:cNvPr>
          <p:cNvSpPr txBox="1"/>
          <p:nvPr/>
        </p:nvSpPr>
        <p:spPr>
          <a:xfrm>
            <a:off x="469900" y="774700"/>
            <a:ext cx="8470900" cy="20446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000" b="0" i="0" dirty="0">
                <a:solidFill>
                  <a:srgbClr val="212529"/>
                </a:solidFill>
                <a:effectLst/>
                <a:latin typeface="NanumSquareNeo"/>
              </a:rPr>
              <a:t>문제 </a:t>
            </a:r>
            <a:r>
              <a:rPr lang="en-US" altLang="ko-KR" sz="4000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4-2</a:t>
            </a:r>
          </a:p>
          <a:p>
            <a:pPr lvl="0" algn="l">
              <a:lnSpc>
                <a:spcPct val="99600"/>
              </a:lnSpc>
            </a:pPr>
            <a:r>
              <a:rPr lang="en-US" altLang="ko-KR" sz="2800" b="0" i="0" dirty="0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public static void </a:t>
            </a:r>
            <a:r>
              <a:rPr lang="en-US" altLang="ko-KR" sz="2800" b="0" i="0" dirty="0" err="1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disconn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() throws Exception </a:t>
            </a:r>
          </a:p>
          <a:p>
            <a:pPr lvl="0" algn="ctr">
              <a:lnSpc>
                <a:spcPct val="99600"/>
              </a:lnSpc>
            </a:pPr>
            <a:r>
              <a:rPr lang="ko-KR" altLang="en-US" sz="2800" b="0" i="0" dirty="0">
                <a:solidFill>
                  <a:srgbClr val="212529"/>
                </a:solidFill>
                <a:effectLst/>
                <a:latin typeface="NanumSquareNeo"/>
              </a:rPr>
              <a:t>코드 완성하기</a:t>
            </a:r>
            <a:endParaRPr lang="ko-KR" sz="28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A5FC1E0-0F34-4118-876F-A299B3F1B1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200" y="3463200"/>
            <a:ext cx="8095100" cy="44235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99E8BA3-BC63-4DB0-9F70-8E0A0244C505}"/>
              </a:ext>
            </a:extLst>
          </p:cNvPr>
          <p:cNvSpPr txBox="1"/>
          <p:nvPr/>
        </p:nvSpPr>
        <p:spPr>
          <a:xfrm>
            <a:off x="9381836" y="1797049"/>
            <a:ext cx="9587946" cy="7848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effectLst/>
                <a:latin typeface="Consolas" panose="020B0609020204030204" pitchFamily="49" charset="0"/>
              </a:rPr>
              <a:t>1.</a:t>
            </a:r>
            <a:r>
              <a:rPr lang="en-US" altLang="ko-KR" sz="1600" b="1" u="sng" dirty="0">
                <a:effectLst/>
                <a:latin typeface="Consolas" panose="020B0609020204030204" pitchFamily="49" charset="0"/>
              </a:rPr>
              <a:t>DB</a:t>
            </a:r>
            <a:r>
              <a:rPr lang="ko-KR" altLang="en-US" sz="1600" b="1" u="sng" dirty="0">
                <a:effectLst/>
                <a:latin typeface="Consolas" panose="020B0609020204030204" pitchFamily="49" charset="0"/>
              </a:rPr>
              <a:t>연결 해제를 위한 함수생성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u="sng" dirty="0" err="1">
                <a:solidFill>
                  <a:srgbClr val="66AFF9"/>
                </a:solidFill>
                <a:effectLst/>
                <a:latin typeface="Consolas" panose="020B0609020204030204" pitchFamily="49" charset="0"/>
              </a:rPr>
              <a:t>disConn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Consolas" panose="020B0609020204030204" pitchFamily="49" charset="0"/>
              </a:rPr>
              <a:t>2.</a:t>
            </a:r>
            <a:r>
              <a:rPr lang="ko-KR" altLang="en-US" sz="1600" b="1" u="sng" dirty="0">
                <a:latin typeface="Consolas" panose="020B0609020204030204" pitchFamily="49" charset="0"/>
              </a:rPr>
              <a:t>참조변수 </a:t>
            </a:r>
            <a:r>
              <a:rPr lang="en-US" altLang="ko-KR" sz="1600" b="1" u="sng" dirty="0" err="1">
                <a:effectLst/>
                <a:latin typeface="Consolas" panose="020B0609020204030204" pitchFamily="49" charset="0"/>
              </a:rPr>
              <a:t>rs,pstmt,conn</a:t>
            </a:r>
            <a:r>
              <a:rPr lang="en-US" altLang="ko-KR" sz="1600" b="1" u="sng" dirty="0">
                <a:effectLst/>
                <a:latin typeface="Consolas" panose="020B0609020204030204" pitchFamily="49" charset="0"/>
              </a:rPr>
              <a:t> close </a:t>
            </a:r>
            <a:r>
              <a:rPr lang="ko-KR" altLang="en-US" sz="1600" b="1" u="sng" dirty="0">
                <a:effectLst/>
                <a:latin typeface="Consolas" panose="020B0609020204030204" pitchFamily="49" charset="0"/>
              </a:rPr>
              <a:t>처리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!=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();</a:t>
            </a:r>
            <a:endParaRPr lang="en-US" altLang="ko-KR" sz="16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)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();</a:t>
            </a:r>
            <a:endParaRPr lang="en-US" altLang="ko-KR" sz="16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1" dirty="0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)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ko-KR" sz="1600" b="1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Consolas" panose="020B0609020204030204" pitchFamily="49" charset="0"/>
              </a:rPr>
              <a:t>3.</a:t>
            </a:r>
            <a:r>
              <a:rPr lang="ko-KR" altLang="en-US" sz="1600" b="1" u="sng" dirty="0">
                <a:latin typeface="Consolas" panose="020B0609020204030204" pitchFamily="49" charset="0"/>
              </a:rPr>
              <a:t>완성</a:t>
            </a:r>
            <a:endParaRPr lang="en-US" altLang="ko-KR" sz="1600" b="1" u="sng" dirty="0"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u="sng" dirty="0" err="1">
                <a:solidFill>
                  <a:srgbClr val="66AFF9"/>
                </a:solidFill>
                <a:effectLst/>
                <a:latin typeface="Consolas" panose="020B0609020204030204" pitchFamily="49" charset="0"/>
              </a:rPr>
              <a:t>disConn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()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!=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();</a:t>
            </a:r>
            <a:endParaRPr lang="en-US" altLang="ko-KR" sz="16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)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();</a:t>
            </a:r>
            <a:endParaRPr lang="en-US" altLang="ko-KR" sz="16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600" b="1" i="1" dirty="0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6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6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)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6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6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en-US" altLang="ko-KR" sz="1600" b="1" dirty="0"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2400" b="1" dirty="0">
                <a:effectLst/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80894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FFFFFF"/>
                </a:solidFill>
                <a:latin typeface="Pretendard Light"/>
              </a:rPr>
              <a:t>4-3 </a:t>
            </a: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DbUtils.java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4EF2E4F-8AC8-4FCF-A42E-E3B4EBDA8770}"/>
              </a:ext>
            </a:extLst>
          </p:cNvPr>
          <p:cNvSpPr txBox="1"/>
          <p:nvPr/>
        </p:nvSpPr>
        <p:spPr>
          <a:xfrm>
            <a:off x="469900" y="774700"/>
            <a:ext cx="8470900" cy="20446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000" b="0" i="0" dirty="0">
                <a:solidFill>
                  <a:srgbClr val="212529"/>
                </a:solidFill>
                <a:effectLst/>
                <a:latin typeface="NanumSquareNeo"/>
              </a:rPr>
              <a:t>문제 </a:t>
            </a:r>
            <a:r>
              <a:rPr lang="en-US" altLang="ko-KR" sz="4000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4-3</a:t>
            </a:r>
          </a:p>
          <a:p>
            <a:pPr lvl="0" algn="l">
              <a:lnSpc>
                <a:spcPct val="99600"/>
              </a:lnSpc>
            </a:pPr>
            <a:r>
              <a:rPr lang="en-US" altLang="ko-KR" sz="2800" b="0" i="0" dirty="0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public static int </a:t>
            </a:r>
            <a:r>
              <a:rPr lang="en-US" altLang="ko-KR" sz="2800" b="0" i="0" dirty="0" err="1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insertMember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(</a:t>
            </a:r>
            <a:r>
              <a:rPr lang="en-US" altLang="ko-KR" sz="2800" b="0" i="0" dirty="0" err="1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MemberDto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</a:p>
          <a:p>
            <a:pPr lvl="0" algn="l">
              <a:lnSpc>
                <a:spcPct val="99600"/>
              </a:lnSpc>
            </a:pPr>
            <a:r>
              <a:rPr lang="en-US" altLang="ko-KR" sz="2800" b="0" i="0" dirty="0" err="1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memberDto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) throws Exception 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NanumSquareNeo"/>
              </a:rPr>
              <a:t>코드 완성하기</a:t>
            </a:r>
            <a:endParaRPr lang="ko-KR" sz="28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93FF827-06A7-4D27-84C0-53A75E85C3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200" y="3463200"/>
            <a:ext cx="8095100" cy="492442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23AFF5E-EA1F-4BEF-B3F2-66F70E758A0C}"/>
              </a:ext>
            </a:extLst>
          </p:cNvPr>
          <p:cNvSpPr txBox="1"/>
          <p:nvPr/>
        </p:nvSpPr>
        <p:spPr>
          <a:xfrm>
            <a:off x="9334501" y="1797049"/>
            <a:ext cx="8483600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latin typeface="Consolas" panose="020B0609020204030204" pitchFamily="49" charset="0"/>
              </a:rPr>
              <a:t>  </a:t>
            </a:r>
            <a:r>
              <a:rPr lang="en-US" altLang="ko-KR" sz="1800" b="1" u="sng" dirty="0" err="1">
                <a:effectLst/>
                <a:latin typeface="Consolas" panose="020B0609020204030204" pitchFamily="49" charset="0"/>
              </a:rPr>
              <a:t>memberDto</a:t>
            </a:r>
            <a:r>
              <a:rPr lang="ko-KR" altLang="en-US" sz="1800" b="1" u="sng" dirty="0">
                <a:effectLst/>
                <a:latin typeface="Consolas" panose="020B0609020204030204" pitchFamily="49" charset="0"/>
              </a:rPr>
              <a:t>값을 받아서 </a:t>
            </a:r>
            <a:r>
              <a:rPr lang="en-US" altLang="ko-KR" sz="1800" b="1" u="sng" dirty="0" err="1">
                <a:effectLst/>
                <a:latin typeface="Consolas" panose="020B0609020204030204" pitchFamily="49" charset="0"/>
              </a:rPr>
              <a:t>tbl_member</a:t>
            </a:r>
            <a:r>
              <a:rPr lang="ko-KR" altLang="en-US" sz="1800" b="1" u="sng" dirty="0">
                <a:effectLst/>
                <a:latin typeface="Consolas" panose="020B0609020204030204" pitchFamily="49" charset="0"/>
              </a:rPr>
              <a:t>에 전송</a:t>
            </a:r>
            <a:endParaRPr lang="en-US" altLang="ko-KR" b="1" dirty="0">
              <a:latin typeface="Consolas" panose="020B0609020204030204" pitchFamily="49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latin typeface="Consolas" panose="020B0609020204030204" pitchFamily="49" charset="0"/>
              </a:rPr>
              <a:t>  </a:t>
            </a:r>
            <a:r>
              <a:rPr lang="en-US" altLang="ko-KR" sz="1800" b="1" u="sng" dirty="0" err="1">
                <a:effectLst/>
                <a:latin typeface="Consolas" panose="020B0609020204030204" pitchFamily="49" charset="0"/>
              </a:rPr>
              <a:t>tbl_member</a:t>
            </a:r>
            <a:r>
              <a:rPr lang="ko-KR" altLang="en-US" sz="1800" b="1" u="sng" dirty="0">
                <a:effectLst/>
                <a:latin typeface="Consolas" panose="020B0609020204030204" pitchFamily="49" charset="0"/>
              </a:rPr>
              <a:t>에 </a:t>
            </a:r>
            <a:r>
              <a:rPr lang="en-US" altLang="ko-KR" sz="1800" b="1" u="sng" dirty="0" err="1">
                <a:effectLst/>
                <a:latin typeface="Consolas" panose="020B0609020204030204" pitchFamily="49" charset="0"/>
              </a:rPr>
              <a:t>dto</a:t>
            </a:r>
            <a:r>
              <a:rPr lang="en-US" altLang="ko-KR" sz="1800" b="1" u="sng" dirty="0"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800" b="1" u="sng" dirty="0">
                <a:effectLst/>
                <a:latin typeface="Consolas" panose="020B0609020204030204" pitchFamily="49" charset="0"/>
              </a:rPr>
              <a:t>값 저장 후 </a:t>
            </a:r>
            <a:r>
              <a:rPr lang="en-US" altLang="ko-KR" sz="1800" b="1" u="sng" dirty="0">
                <a:effectLst/>
                <a:latin typeface="Consolas" panose="020B0609020204030204" pitchFamily="49" charset="0"/>
              </a:rPr>
              <a:t>int </a:t>
            </a:r>
            <a:r>
              <a:rPr lang="ko-KR" altLang="en-US" sz="1800" b="1" u="sng" dirty="0">
                <a:effectLst/>
                <a:latin typeface="Consolas" panose="020B0609020204030204" pitchFamily="49" charset="0"/>
              </a:rPr>
              <a:t>반환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insertMember</a:t>
            </a:r>
            <a:r>
              <a:rPr lang="en-US" altLang="ko-KR" sz="1800" b="1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{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endParaRPr lang="en-US" altLang="ko-KR" b="1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prepareStatement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("</a:t>
            </a:r>
            <a:r>
              <a:rPr lang="en-US" altLang="ko-KR" sz="18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insert into </a:t>
            </a:r>
            <a:r>
              <a:rPr lang="en-US" altLang="ko-KR" sz="1800" b="1" dirty="0" err="1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tbl_member</a:t>
            </a:r>
            <a:r>
              <a:rPr lang="en-US" altLang="ko-KR" sz="18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 values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?,?,?,?,?,?,?,?,?,?,?,?,?,?,?,?,?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)");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sz="18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실행할 </a:t>
            </a:r>
            <a:r>
              <a:rPr lang="en-US" altLang="ko-KR" sz="18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SQL</a:t>
            </a:r>
            <a:r>
              <a:rPr lang="ko-KR" altLang="en-US" sz="18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문장을 미리 준비한다</a:t>
            </a:r>
            <a:r>
              <a:rPr lang="en-US" altLang="ko-KR" sz="18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. ?</a:t>
            </a:r>
            <a:r>
              <a:rPr lang="ko-KR" altLang="en-US" sz="1800" b="1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는 채워질 자리</a:t>
            </a:r>
            <a:endParaRPr lang="ko-KR" altLang="en-US" sz="18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getUserid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getPassword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getRePassword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getUsername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getZipcode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getAddr1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getAddr2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getPhone1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getPhone2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getPhone3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getTel1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getTel2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13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getTel3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getEmail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getYear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getMonth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  <a:endParaRPr lang="en-US" altLang="ko-KR" sz="18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17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getDay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());</a:t>
            </a:r>
            <a:endParaRPr lang="en-US" altLang="ko-KR" sz="1800" b="1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F2F20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executeUpdate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();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1" u="sng" dirty="0">
                <a:latin typeface="Consolas" panose="020B0609020204030204" pitchFamily="49" charset="0"/>
              </a:rPr>
              <a:t>//</a:t>
            </a:r>
            <a:r>
              <a:rPr lang="en-US" altLang="ko-KR" sz="1800" b="1" u="sng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u="sng" dirty="0" err="1">
                <a:effectLst/>
                <a:latin typeface="Consolas" panose="020B0609020204030204" pitchFamily="49" charset="0"/>
              </a:rPr>
              <a:t>SQl</a:t>
            </a:r>
            <a:r>
              <a:rPr lang="ko-KR" altLang="en-US" sz="1800" b="1" u="sng" dirty="0">
                <a:effectLst/>
                <a:latin typeface="Consolas" panose="020B0609020204030204" pitchFamily="49" charset="0"/>
              </a:rPr>
              <a:t>로 전송하는 역</a:t>
            </a:r>
            <a:r>
              <a:rPr lang="ko-KR" altLang="en-US" b="1" u="sng" dirty="0">
                <a:latin typeface="Consolas" panose="020B0609020204030204" pitchFamily="49" charset="0"/>
              </a:rPr>
              <a:t>할</a:t>
            </a:r>
            <a:endParaRPr lang="ko-KR" altLang="en-US" sz="1800" b="1" u="sng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F3EC79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3780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0" y="431800"/>
            <a:ext cx="8483600" cy="9423400"/>
          </a:xfrm>
          <a:prstGeom prst="rect">
            <a:avLst/>
          </a:prstGeom>
          <a:effectLst>
            <a:outerShdw blurRad="896557" dist="326398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0" y="431800"/>
            <a:ext cx="84836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1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54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10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93500" y="660400"/>
            <a:ext cx="4191000" cy="4445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1645900" y="698500"/>
            <a:ext cx="38735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FFFFFF"/>
                </a:solidFill>
                <a:latin typeface="Pretendard Light"/>
              </a:rPr>
              <a:t>4-3 </a:t>
            </a: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DbUtils.java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58400" y="2108200"/>
            <a:ext cx="72136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4EF2E4F-8AC8-4FCF-A42E-E3B4EBDA8770}"/>
              </a:ext>
            </a:extLst>
          </p:cNvPr>
          <p:cNvSpPr txBox="1"/>
          <p:nvPr/>
        </p:nvSpPr>
        <p:spPr>
          <a:xfrm>
            <a:off x="469900" y="774700"/>
            <a:ext cx="8470900" cy="204469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4000" b="0" i="0" dirty="0">
                <a:solidFill>
                  <a:srgbClr val="212529"/>
                </a:solidFill>
                <a:effectLst/>
                <a:latin typeface="NanumSquareNeo"/>
              </a:rPr>
              <a:t>문제 </a:t>
            </a:r>
            <a:r>
              <a:rPr lang="en-US" altLang="ko-KR" sz="4000" b="0" i="0" dirty="0">
                <a:solidFill>
                  <a:srgbClr val="212529"/>
                </a:solidFill>
                <a:effectLst/>
                <a:latin typeface="+mj-ea"/>
                <a:ea typeface="+mj-ea"/>
              </a:rPr>
              <a:t>4-3</a:t>
            </a:r>
          </a:p>
          <a:p>
            <a:pPr lvl="0" algn="l">
              <a:lnSpc>
                <a:spcPct val="99600"/>
              </a:lnSpc>
            </a:pPr>
            <a:r>
              <a:rPr lang="en-US" altLang="ko-KR" sz="2800" b="0" i="0" dirty="0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public static </a:t>
            </a:r>
            <a:r>
              <a:rPr lang="en-US" altLang="ko-KR" sz="2800" b="0" i="0" dirty="0" err="1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MemberDto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  <a:r>
              <a:rPr lang="en-US" altLang="ko-KR" sz="2800" b="0" i="0" dirty="0" err="1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selectMember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(String </a:t>
            </a:r>
            <a:r>
              <a:rPr lang="en-US" altLang="ko-KR" sz="2800" b="0" i="0" dirty="0" err="1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userid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Pretendard Medium" panose="020B0600000101010101" charset="-127"/>
                <a:ea typeface="Pretendard Medium" panose="020B0600000101010101" charset="-127"/>
              </a:rPr>
              <a:t>) throws Exception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NanumSquareNeo"/>
              </a:rPr>
              <a:t>코드 완성하기</a:t>
            </a:r>
            <a:endParaRPr lang="ko-KR" altLang="ko-KR" sz="28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FA1374D-7EAC-4CFA-AB22-673557A7FF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200" y="3463200"/>
            <a:ext cx="7650600" cy="42711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0F6F470-F9CD-43B3-91C2-766EAA7C60B9}"/>
              </a:ext>
            </a:extLst>
          </p:cNvPr>
          <p:cNvSpPr txBox="1"/>
          <p:nvPr/>
        </p:nvSpPr>
        <p:spPr>
          <a:xfrm>
            <a:off x="9340850" y="1943100"/>
            <a:ext cx="84709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u="sng" dirty="0">
                <a:effectLst/>
                <a:latin typeface="Consolas" panose="020B0609020204030204" pitchFamily="49" charset="0"/>
              </a:rPr>
              <a:t>문자열인 </a:t>
            </a:r>
            <a:r>
              <a:rPr lang="en-US" altLang="ko-KR" sz="1800" b="1" u="sng" dirty="0" err="1">
                <a:effectLst/>
                <a:latin typeface="Consolas" panose="020B0609020204030204" pitchFamily="49" charset="0"/>
              </a:rPr>
              <a:t>userid</a:t>
            </a:r>
            <a:r>
              <a:rPr lang="ko-KR" altLang="en-US" sz="1800" b="1" u="sng" dirty="0">
                <a:effectLst/>
                <a:latin typeface="Consolas" panose="020B0609020204030204" pitchFamily="49" charset="0"/>
              </a:rPr>
              <a:t>를 받아서 기존 </a:t>
            </a:r>
            <a:r>
              <a:rPr lang="en-US" altLang="ko-KR" sz="1800" b="1" u="sng" dirty="0" err="1">
                <a:effectLst/>
                <a:latin typeface="Consolas" panose="020B0609020204030204" pitchFamily="49" charset="0"/>
              </a:rPr>
              <a:t>tbl_member</a:t>
            </a:r>
            <a:r>
              <a:rPr lang="ko-KR" altLang="en-US" sz="1800" b="1" u="sng" dirty="0">
                <a:effectLst/>
                <a:latin typeface="Consolas" panose="020B0609020204030204" pitchFamily="49" charset="0"/>
              </a:rPr>
              <a:t>에 없다면 </a:t>
            </a:r>
            <a:endParaRPr lang="en-US" altLang="ko-KR" sz="1800" b="1" u="sng" dirty="0">
              <a:effectLst/>
              <a:latin typeface="Consolas" panose="020B0609020204030204" pitchFamily="49" charset="0"/>
            </a:endParaRPr>
          </a:p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u="sng" dirty="0" err="1">
                <a:effectLst/>
                <a:latin typeface="Consolas" panose="020B0609020204030204" pitchFamily="49" charset="0"/>
              </a:rPr>
              <a:t>MemberDto</a:t>
            </a:r>
            <a:r>
              <a:rPr lang="ko-KR" altLang="en-US" sz="1800" b="1" u="sng" dirty="0">
                <a:effectLst/>
                <a:latin typeface="Consolas" panose="020B0609020204030204" pitchFamily="49" charset="0"/>
              </a:rPr>
              <a:t>단위에 </a:t>
            </a:r>
            <a:r>
              <a:rPr lang="en-US" altLang="ko-KR" sz="1800" b="1" u="sng" dirty="0">
                <a:effectLst/>
                <a:latin typeface="Consolas" panose="020B0609020204030204" pitchFamily="49" charset="0"/>
              </a:rPr>
              <a:t>null</a:t>
            </a:r>
            <a:r>
              <a:rPr lang="ko-KR" altLang="en-US" sz="1800" b="1" u="sng" dirty="0">
                <a:effectLst/>
                <a:latin typeface="Consolas" panose="020B0609020204030204" pitchFamily="49" charset="0"/>
              </a:rPr>
              <a:t>값을 반환</a:t>
            </a:r>
            <a:endParaRPr lang="en-US" altLang="ko-KR" sz="1800" b="1" u="sng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ko-KR" altLang="en-US" sz="1800" b="1" u="sng" dirty="0"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selectMember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)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throws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Exception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{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b="1" dirty="0">
                <a:latin typeface="Consolas" panose="020B0609020204030204" pitchFamily="49" charset="0"/>
              </a:rPr>
              <a:t>//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tbl_member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800" b="1" dirty="0">
                <a:effectLst/>
                <a:latin typeface="Consolas" panose="020B0609020204030204" pitchFamily="49" charset="0"/>
              </a:rPr>
              <a:t>에 </a:t>
            </a:r>
            <a:r>
              <a:rPr lang="en-US" altLang="ko-KR" sz="1800" b="1" u="sng" dirty="0" err="1"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1800" b="1" dirty="0">
                <a:effectLst/>
                <a:latin typeface="Consolas" panose="020B0609020204030204" pitchFamily="49" charset="0"/>
              </a:rPr>
              <a:t>와 일치하는 데이터 받아와 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MemberDto</a:t>
            </a:r>
            <a:r>
              <a:rPr lang="ko-KR" altLang="en-US" sz="1800" b="1" dirty="0">
                <a:effectLst/>
                <a:latin typeface="Consolas" panose="020B0609020204030204" pitchFamily="49" charset="0"/>
              </a:rPr>
              <a:t>로 반환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conn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prepareStatement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"select * from </a:t>
            </a:r>
            <a:r>
              <a:rPr lang="en-US" altLang="ko-KR" sz="1800" b="1" dirty="0" err="1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tbl_member</a:t>
            </a:r>
            <a:r>
              <a:rPr lang="en-US" altLang="ko-KR" sz="18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 where </a:t>
            </a:r>
            <a:r>
              <a:rPr lang="en-US" altLang="ko-KR" sz="1800" b="1" dirty="0" err="1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8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=?"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setString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,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userid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pstmt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executeQuery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F2F200"/>
                </a:solidFill>
                <a:effectLst/>
                <a:latin typeface="Consolas" panose="020B0609020204030204" pitchFamily="49" charset="0"/>
              </a:rPr>
              <a:t>dto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sz="1800" b="1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!=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&amp;&amp;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en-US" altLang="ko-KR" sz="1800" b="1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())</a:t>
            </a:r>
            <a:r>
              <a:rPr lang="en-US" altLang="ko-KR" b="1" dirty="0">
                <a:solidFill>
                  <a:srgbClr val="F9FAF4"/>
                </a:solidFill>
                <a:latin typeface="Consolas" panose="020B0609020204030204" pitchFamily="49" charset="0"/>
              </a:rPr>
              <a:t> </a:t>
            </a:r>
            <a:r>
              <a:rPr lang="en-US" altLang="ko-KR" b="1" dirty="0">
                <a:latin typeface="Consolas" panose="020B0609020204030204" pitchFamily="49" charset="0"/>
              </a:rPr>
              <a:t>{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 err="1">
                <a:solidFill>
                  <a:srgbClr val="F3EC79"/>
                </a:solidFill>
                <a:effectLst/>
                <a:latin typeface="Consolas" panose="020B0609020204030204" pitchFamily="49" charset="0"/>
              </a:rPr>
              <a:t>dto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MemberDto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 err="1">
                <a:solidFill>
                  <a:srgbClr val="F3EC79"/>
                </a:solidFill>
                <a:effectLst/>
                <a:latin typeface="Consolas" panose="020B0609020204030204" pitchFamily="49" charset="0"/>
              </a:rPr>
              <a:t>dto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setUsername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getString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"username"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 err="1">
                <a:solidFill>
                  <a:srgbClr val="F3EC79"/>
                </a:solidFill>
                <a:effectLst/>
                <a:latin typeface="Consolas" panose="020B0609020204030204" pitchFamily="49" charset="0"/>
              </a:rPr>
              <a:t>dto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setPassword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rs</a:t>
            </a:r>
            <a:r>
              <a:rPr lang="en-US" altLang="ko-KR" sz="1800" b="1" dirty="0" err="1"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800" b="1" dirty="0" err="1">
                <a:solidFill>
                  <a:srgbClr val="80F6A7"/>
                </a:solidFill>
                <a:effectLst/>
                <a:latin typeface="Consolas" panose="020B0609020204030204" pitchFamily="49" charset="0"/>
              </a:rPr>
              <a:t>getString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800" b="1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"password"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));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800" b="1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800" b="1" dirty="0" err="1">
                <a:solidFill>
                  <a:srgbClr val="F3EC79"/>
                </a:solidFill>
                <a:effectLst/>
                <a:latin typeface="Consolas" panose="020B0609020204030204" pitchFamily="49" charset="0"/>
              </a:rPr>
              <a:t>dto</a:t>
            </a:r>
            <a:r>
              <a:rPr lang="en-US" altLang="ko-KR" sz="1800" b="1" dirty="0">
                <a:effectLst/>
                <a:latin typeface="Consolas" panose="020B0609020204030204" pitchFamily="49" charset="0"/>
              </a:rPr>
              <a:t>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ko-KR" sz="1800" b="1" dirty="0"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2169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2000" b="0" i="0" u="none" strike="noStrike" dirty="0">
                <a:solidFill>
                  <a:srgbClr val="FFFFFF"/>
                </a:solidFill>
                <a:latin typeface="Pretendard Light"/>
              </a:rPr>
              <a:t>02Join.jsp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C2C2C2"/>
                </a:solidFill>
                <a:latin typeface="Pretendard Medium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0800" y="2730500"/>
            <a:ext cx="121031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9600" b="0" i="0" u="none" strike="noStrike" dirty="0">
                <a:solidFill>
                  <a:srgbClr val="494A4E"/>
                </a:solidFill>
                <a:latin typeface="Pretendard Medium"/>
              </a:rPr>
              <a:t>02Join.jsp</a:t>
            </a:r>
            <a:endParaRPr lang="ko-KR" altLang="ko-KR" sz="96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826426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92A31-5BB4-137C-6707-A4107E078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A87B592-5559-37E3-047C-522C5B3FC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A2057D67-BBAF-739A-BE6C-48157668FC18}"/>
              </a:ext>
            </a:extLst>
          </p:cNvPr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D32A8199-E9EE-93C7-C1A6-ABF926B4A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299" y="2591118"/>
            <a:ext cx="11769401" cy="5752782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F2D81A4-06AF-5E05-5D15-67A2860E7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C865A274-29E9-2EA0-777E-D7616CD69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311EABDD-2AE3-D05C-4571-6FF0A648C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27645D13-5CE3-0148-C760-7E9C2FF3E9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D5417A0E-4620-EE7B-9A2D-38EDD362BF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2AF666B3-FD96-98F6-2F6E-4E6129170E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B60DB231-2147-9A6E-E9AD-3A1AA2BDD93B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02Join.jsp</a:t>
            </a:r>
          </a:p>
        </p:txBody>
      </p:sp>
      <p:pic>
        <p:nvPicPr>
          <p:cNvPr id="16" name="그림 1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1A0A3E-60BE-533E-2A42-4BE2E31EB1F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400" y="4457700"/>
            <a:ext cx="9080500" cy="32007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1C23C76-1C18-FAF8-844E-882F23990FB4}"/>
              </a:ext>
            </a:extLst>
          </p:cNvPr>
          <p:cNvSpPr txBox="1"/>
          <p:nvPr/>
        </p:nvSpPr>
        <p:spPr>
          <a:xfrm>
            <a:off x="5181600" y="3314700"/>
            <a:ext cx="79121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/>
              <a:t>선언문 </a:t>
            </a:r>
            <a:r>
              <a:rPr lang="en-US" altLang="ko-KR" sz="3500" b="1" dirty="0"/>
              <a:t>(import </a:t>
            </a:r>
            <a:r>
              <a:rPr lang="ko-KR" altLang="en-US" sz="3500" b="1" dirty="0"/>
              <a:t>설정</a:t>
            </a:r>
            <a:r>
              <a:rPr lang="en-US" altLang="ko-KR" sz="3500" b="1" dirty="0"/>
              <a:t>), </a:t>
            </a:r>
            <a:r>
              <a:rPr lang="ko-KR" altLang="en-US" sz="3500" b="1" dirty="0" err="1"/>
              <a:t>문자셋</a:t>
            </a:r>
            <a:r>
              <a:rPr lang="ko-KR" altLang="en-US" sz="3500" b="1" dirty="0"/>
              <a:t> 설정</a:t>
            </a:r>
          </a:p>
        </p:txBody>
      </p:sp>
    </p:spTree>
    <p:extLst>
      <p:ext uri="{BB962C8B-B14F-4D97-AF65-F5344CB8AC3E}">
        <p14:creationId xmlns:p14="http://schemas.microsoft.com/office/powerpoint/2010/main" val="5470776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659D3-D895-D929-3F64-DCB11C7F6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1621BE0-A8A2-7772-0EBD-93AF431A4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0C4CABA3-6EE9-AA4C-0878-2DB5FA91A1F3}"/>
              </a:ext>
            </a:extLst>
          </p:cNvPr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08DEEC9D-2D52-D70F-4BAF-F9B2A5D74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460" y="3086100"/>
            <a:ext cx="6275854" cy="6426200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3A1C522C-83A6-791B-9C9E-9286C6696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BEB13E19-35CA-E616-0540-046BAE8C93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E70D5267-F53F-CC95-D4AF-CEC4C30E78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79263E8D-24EF-7423-4BB4-8310CDEDA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6891FF29-B893-0E12-BA8F-093C957CA1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EDD6FC46-84C0-1229-68D6-BE81BE3F32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9B3733E1-9474-95D7-5903-3F04F10B5DF1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02Join.jsp</a:t>
            </a:r>
          </a:p>
        </p:txBody>
      </p:sp>
      <p:pic>
        <p:nvPicPr>
          <p:cNvPr id="14" name="그림 1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224FD8-C312-D89A-3A3A-AADA2E1FE2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764" y="3435581"/>
            <a:ext cx="5765245" cy="576353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B5E8832-1422-E86D-2F36-CDD5BC55DB13}"/>
              </a:ext>
            </a:extLst>
          </p:cNvPr>
          <p:cNvSpPr txBox="1"/>
          <p:nvPr/>
        </p:nvSpPr>
        <p:spPr>
          <a:xfrm>
            <a:off x="5181600" y="1616958"/>
            <a:ext cx="79121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/>
              <a:t>유효성 검증 함수 </a:t>
            </a:r>
          </a:p>
        </p:txBody>
      </p:sp>
      <p:pic>
        <p:nvPicPr>
          <p:cNvPr id="20" name="Picture 5">
            <a:extLst>
              <a:ext uri="{FF2B5EF4-FFF2-40B4-BE49-F238E27FC236}">
                <a16:creationId xmlns:a16="http://schemas.microsoft.com/office/drawing/2014/main" id="{1A3020EA-D927-BCC5-11F8-96B5F7FFE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6253" y="3086100"/>
            <a:ext cx="6525747" cy="6426200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18" name="그림 1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54C3E4-32D7-8D06-FDE5-3EE73949B6D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3287" y="3373880"/>
            <a:ext cx="5993913" cy="596062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03DF35F-79E8-9091-14B7-3827A4CB3B1A}"/>
              </a:ext>
            </a:extLst>
          </p:cNvPr>
          <p:cNvSpPr txBox="1"/>
          <p:nvPr/>
        </p:nvSpPr>
        <p:spPr>
          <a:xfrm>
            <a:off x="6504606" y="2350251"/>
            <a:ext cx="6728794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000" b="0" i="0" u="none" strike="noStrike" dirty="0">
                <a:solidFill>
                  <a:srgbClr val="717377"/>
                </a:solidFill>
                <a:latin typeface="Pretendard Regular"/>
              </a:rPr>
              <a:t>각 항목이 </a:t>
            </a:r>
            <a:r>
              <a:rPr lang="ko-KR" altLang="en-US" sz="2000" b="0" i="0" u="none" strike="noStrike" dirty="0" err="1">
                <a:solidFill>
                  <a:srgbClr val="717377"/>
                </a:solidFill>
                <a:latin typeface="Pretendard Regular"/>
              </a:rPr>
              <a:t>비어있는</a:t>
            </a:r>
            <a:r>
              <a:rPr lang="ko-KR" altLang="en-US" sz="2000" b="0" i="0" u="none" strike="noStrike" dirty="0">
                <a:solidFill>
                  <a:srgbClr val="717377"/>
                </a:solidFill>
                <a:latin typeface="Pretendard Regular"/>
              </a:rPr>
              <a:t> 경우 </a:t>
            </a:r>
            <a:r>
              <a:rPr lang="en-US" altLang="ko-KR" sz="2000" b="0" i="0" u="none" strike="noStrike" dirty="0" err="1">
                <a:solidFill>
                  <a:srgbClr val="717377"/>
                </a:solidFill>
                <a:latin typeface="Pretendard Regular"/>
              </a:rPr>
              <a:t>System.out</a:t>
            </a:r>
            <a:r>
              <a:rPr lang="en-US" altLang="ko-KR" sz="2000" b="0" i="0" u="none" strike="noStrike" dirty="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ko-KR" altLang="en-US" sz="2000" b="0" i="0" u="none" strike="noStrike" dirty="0">
                <a:solidFill>
                  <a:srgbClr val="717377"/>
                </a:solidFill>
                <a:latin typeface="Pretendard Regular"/>
              </a:rPr>
              <a:t>출력 후</a:t>
            </a:r>
            <a:r>
              <a:rPr lang="en-US" altLang="ko-KR" sz="2000" b="0" i="0" u="none" strike="noStrike" dirty="0">
                <a:solidFill>
                  <a:srgbClr val="717377"/>
                </a:solidFill>
                <a:latin typeface="Pretendard Regular"/>
              </a:rPr>
              <a:t> false </a:t>
            </a:r>
            <a:r>
              <a:rPr lang="ko-KR" altLang="en-US" sz="2000" b="0" i="0" u="none" strike="noStrike" dirty="0">
                <a:solidFill>
                  <a:srgbClr val="717377"/>
                </a:solidFill>
                <a:latin typeface="Pretendard Regular"/>
              </a:rPr>
              <a:t>반환</a:t>
            </a:r>
            <a:endParaRPr lang="en-US" sz="20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990038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3ADB6E-129A-0D3F-F5F7-B393FFDF9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C9102B6-895D-DD14-7961-D6CCACA31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B2657642-05EF-E02B-BA11-6DB79D6B0BA9}"/>
              </a:ext>
            </a:extLst>
          </p:cNvPr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4677C55-4019-72A8-CC59-DF46B35B4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59" y="1631950"/>
            <a:ext cx="10416541" cy="3511550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2DF6112E-B360-DCA5-7496-3DE2964BA3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A60C82F6-C5BF-97A1-4ECA-F8C4EB8BCF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E16E2550-5F13-1406-1838-1B188DBB0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4600948B-4297-9B1B-F9E7-ED1CA7D559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2A2F7734-416F-4C68-E406-FB07F19CDA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03A8B06C-7DF4-E571-BFE9-A35D257AF9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14E07D6C-1FC1-22BE-3BE4-69DF39C30858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02Join.jsp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092FFC-4394-B6C0-9DE0-2DD3705F9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300" y="5848350"/>
            <a:ext cx="10416541" cy="3511550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D3E9BA9-53B1-D8A7-6AF2-C38D5F8AF1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07160" y="1920674"/>
            <a:ext cx="8954750" cy="2876951"/>
          </a:xfrm>
          <a:prstGeom prst="rect">
            <a:avLst/>
          </a:prstGeom>
        </p:spPr>
      </p:pic>
      <p:pic>
        <p:nvPicPr>
          <p:cNvPr id="14" name="그림 1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47E185-156D-7B5F-1E23-3C4E2D09CD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016" y="6727559"/>
            <a:ext cx="10129204" cy="175313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7537454-678F-83CB-D68E-33BAD0838C90}"/>
              </a:ext>
            </a:extLst>
          </p:cNvPr>
          <p:cNvSpPr txBox="1"/>
          <p:nvPr/>
        </p:nvSpPr>
        <p:spPr>
          <a:xfrm>
            <a:off x="1422400" y="6750419"/>
            <a:ext cx="519047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ko-KR" sz="3500" b="1" dirty="0" err="1"/>
              <a:t>MemberDto</a:t>
            </a:r>
            <a:r>
              <a:rPr lang="ko-KR" altLang="en-US" sz="3500" b="1" dirty="0"/>
              <a:t>의 파라미터 받기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AAFF53-0905-8FB9-0B97-E83C9E520B57}"/>
              </a:ext>
            </a:extLst>
          </p:cNvPr>
          <p:cNvSpPr txBox="1"/>
          <p:nvPr/>
        </p:nvSpPr>
        <p:spPr>
          <a:xfrm>
            <a:off x="12039600" y="1790700"/>
            <a:ext cx="3265189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en-US" sz="2000" dirty="0" err="1">
                <a:solidFill>
                  <a:srgbClr val="717377"/>
                </a:solidFill>
                <a:latin typeface="Pretendard Regular"/>
              </a:rPr>
              <a:t>Userid</a:t>
            </a:r>
            <a:r>
              <a:rPr lang="en-US" sz="2000" dirty="0">
                <a:solidFill>
                  <a:srgbClr val="717377"/>
                </a:solidFill>
                <a:latin typeface="Pretendard Regular"/>
              </a:rPr>
              <a:t> </a:t>
            </a: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길이 검증 함수</a:t>
            </a:r>
            <a:endParaRPr lang="en-US" altLang="ko-KR" sz="2000" dirty="0">
              <a:solidFill>
                <a:srgbClr val="717377"/>
              </a:solidFill>
              <a:latin typeface="Pretendard Regular"/>
            </a:endParaRPr>
          </a:p>
          <a:p>
            <a:pPr lvl="0">
              <a:lnSpc>
                <a:spcPct val="166000"/>
              </a:lnSpc>
              <a:buClr>
                <a:srgbClr val="717377"/>
              </a:buClr>
            </a:pPr>
            <a:endParaRPr lang="en-US" sz="20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CF8958-E821-243E-F238-E023BD6CCBE9}"/>
              </a:ext>
            </a:extLst>
          </p:cNvPr>
          <p:cNvSpPr txBox="1"/>
          <p:nvPr/>
        </p:nvSpPr>
        <p:spPr>
          <a:xfrm>
            <a:off x="12039600" y="2781300"/>
            <a:ext cx="37338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패스워드 유효성 검증 함수</a:t>
            </a:r>
            <a:endParaRPr lang="en-US" altLang="ko-KR" sz="2000" dirty="0">
              <a:solidFill>
                <a:srgbClr val="717377"/>
              </a:solidFill>
              <a:latin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5012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99979-468F-50A5-93C8-E58E09B5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8EFF293-617F-5842-D1B7-E8A3942A1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E786BE68-8D84-C4B9-F414-440474F69646}"/>
              </a:ext>
            </a:extLst>
          </p:cNvPr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3A8CDEC7-4CBA-7196-285D-3D40F85BD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59" y="1631950"/>
            <a:ext cx="8166100" cy="7880350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8B0785A0-5E8B-9FE6-98FF-3455F640A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58C23D30-A132-0E3F-56ED-A3AD403F8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9701091C-D8C5-CEC6-CA14-AF1F81749A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B46EBCF5-448C-437A-D67A-52C95665C9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C7D633C9-496F-6BAF-38AA-311902EAED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8DC28E04-FB89-6E53-C4FB-43F12068D1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DAF9454B-AA62-3E2B-B4B3-E067E4188A74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02Join.jsp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B2FDA96-7D54-A4E0-0E61-903E52DE4B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0300" y="2148544"/>
            <a:ext cx="7556500" cy="67287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AAB48B2-8B4D-FA17-20B0-F60801C1B38A}"/>
              </a:ext>
            </a:extLst>
          </p:cNvPr>
          <p:cNvSpPr txBox="1"/>
          <p:nvPr/>
        </p:nvSpPr>
        <p:spPr>
          <a:xfrm>
            <a:off x="9431018" y="2857500"/>
            <a:ext cx="4305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500" b="0" i="0" u="none" strike="noStrike" dirty="0">
                <a:solidFill>
                  <a:srgbClr val="000000"/>
                </a:solidFill>
                <a:ea typeface="Pretendard Bold"/>
              </a:rPr>
              <a:t>02 </a:t>
            </a:r>
            <a:r>
              <a:rPr lang="ko-KR" altLang="en-US" sz="3500" b="0" i="0" u="none" strike="noStrike" dirty="0">
                <a:solidFill>
                  <a:srgbClr val="000000"/>
                </a:solidFill>
                <a:ea typeface="Pretendard Bold"/>
              </a:rPr>
              <a:t>유효성 검증</a:t>
            </a:r>
            <a:endParaRPr lang="ko-KR" sz="35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5F8A36-3251-6169-C0E7-825DEDC0C25E}"/>
              </a:ext>
            </a:extLst>
          </p:cNvPr>
          <p:cNvSpPr txBox="1"/>
          <p:nvPr/>
        </p:nvSpPr>
        <p:spPr>
          <a:xfrm>
            <a:off x="9452238" y="3340100"/>
            <a:ext cx="6397362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000" dirty="0">
                <a:solidFill>
                  <a:srgbClr val="717377"/>
                </a:solidFill>
                <a:latin typeface="Pretendard Regular"/>
                <a:ea typeface="Pretendard Regular"/>
              </a:rPr>
              <a:t>유효하지 않은 경우 </a:t>
            </a:r>
            <a:r>
              <a:rPr lang="en-US" altLang="ko-KR" sz="2000" dirty="0">
                <a:solidFill>
                  <a:srgbClr val="717377"/>
                </a:solidFill>
                <a:latin typeface="Pretendard Regular"/>
                <a:ea typeface="Pretendard Regular"/>
              </a:rPr>
              <a:t>01Join.html</a:t>
            </a:r>
            <a:r>
              <a:rPr lang="ko-KR" altLang="en-US" sz="2000" dirty="0">
                <a:solidFill>
                  <a:srgbClr val="717377"/>
                </a:solidFill>
                <a:latin typeface="Pretendard Regular"/>
                <a:ea typeface="Pretendard Regular"/>
              </a:rPr>
              <a:t>로 </a:t>
            </a:r>
            <a:r>
              <a:rPr lang="en-US" altLang="ko-KR" sz="2000" dirty="0">
                <a:solidFill>
                  <a:srgbClr val="717377"/>
                </a:solidFill>
                <a:latin typeface="Pretendard Regular"/>
                <a:ea typeface="Pretendard Regular"/>
              </a:rPr>
              <a:t>forwarding</a:t>
            </a:r>
            <a:endParaRPr lang="en-US" sz="20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0F218E-1519-9D27-C52C-51768809A488}"/>
              </a:ext>
            </a:extLst>
          </p:cNvPr>
          <p:cNvSpPr txBox="1"/>
          <p:nvPr/>
        </p:nvSpPr>
        <p:spPr>
          <a:xfrm>
            <a:off x="9372600" y="4152900"/>
            <a:ext cx="4305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500" dirty="0">
                <a:solidFill>
                  <a:srgbClr val="000000"/>
                </a:solidFill>
                <a:ea typeface="Pretendard Bold"/>
              </a:rPr>
              <a:t>03</a:t>
            </a:r>
            <a:r>
              <a:rPr lang="ko-KR" altLang="en-US" sz="3500" dirty="0">
                <a:solidFill>
                  <a:srgbClr val="000000"/>
                </a:solidFill>
                <a:ea typeface="Pretendard Bold"/>
              </a:rPr>
              <a:t> 서비스 처리</a:t>
            </a:r>
            <a:endParaRPr lang="ko-KR" sz="35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711C83-C2F7-7CB5-0B8A-E34751633549}"/>
              </a:ext>
            </a:extLst>
          </p:cNvPr>
          <p:cNvSpPr txBox="1"/>
          <p:nvPr/>
        </p:nvSpPr>
        <p:spPr>
          <a:xfrm>
            <a:off x="9393820" y="4635500"/>
            <a:ext cx="6397362" cy="332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트랜잭션을 이용해 문제</a:t>
            </a:r>
            <a:r>
              <a:rPr lang="en-US" altLang="ko-KR" sz="2000" dirty="0">
                <a:solidFill>
                  <a:srgbClr val="717377"/>
                </a:solidFill>
                <a:latin typeface="Pretendard Regular"/>
              </a:rPr>
              <a:t>(</a:t>
            </a: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예외</a:t>
            </a:r>
            <a:r>
              <a:rPr lang="en-US" altLang="ko-KR" sz="2000" dirty="0">
                <a:solidFill>
                  <a:srgbClr val="717377"/>
                </a:solidFill>
                <a:latin typeface="Pretendard Regular"/>
              </a:rPr>
              <a:t>)</a:t>
            </a: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가 생기면 예외처리 구문으로 이동</a:t>
            </a:r>
            <a:endParaRPr lang="en-US" altLang="ko-KR" sz="2000" dirty="0">
              <a:solidFill>
                <a:srgbClr val="717377"/>
              </a:solidFill>
              <a:latin typeface="Pretendard Regular"/>
            </a:endParaRPr>
          </a:p>
          <a:p>
            <a:pPr marL="342900" lvl="0" indent="-342900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000" b="0" i="0" u="none" strike="noStrike" dirty="0">
                <a:solidFill>
                  <a:srgbClr val="717377"/>
                </a:solidFill>
                <a:latin typeface="Pretendard Regular"/>
              </a:rPr>
              <a:t>동일 </a:t>
            </a: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계정이 있으면 즉</a:t>
            </a:r>
            <a:r>
              <a:rPr lang="en-US" altLang="ko-KR" sz="2000" dirty="0">
                <a:solidFill>
                  <a:srgbClr val="717377"/>
                </a:solidFill>
                <a:latin typeface="Pretendard Regular"/>
              </a:rPr>
              <a:t>, exist</a:t>
            </a: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가 </a:t>
            </a:r>
            <a:r>
              <a:rPr lang="en-US" altLang="ko-KR" sz="2000" dirty="0">
                <a:solidFill>
                  <a:srgbClr val="717377"/>
                </a:solidFill>
                <a:latin typeface="Pretendard Regular"/>
              </a:rPr>
              <a:t>null</a:t>
            </a: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이 아니면 </a:t>
            </a:r>
            <a:r>
              <a:rPr lang="en-US" altLang="ko-KR" sz="2000" dirty="0">
                <a:solidFill>
                  <a:srgbClr val="717377"/>
                </a:solidFill>
                <a:latin typeface="Pretendard Regular"/>
              </a:rPr>
              <a:t>01Join.html</a:t>
            </a: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로 </a:t>
            </a:r>
            <a:r>
              <a:rPr lang="en-US" altLang="ko-KR" sz="2000" dirty="0">
                <a:solidFill>
                  <a:srgbClr val="717377"/>
                </a:solidFill>
                <a:latin typeface="Pretendard Regular"/>
              </a:rPr>
              <a:t>forwarding </a:t>
            </a: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처리</a:t>
            </a:r>
            <a:endParaRPr lang="en-US" altLang="ko-KR" sz="2000" dirty="0">
              <a:solidFill>
                <a:srgbClr val="717377"/>
              </a:solidFill>
              <a:latin typeface="Pretendard Regular"/>
            </a:endParaRPr>
          </a:p>
          <a:p>
            <a:pPr marL="342900" lvl="0" indent="-342900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계정정보가 업데이트가 안됐다면 </a:t>
            </a:r>
            <a:r>
              <a:rPr lang="en-US" altLang="ko-KR" sz="2000" dirty="0">
                <a:solidFill>
                  <a:srgbClr val="717377"/>
                </a:solidFill>
                <a:latin typeface="Pretendard Regular"/>
              </a:rPr>
              <a:t>01Join.html</a:t>
            </a: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로 </a:t>
            </a:r>
            <a:r>
              <a:rPr lang="en-US" altLang="ko-KR" sz="2000" dirty="0">
                <a:solidFill>
                  <a:srgbClr val="717377"/>
                </a:solidFill>
                <a:latin typeface="Pretendard Regular"/>
              </a:rPr>
              <a:t>forwarding </a:t>
            </a: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처리</a:t>
            </a:r>
            <a:endParaRPr lang="en-US" altLang="ko-KR" sz="2000" dirty="0">
              <a:solidFill>
                <a:srgbClr val="717377"/>
              </a:solidFill>
              <a:latin typeface="Pretendard Regular"/>
            </a:endParaRPr>
          </a:p>
          <a:p>
            <a:pPr marL="342900" lvl="0" indent="-342900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endParaRPr lang="en-US" sz="20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6350477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CBC74-2DB5-9AB9-2853-CBAFE1F6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FFECDBE-EB2F-70A2-3D90-9DD731BCA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4FA97B1A-83AA-95D7-B4C4-0F1325FA892B}"/>
              </a:ext>
            </a:extLst>
          </p:cNvPr>
          <p:cNvSpPr txBox="1"/>
          <p:nvPr/>
        </p:nvSpPr>
        <p:spPr>
          <a:xfrm>
            <a:off x="5067300" y="927100"/>
            <a:ext cx="81661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목표를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설명하는</a:t>
            </a:r>
            <a:r>
              <a:rPr lang="en-US" sz="4000" b="0" i="0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Pretendard Bold"/>
              </a:rPr>
              <a:t>인포그래픽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B1F698E2-6D55-DEDE-3BD5-E3E0D937B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59" y="1905000"/>
            <a:ext cx="8166100" cy="5219700"/>
          </a:xfrm>
          <a:prstGeom prst="rect">
            <a:avLst/>
          </a:prstGeom>
          <a:effectLst>
            <a:outerShdw blurRad="226448" dist="133936" dir="4020000">
              <a:srgbClr val="000000">
                <a:alpha val="20000"/>
              </a:srgbClr>
            </a:outerShdw>
          </a:effec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FB49328A-BEA7-9092-B1BF-7AE5792C9B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065AADD-EC85-CEFA-6E5B-4BB373928A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0C77024-CC34-A8B0-AE30-AC13E86BA4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ECD91FD5-A694-346D-B5F3-1F6D0E60F2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AA18CB32-95A9-EC5A-B78C-34B67DCCAE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A1A68977-42B8-71D0-AF0B-7E3D4440DB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A55FBA58-2B79-46CB-E677-DE6120F41E67}"/>
              </a:ext>
            </a:extLst>
          </p:cNvPr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altLang="ko-KR" sz="2000" b="0" i="0" u="none" strike="noStrike" dirty="0">
                <a:solidFill>
                  <a:srgbClr val="FFFFFF"/>
                </a:solidFill>
                <a:latin typeface="Pretendard Light"/>
              </a:rPr>
              <a:t>02Join.jsp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D03A69-ABD7-732F-C57F-46C5472326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8100" y="2635014"/>
            <a:ext cx="7083901" cy="37596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BCF3F39-C713-984E-ACF0-22D94EB03FB9}"/>
              </a:ext>
            </a:extLst>
          </p:cNvPr>
          <p:cNvSpPr txBox="1"/>
          <p:nvPr/>
        </p:nvSpPr>
        <p:spPr>
          <a:xfrm>
            <a:off x="9431018" y="2857500"/>
            <a:ext cx="4305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3500" b="0" i="0" u="none" strike="noStrike" dirty="0">
                <a:solidFill>
                  <a:srgbClr val="000000"/>
                </a:solidFill>
                <a:ea typeface="Pretendard Bold"/>
              </a:rPr>
              <a:t>04 </a:t>
            </a:r>
            <a:r>
              <a:rPr lang="ko-KR" altLang="en-US" sz="3500" b="0" i="0" u="none" strike="noStrike" dirty="0">
                <a:solidFill>
                  <a:srgbClr val="000000"/>
                </a:solidFill>
                <a:ea typeface="Pretendard Bold"/>
              </a:rPr>
              <a:t>로그인 페이지로 이동</a:t>
            </a:r>
            <a:endParaRPr lang="ko-KR" sz="35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15E8FF-AB66-1C19-C646-334624C2A2B8}"/>
              </a:ext>
            </a:extLst>
          </p:cNvPr>
          <p:cNvSpPr txBox="1"/>
          <p:nvPr/>
        </p:nvSpPr>
        <p:spPr>
          <a:xfrm>
            <a:off x="9431018" y="4495800"/>
            <a:ext cx="4305300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3500" dirty="0">
                <a:solidFill>
                  <a:srgbClr val="000000"/>
                </a:solidFill>
                <a:ea typeface="Pretendard Bold"/>
              </a:rPr>
              <a:t>예외처리</a:t>
            </a:r>
            <a:endParaRPr lang="ko-KR" sz="35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31F1A9-3BBE-8731-B81A-CFF9DB5F3274}"/>
              </a:ext>
            </a:extLst>
          </p:cNvPr>
          <p:cNvSpPr txBox="1"/>
          <p:nvPr/>
        </p:nvSpPr>
        <p:spPr>
          <a:xfrm>
            <a:off x="9452238" y="4978400"/>
            <a:ext cx="6397362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000" b="0" i="0" u="none" strike="noStrike" dirty="0">
                <a:solidFill>
                  <a:srgbClr val="717377"/>
                </a:solidFill>
                <a:latin typeface="Pretendard Regular"/>
              </a:rPr>
              <a:t>문제</a:t>
            </a:r>
            <a:r>
              <a:rPr lang="en-US" altLang="ko-KR" sz="2000" b="0" i="0" u="none" strike="noStrike" dirty="0">
                <a:solidFill>
                  <a:srgbClr val="717377"/>
                </a:solidFill>
                <a:latin typeface="Pretendard Regular"/>
              </a:rPr>
              <a:t>(</a:t>
            </a:r>
            <a:r>
              <a:rPr lang="ko-KR" altLang="en-US" sz="2000" b="0" i="0" u="none" strike="noStrike" dirty="0">
                <a:solidFill>
                  <a:srgbClr val="717377"/>
                </a:solidFill>
                <a:latin typeface="Pretendard Regular"/>
              </a:rPr>
              <a:t>예외</a:t>
            </a:r>
            <a:r>
              <a:rPr lang="en-US" altLang="ko-KR" sz="2000" b="0" i="0" u="none" strike="noStrike" dirty="0">
                <a:solidFill>
                  <a:srgbClr val="717377"/>
                </a:solidFill>
                <a:latin typeface="Pretendard Regular"/>
              </a:rPr>
              <a:t>)</a:t>
            </a:r>
            <a:r>
              <a:rPr lang="ko-KR" altLang="en-US" sz="2000" b="0" i="0" u="none" strike="noStrike" dirty="0">
                <a:solidFill>
                  <a:srgbClr val="717377"/>
                </a:solidFill>
                <a:latin typeface="Pretendard Regular"/>
              </a:rPr>
              <a:t>가 생기면 롤백 함수를 이용해 롤백 처리</a:t>
            </a:r>
            <a:endParaRPr lang="en-US" sz="20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F9F261-0772-0D87-AC9D-2AD23ADE725E}"/>
              </a:ext>
            </a:extLst>
          </p:cNvPr>
          <p:cNvSpPr txBox="1"/>
          <p:nvPr/>
        </p:nvSpPr>
        <p:spPr>
          <a:xfrm>
            <a:off x="9448800" y="3390900"/>
            <a:ext cx="6397362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>
              <a:lnSpc>
                <a:spcPct val="166000"/>
              </a:lnSpc>
              <a:buClr>
                <a:srgbClr val="717377"/>
              </a:buClr>
              <a:buFont typeface="Arial"/>
              <a:buChar char="●"/>
            </a:pP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회원가입이 정상처리 됐으면 </a:t>
            </a:r>
            <a:r>
              <a:rPr lang="en-US" altLang="ko-KR" sz="2000" dirty="0">
                <a:solidFill>
                  <a:srgbClr val="717377"/>
                </a:solidFill>
                <a:latin typeface="Pretendard Regular"/>
              </a:rPr>
              <a:t>03Login.jsp</a:t>
            </a:r>
            <a:r>
              <a:rPr lang="ko-KR" altLang="en-US" sz="2000" dirty="0">
                <a:solidFill>
                  <a:srgbClr val="717377"/>
                </a:solidFill>
                <a:latin typeface="Pretendard Regular"/>
              </a:rPr>
              <a:t>로 이동</a:t>
            </a:r>
            <a:endParaRPr lang="en-US" sz="20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829986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5511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62200" y="7429500"/>
            <a:ext cx="1905000" cy="1549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00200" y="6553200"/>
            <a:ext cx="228600" cy="228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00200" y="7988300"/>
            <a:ext cx="228600" cy="22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86100" y="6553200"/>
            <a:ext cx="228600" cy="22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30100" y="6223000"/>
            <a:ext cx="2616200" cy="889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최종 결과</a:t>
            </a:r>
            <a:endParaRPr lang="en-US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320800" y="1968500"/>
            <a:ext cx="3695700" cy="800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en-US" sz="4500" b="0" i="0" u="none" strike="noStrike" dirty="0">
                <a:solidFill>
                  <a:srgbClr val="C2C2C2"/>
                </a:solidFill>
                <a:latin typeface="Pretendard Medium"/>
              </a:rPr>
              <a:t>06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0800" y="2730500"/>
            <a:ext cx="12103100" cy="297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9600" dirty="0">
                <a:solidFill>
                  <a:srgbClr val="494A4E"/>
                </a:solidFill>
                <a:ea typeface="Pretendard Medium"/>
              </a:rPr>
              <a:t>최종 결과</a:t>
            </a:r>
            <a:endParaRPr lang="ko-KR" altLang="ko-KR" sz="9600" b="0" i="0" u="none" strike="noStrike" dirty="0">
              <a:solidFill>
                <a:srgbClr val="494A4E"/>
              </a:solidFill>
              <a:ea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30450870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582" y="4152900"/>
            <a:ext cx="16395700" cy="5143500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최종 결과</a:t>
            </a:r>
            <a:endParaRPr lang="en-US" altLang="ko-KR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34000" y="2108200"/>
            <a:ext cx="7620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ea typeface="Pretendard Bold"/>
              </a:rPr>
              <a:t>Index</a:t>
            </a: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16000" y="3263900"/>
            <a:ext cx="162433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200" b="0" i="0" u="none" strike="noStrike" dirty="0">
                <a:solidFill>
                  <a:srgbClr val="000000"/>
                </a:solidFill>
                <a:ea typeface="Pretendard Bold"/>
              </a:rPr>
              <a:t>로그인</a:t>
            </a:r>
            <a:r>
              <a:rPr lang="en-US" altLang="ko-KR" sz="3200" b="0" i="0" u="none" strike="noStrike" dirty="0">
                <a:solidFill>
                  <a:srgbClr val="000000"/>
                </a:solidFill>
                <a:ea typeface="Pretendard Bold"/>
              </a:rPr>
              <a:t>,</a:t>
            </a:r>
            <a:r>
              <a:rPr lang="ko-KR" altLang="en-US" sz="3200" b="0" i="0" u="none" strike="noStrike" dirty="0">
                <a:solidFill>
                  <a:srgbClr val="000000"/>
                </a:solidFill>
                <a:ea typeface="Pretendard Bold"/>
              </a:rPr>
              <a:t>회원가입 버튼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72BC400-9125-49D7-BC60-486FA767364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432" y="4656130"/>
            <a:ext cx="9000000" cy="413704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25815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최종 결과</a:t>
            </a:r>
            <a:endParaRPr lang="en-US" altLang="ko-KR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34000" y="2108200"/>
            <a:ext cx="7620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000" b="0" i="0" u="none" strike="noStrike" dirty="0">
                <a:solidFill>
                  <a:srgbClr val="000000"/>
                </a:solidFill>
                <a:ea typeface="Pretendard Bold"/>
              </a:rPr>
              <a:t>회원가입</a:t>
            </a: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16000" y="3263900"/>
            <a:ext cx="162433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200" b="0" i="0" u="none" strike="noStrike" dirty="0">
                <a:solidFill>
                  <a:srgbClr val="000000"/>
                </a:solidFill>
                <a:ea typeface="Pretendard Bold"/>
              </a:rPr>
              <a:t>로그인</a:t>
            </a:r>
            <a:r>
              <a:rPr lang="en-US" altLang="ko-KR" sz="3200" b="0" i="0" u="none" strike="noStrike" dirty="0">
                <a:solidFill>
                  <a:srgbClr val="000000"/>
                </a:solidFill>
                <a:ea typeface="Pretendard Bold"/>
              </a:rPr>
              <a:t>,</a:t>
            </a:r>
            <a:r>
              <a:rPr lang="ko-KR" altLang="en-US" sz="3200" b="0" i="0" u="none" strike="noStrike" dirty="0">
                <a:solidFill>
                  <a:srgbClr val="000000"/>
                </a:solidFill>
                <a:ea typeface="Pretendard Bold"/>
              </a:rPr>
              <a:t>회원가입 버튼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448800" y="4559300"/>
            <a:ext cx="7378700" cy="4165600"/>
          </a:xfrm>
          <a:prstGeom prst="rect">
            <a:avLst/>
          </a:prstGeom>
        </p:spPr>
        <p:txBody>
          <a:bodyPr lIns="0" tIns="0" rIns="0" bIns="0" rtlCol="0" anchor="t" anchorCtr="0"/>
          <a:lstStyle/>
          <a:p>
            <a:pPr lvl="0" algn="ctr">
              <a:lnSpc>
                <a:spcPct val="124499"/>
              </a:lnSpc>
            </a:pPr>
            <a:endParaRPr lang="en-US" sz="2200" b="0" i="0" u="none" strike="noStrike" dirty="0">
              <a:solidFill>
                <a:srgbClr val="717377"/>
              </a:solidFill>
              <a:latin typeface="Pretendard Regular"/>
            </a:endParaRPr>
          </a:p>
        </p:txBody>
      </p:sp>
      <p:pic>
        <p:nvPicPr>
          <p:cNvPr id="19" name="Picture 9">
            <a:extLst>
              <a:ext uri="{FF2B5EF4-FFF2-40B4-BE49-F238E27FC236}">
                <a16:creationId xmlns:a16="http://schemas.microsoft.com/office/drawing/2014/main" id="{5962508E-DAF9-447E-9A71-4CEE82F5BF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582" y="4152900"/>
            <a:ext cx="16395700" cy="5143500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3D355FD-A196-4417-890D-983BB25D5D0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827" y="4533900"/>
            <a:ext cx="7200000" cy="335829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1C57762-3EAA-4AE4-9C71-D004A45656F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796" y="8039100"/>
            <a:ext cx="4134062" cy="9588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939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582" y="4152900"/>
            <a:ext cx="16395700" cy="5143500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최종 결과</a:t>
            </a:r>
            <a:endParaRPr lang="en-US" altLang="ko-KR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34000" y="2108200"/>
            <a:ext cx="7620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4000" b="0" i="0" u="none" strike="noStrike" dirty="0">
                <a:solidFill>
                  <a:srgbClr val="000000"/>
                </a:solidFill>
                <a:ea typeface="Pretendard Bold"/>
              </a:rPr>
              <a:t>로그인</a:t>
            </a: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16000" y="3263900"/>
            <a:ext cx="162433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200" b="0" i="0" u="none" strike="noStrike" dirty="0">
                <a:solidFill>
                  <a:srgbClr val="000000"/>
                </a:solidFill>
                <a:ea typeface="Pretendard Bold"/>
              </a:rPr>
              <a:t>로그인</a:t>
            </a:r>
            <a:r>
              <a:rPr lang="en-US" altLang="ko-KR" sz="3200" b="0" i="0" u="none" strike="noStrike" dirty="0">
                <a:solidFill>
                  <a:srgbClr val="000000"/>
                </a:solidFill>
                <a:ea typeface="Pretendard Bold"/>
              </a:rPr>
              <a:t>,</a:t>
            </a:r>
            <a:r>
              <a:rPr lang="ko-KR" altLang="en-US" sz="3200" b="0" i="0" u="none" strike="noStrike" dirty="0">
                <a:solidFill>
                  <a:srgbClr val="000000"/>
                </a:solidFill>
                <a:ea typeface="Pretendard Bold"/>
              </a:rPr>
              <a:t>회원가입 버튼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4BE2381-4AC6-42F5-9AB6-2D2C6049F26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432" y="4650032"/>
            <a:ext cx="9000000" cy="414923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61061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582" y="4152900"/>
            <a:ext cx="16395700" cy="5143500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최종 결과</a:t>
            </a:r>
            <a:endParaRPr lang="en-US" altLang="ko-KR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34000" y="2108200"/>
            <a:ext cx="7620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ea typeface="Pretendard Bold"/>
              </a:rPr>
              <a:t>DB</a:t>
            </a: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16000" y="3263900"/>
            <a:ext cx="162433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200" b="0" i="0" u="none" strike="noStrike" dirty="0">
                <a:solidFill>
                  <a:srgbClr val="000000"/>
                </a:solidFill>
                <a:ea typeface="Pretendard Bold"/>
              </a:rPr>
              <a:t>회원가입 정보를 </a:t>
            </a:r>
            <a:r>
              <a:rPr lang="en-US" altLang="ko-KR" sz="3200" b="0" i="0" u="none" strike="noStrike" dirty="0">
                <a:solidFill>
                  <a:srgbClr val="000000"/>
                </a:solidFill>
                <a:ea typeface="Pretendard Bold"/>
              </a:rPr>
              <a:t>DB</a:t>
            </a:r>
            <a:r>
              <a:rPr lang="ko-KR" altLang="en-US" sz="3200" b="0" i="0" u="none" strike="noStrike" dirty="0">
                <a:solidFill>
                  <a:srgbClr val="000000"/>
                </a:solidFill>
                <a:ea typeface="Pretendard Bold"/>
              </a:rPr>
              <a:t>에 저장 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D5AC599-E240-4260-8072-180E387351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432" y="5300493"/>
            <a:ext cx="9000000" cy="284831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73809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1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1800"/>
            <a:ext cx="17360900" cy="9423400"/>
          </a:xfrm>
          <a:prstGeom prst="rect">
            <a:avLst/>
          </a:prstGeom>
          <a:effectLst>
            <a:outerShdw blurRad="1106733" dist="362644" dir="4020000">
              <a:srgbClr val="000000">
                <a:alpha val="50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1800"/>
            <a:ext cx="17360900" cy="90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9100" y="660400"/>
            <a:ext cx="7289800" cy="444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" y="774700"/>
            <a:ext cx="228600" cy="22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100" y="774700"/>
            <a:ext cx="228600" cy="228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3700" y="774700"/>
            <a:ext cx="228600" cy="22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6900" y="736600"/>
            <a:ext cx="228600" cy="279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582" y="4152900"/>
            <a:ext cx="16395700" cy="5143500"/>
          </a:xfrm>
          <a:prstGeom prst="rect">
            <a:avLst/>
          </a:prstGeom>
          <a:effectLst>
            <a:outerShdw blurRad="493242" dist="197671" dir="4020000">
              <a:srgbClr val="000000">
                <a:alpha val="20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6845300" y="698500"/>
            <a:ext cx="4597400" cy="355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000" b="0" i="0" u="none" strike="noStrike" dirty="0">
                <a:solidFill>
                  <a:srgbClr val="FFFFFF"/>
                </a:solidFill>
                <a:latin typeface="Pretendard Light"/>
              </a:rPr>
              <a:t>최종 결과</a:t>
            </a:r>
            <a:endParaRPr lang="en-US" altLang="ko-KR" sz="2000" b="0" i="0" u="none" strike="noStrike" dirty="0">
              <a:solidFill>
                <a:srgbClr val="FFFFFF"/>
              </a:solidFill>
              <a:latin typeface="Pretendard Ligh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34000" y="2108200"/>
            <a:ext cx="76200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altLang="ko-KR" sz="4000" b="0" i="0" u="none" strike="noStrike" dirty="0">
                <a:solidFill>
                  <a:srgbClr val="000000"/>
                </a:solidFill>
                <a:ea typeface="Pretendard Bold"/>
              </a:rPr>
              <a:t>ROLLBACK </a:t>
            </a:r>
            <a:r>
              <a:rPr lang="ko-KR" altLang="en-US" sz="4000" b="0" i="0" u="none" strike="noStrike" dirty="0">
                <a:solidFill>
                  <a:srgbClr val="000000"/>
                </a:solidFill>
                <a:ea typeface="Pretendard Bold"/>
              </a:rPr>
              <a:t>처리</a:t>
            </a:r>
            <a:endParaRPr lang="ko-KR" sz="4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16000" y="3263900"/>
            <a:ext cx="162433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altLang="en-US" sz="3000" b="0" i="0" u="none" strike="noStrike" dirty="0">
                <a:solidFill>
                  <a:srgbClr val="494A4E"/>
                </a:solidFill>
                <a:latin typeface="Pretendard Medium"/>
              </a:rPr>
              <a:t>회원가입 유효성검사 실패 시 롤백</a:t>
            </a:r>
            <a:endParaRPr lang="en-US" sz="3000" b="0" i="0" u="none" strike="noStrike" dirty="0">
              <a:solidFill>
                <a:srgbClr val="494A4E"/>
              </a:solidFill>
              <a:latin typeface="Pretendard Medium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AC8B626-279B-4A71-AA4E-27407D646713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650" y="4381500"/>
            <a:ext cx="7200000" cy="336531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AC9B79E-C8E5-4E9B-991F-59FBF75135B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510" y="7975410"/>
            <a:ext cx="4464279" cy="98430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2897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1221</Words>
  <Application>Microsoft Office PowerPoint</Application>
  <PresentationFormat>사용자 지정</PresentationFormat>
  <Paragraphs>252</Paragraphs>
  <Slides>34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4" baseType="lpstr">
      <vt:lpstr>Pretendard Medium</vt:lpstr>
      <vt:lpstr>Pretendard Bold</vt:lpstr>
      <vt:lpstr>Consolas</vt:lpstr>
      <vt:lpstr>맑은 고딕</vt:lpstr>
      <vt:lpstr>Pretendard Regular</vt:lpstr>
      <vt:lpstr>Arial</vt:lpstr>
      <vt:lpstr>Calibri</vt:lpstr>
      <vt:lpstr>Pretendard Light</vt:lpstr>
      <vt:lpstr>NanumSquareNeo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FullName</cp:lastModifiedBy>
  <cp:revision>33</cp:revision>
  <dcterms:created xsi:type="dcterms:W3CDTF">2006-08-16T00:00:00Z</dcterms:created>
  <dcterms:modified xsi:type="dcterms:W3CDTF">2025-09-01T04:42:27Z</dcterms:modified>
</cp:coreProperties>
</file>