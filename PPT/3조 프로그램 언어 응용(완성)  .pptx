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1" r:id="rId4"/>
    <p:sldId id="272" r:id="rId5"/>
    <p:sldId id="273" r:id="rId6"/>
    <p:sldId id="258" r:id="rId7"/>
    <p:sldId id="282" r:id="rId8"/>
    <p:sldId id="280" r:id="rId9"/>
    <p:sldId id="281" r:id="rId10"/>
    <p:sldId id="279" r:id="rId11"/>
    <p:sldId id="278" r:id="rId12"/>
    <p:sldId id="269" r:id="rId13"/>
    <p:sldId id="274" r:id="rId14"/>
    <p:sldId id="283" r:id="rId15"/>
  </p:sldIdLst>
  <p:sldSz cx="18288000" cy="10287000"/>
  <p:notesSz cx="6858000" cy="9144000"/>
  <p:embeddedFontLst>
    <p:embeddedFont>
      <p:font typeface="Pretendard Bold" panose="020B0600000101010101" charset="-127"/>
      <p:bold r:id="rId16"/>
    </p:embeddedFont>
    <p:embeddedFont>
      <p:font typeface="Pretendard Light" panose="020B0600000101010101" charset="-127"/>
      <p:regular r:id="rId17"/>
    </p:embeddedFont>
    <p:embeddedFont>
      <p:font typeface="Pretendard Medium" panose="020B0600000101010101" charset="-127"/>
      <p:bold r:id="rId18"/>
    </p:embeddedFont>
    <p:embeddedFont>
      <p:font typeface="Pretendard Regular" panose="020B0600000101010101" charset="-127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맑은 고딕" panose="020B0503020000020004" pitchFamily="50" charset="-127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73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5" autoAdjust="0"/>
    <p:restoredTop sz="94622" autoAdjust="0"/>
  </p:normalViewPr>
  <p:slideViewPr>
    <p:cSldViewPr>
      <p:cViewPr varScale="1">
        <p:scale>
          <a:sx n="70" d="100"/>
          <a:sy n="70" d="100"/>
        </p:scale>
        <p:origin x="47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9.png"/><Relationship Id="rId5" Type="http://schemas.openxmlformats.org/officeDocument/2006/relationships/image" Target="../media/image4.png"/><Relationship Id="rId10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1.png"/><Relationship Id="rId5" Type="http://schemas.openxmlformats.org/officeDocument/2006/relationships/image" Target="../media/image4.png"/><Relationship Id="rId10" Type="http://schemas.openxmlformats.org/officeDocument/2006/relationships/image" Target="../media/image20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30.png"/><Relationship Id="rId5" Type="http://schemas.openxmlformats.org/officeDocument/2006/relationships/image" Target="../media/image5.png"/><Relationship Id="rId10" Type="http://schemas.openxmlformats.org/officeDocument/2006/relationships/image" Target="../media/image29.png"/><Relationship Id="rId4" Type="http://schemas.openxmlformats.org/officeDocument/2006/relationships/image" Target="../media/image4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38.png"/><Relationship Id="rId4" Type="http://schemas.openxmlformats.org/officeDocument/2006/relationships/image" Target="../media/image3.png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1.png"/><Relationship Id="rId5" Type="http://schemas.openxmlformats.org/officeDocument/2006/relationships/image" Target="../media/image4.png"/><Relationship Id="rId10" Type="http://schemas.openxmlformats.org/officeDocument/2006/relationships/image" Target="../media/image40.png"/><Relationship Id="rId4" Type="http://schemas.openxmlformats.org/officeDocument/2006/relationships/image" Target="../media/image3.png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3700" y="6350000"/>
            <a:ext cx="1193800" cy="1193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0" y="6350000"/>
            <a:ext cx="1181100" cy="1181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74300" y="6985000"/>
            <a:ext cx="673100" cy="596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45900" y="6489700"/>
            <a:ext cx="914400" cy="914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5500" y="6781800"/>
            <a:ext cx="1003300" cy="10033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sng" strike="noStrike" dirty="0">
                <a:solidFill>
                  <a:srgbClr val="FFFFFF"/>
                </a:solidFill>
                <a:latin typeface="Pretendard Light"/>
              </a:rPr>
              <a:t>Title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35300" y="3670300"/>
            <a:ext cx="122301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500" b="0" i="0" u="none" strike="noStrike">
                <a:solidFill>
                  <a:srgbClr val="494A4E"/>
                </a:solidFill>
                <a:latin typeface="Pretendard Medium"/>
              </a:rPr>
              <a:t>3</a:t>
            </a:r>
            <a:r>
              <a:rPr lang="ko-KR" sz="4500" b="0" i="0" u="none" strike="noStrike">
                <a:solidFill>
                  <a:srgbClr val="494A4E"/>
                </a:solidFill>
                <a:ea typeface="Pretendard Medium"/>
              </a:rPr>
              <a:t>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71800" y="4457700"/>
            <a:ext cx="123444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9000" b="0" i="0" u="none" strike="noStrike">
                <a:solidFill>
                  <a:srgbClr val="000000"/>
                </a:solidFill>
                <a:ea typeface="Pretendard Bold"/>
              </a:rPr>
              <a:t>프로그램</a:t>
            </a:r>
            <a:r>
              <a:rPr lang="en-US" sz="9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9000" b="0" i="0" u="none" strike="noStrike">
                <a:solidFill>
                  <a:srgbClr val="000000"/>
                </a:solidFill>
                <a:ea typeface="Pretendard Bold"/>
              </a:rPr>
              <a:t>언어</a:t>
            </a:r>
            <a:r>
              <a:rPr lang="en-US" sz="9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9000" b="0" i="0" u="none" strike="noStrike">
                <a:solidFill>
                  <a:srgbClr val="000000"/>
                </a:solidFill>
                <a:ea typeface="Pretendard Bold"/>
              </a:rPr>
              <a:t>응용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" y="8102600"/>
            <a:ext cx="1003300" cy="889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sng" strike="noStrike" dirty="0">
                <a:solidFill>
                  <a:srgbClr val="FFFFFF"/>
                </a:solidFill>
                <a:latin typeface="Pretendard Light"/>
              </a:rPr>
              <a:t>Index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10300" y="3924300"/>
            <a:ext cx="21082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200" b="0" i="0" u="none" strike="noStrike">
                <a:solidFill>
                  <a:srgbClr val="242629"/>
                </a:solidFill>
                <a:ea typeface="Pretendard Bold"/>
              </a:rPr>
              <a:t>목차</a:t>
            </a:r>
            <a:r>
              <a:rPr lang="en-US" sz="3200" b="0" i="0" u="none" strike="noStrike">
                <a:solidFill>
                  <a:srgbClr val="242629"/>
                </a:solidFill>
                <a:latin typeface="Pretendard Bold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37600" y="3924300"/>
            <a:ext cx="8788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200" b="0" i="0" u="none" strike="noStrike" dirty="0">
                <a:solidFill>
                  <a:srgbClr val="494A4E"/>
                </a:solidFill>
                <a:ea typeface="Pretendard Medium"/>
              </a:rPr>
              <a:t>1</a:t>
            </a:r>
            <a:r>
              <a:rPr lang="ko-KR" altLang="en-US" sz="3200" b="0" i="0" u="none" strike="noStrike" dirty="0">
                <a:solidFill>
                  <a:srgbClr val="494A4E"/>
                </a:solidFill>
                <a:ea typeface="Pretendard Medium"/>
              </a:rPr>
              <a:t>번 문제 속성 및 결과확인 </a:t>
            </a:r>
            <a:endParaRPr lang="ko-KR" sz="3200" b="0" i="0" u="none" strike="noStrike" dirty="0">
              <a:solidFill>
                <a:srgbClr val="494A4E"/>
              </a:solidFill>
              <a:ea typeface="Pretendard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210300" y="5041900"/>
            <a:ext cx="21082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200" b="0" i="0" u="none" strike="noStrike">
                <a:solidFill>
                  <a:srgbClr val="242629"/>
                </a:solidFill>
                <a:ea typeface="Pretendard Bold"/>
              </a:rPr>
              <a:t>목차</a:t>
            </a:r>
            <a:r>
              <a:rPr lang="en-US" sz="3200" b="0" i="0" u="none" strike="noStrike">
                <a:solidFill>
                  <a:srgbClr val="242629"/>
                </a:solidFill>
                <a:latin typeface="Pretendard Bold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37600" y="5041900"/>
            <a:ext cx="8788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200" b="0" i="0" u="none" strike="noStrike" dirty="0">
                <a:solidFill>
                  <a:srgbClr val="494A4E"/>
                </a:solidFill>
                <a:ea typeface="Pretendard Medium"/>
              </a:rPr>
              <a:t>2</a:t>
            </a:r>
            <a:r>
              <a:rPr lang="ko-KR" altLang="en-US" sz="3200" b="0" i="0" u="none" strike="noStrike" dirty="0">
                <a:solidFill>
                  <a:srgbClr val="494A4E"/>
                </a:solidFill>
                <a:ea typeface="Pretendard Medium"/>
              </a:rPr>
              <a:t>번 문제 </a:t>
            </a:r>
            <a:r>
              <a:rPr lang="en-US" altLang="ko-KR" sz="3200" b="0" i="0" u="none" strike="noStrike" dirty="0">
                <a:solidFill>
                  <a:srgbClr val="494A4E"/>
                </a:solidFill>
                <a:ea typeface="Pretendard Medium"/>
              </a:rPr>
              <a:t>DB</a:t>
            </a:r>
            <a:r>
              <a:rPr lang="ko-KR" altLang="en-US" sz="3200" b="0" i="0" u="none" strike="noStrike" dirty="0">
                <a:solidFill>
                  <a:srgbClr val="494A4E"/>
                </a:solidFill>
                <a:ea typeface="Pretendard Medium"/>
              </a:rPr>
              <a:t>연결 및 코딩 작업결과 </a:t>
            </a:r>
            <a:endParaRPr lang="ko-KR" sz="3200" b="0" i="0" u="none" strike="noStrike" dirty="0">
              <a:solidFill>
                <a:srgbClr val="494A4E"/>
              </a:solidFill>
              <a:ea typeface="Pretendard Mediu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20800" y="2019300"/>
            <a:ext cx="3695700" cy="800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>
                <a:solidFill>
                  <a:srgbClr val="C2C2C2"/>
                </a:solidFill>
                <a:latin typeface="Pretendard Medium"/>
              </a:rPr>
              <a:t>INDEX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0800" y="2730500"/>
            <a:ext cx="38100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9000" b="0" i="0" u="none" strike="noStrike">
                <a:solidFill>
                  <a:srgbClr val="000000"/>
                </a:solidFill>
                <a:ea typeface="Pretendard Bold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1800" cy="5511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62200" y="7429500"/>
            <a:ext cx="1905000" cy="1549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0200" y="65532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00200" y="79883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86100" y="6553200"/>
            <a:ext cx="228600" cy="228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30100" y="6223000"/>
            <a:ext cx="2616200" cy="889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 b="0" i="0" u="sng" strike="noStrike" dirty="0">
                <a:solidFill>
                  <a:srgbClr val="FFFFFF"/>
                </a:solidFill>
                <a:latin typeface="Pretendard Light"/>
              </a:rPr>
              <a:t>문제</a:t>
            </a:r>
            <a:r>
              <a:rPr lang="en-US" altLang="ko-KR" sz="2000" u="sng" dirty="0">
                <a:solidFill>
                  <a:srgbClr val="FFFFFF"/>
                </a:solidFill>
                <a:latin typeface="Pretendard Light"/>
              </a:rPr>
              <a:t> 1</a:t>
            </a:r>
            <a:endParaRPr lang="en-US" sz="2000" b="0" i="0" u="sng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20800" y="1968500"/>
            <a:ext cx="36957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>
                <a:solidFill>
                  <a:srgbClr val="C2C2C2"/>
                </a:solidFill>
                <a:latin typeface="Pretendard Medium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0800" y="2730500"/>
            <a:ext cx="12103100" cy="194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9000" b="0" i="0" u="none" strike="noStrike" dirty="0">
                <a:solidFill>
                  <a:srgbClr val="000000"/>
                </a:solidFill>
                <a:latin typeface="Pretendard Bold"/>
              </a:rPr>
              <a:t>문제 </a:t>
            </a:r>
            <a:r>
              <a:rPr lang="en-US" altLang="ko-KR" sz="9000" b="0" i="0" u="none" strike="noStrike" dirty="0">
                <a:solidFill>
                  <a:srgbClr val="000000"/>
                </a:solidFill>
                <a:latin typeface="Pretendard Bold"/>
              </a:rPr>
              <a:t>1</a:t>
            </a:r>
            <a:endParaRPr lang="en-US" sz="9000" b="0" i="0" u="none" strike="noStrike" dirty="0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20800" y="7416800"/>
            <a:ext cx="8458200" cy="154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200" b="0" i="0" u="none" strike="noStrike" dirty="0">
                <a:solidFill>
                  <a:srgbClr val="C2C2C2"/>
                </a:solidFill>
                <a:latin typeface="Pretendard Medium"/>
              </a:rPr>
              <a:t>코드의 부족한 부분을 채워 결과값 도출하기</a:t>
            </a:r>
            <a:endParaRPr lang="en-US" sz="3200" b="0" i="0" u="none" strike="noStrike" dirty="0">
              <a:solidFill>
                <a:srgbClr val="C2C2C2"/>
              </a:solidFill>
              <a:latin typeface="Pretendar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27" name="Picture 9">
            <a:extLst>
              <a:ext uri="{FF2B5EF4-FFF2-40B4-BE49-F238E27FC236}">
                <a16:creationId xmlns:a16="http://schemas.microsoft.com/office/drawing/2014/main" id="{AF68C720-0BAC-4F9C-BA3A-8755FC7754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62" y="1638300"/>
            <a:ext cx="17027776" cy="8106553"/>
          </a:xfrm>
          <a:prstGeom prst="rect">
            <a:avLst/>
          </a:prstGeom>
          <a:effectLst>
            <a:outerShdw blurRad="493242" dist="197671" dir="4020000">
              <a:srgbClr val="000000">
                <a:alpha val="20000"/>
              </a:srgbClr>
            </a:outerShdw>
          </a:effectLst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 u="sng" dirty="0">
                <a:solidFill>
                  <a:srgbClr val="FFFFFF"/>
                </a:solidFill>
                <a:latin typeface="Pretendard Light"/>
              </a:rPr>
              <a:t>문제 </a:t>
            </a:r>
            <a:r>
              <a:rPr lang="en-US" altLang="ko-KR" sz="2000" u="sng" dirty="0">
                <a:solidFill>
                  <a:srgbClr val="FFFFFF"/>
                </a:solidFill>
                <a:latin typeface="Pretendard Light"/>
              </a:rPr>
              <a:t>1 </a:t>
            </a:r>
            <a:r>
              <a:rPr lang="ko-KR" altLang="en-US" sz="2000" u="sng" dirty="0">
                <a:solidFill>
                  <a:srgbClr val="FFFFFF"/>
                </a:solidFill>
                <a:latin typeface="Pretendard Light"/>
              </a:rPr>
              <a:t> 전체 코드</a:t>
            </a:r>
            <a:r>
              <a:rPr lang="en-US" altLang="ko-KR" sz="2000" u="sng" dirty="0">
                <a:solidFill>
                  <a:srgbClr val="FFFFFF"/>
                </a:solidFill>
                <a:latin typeface="Pretendard Light"/>
              </a:rPr>
              <a:t> </a:t>
            </a:r>
            <a:endParaRPr lang="en-US" sz="2000" b="0" i="0" u="sng" strike="noStrike" dirty="0">
              <a:solidFill>
                <a:srgbClr val="FFFFFF"/>
              </a:solidFill>
              <a:latin typeface="Pretendard Ligh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8D5E3B-3237-419B-B03F-F74E2F3281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800" y="2603500"/>
            <a:ext cx="8166100" cy="66548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FC6C167-B755-4F8E-A00F-AF942DD47C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96400" y="2628900"/>
            <a:ext cx="8166100" cy="66548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62B6E90-4856-4450-98BD-35B8B8DA63C1}"/>
              </a:ext>
            </a:extLst>
          </p:cNvPr>
          <p:cNvSpPr txBox="1"/>
          <p:nvPr/>
        </p:nvSpPr>
        <p:spPr>
          <a:xfrm>
            <a:off x="2266950" y="1943100"/>
            <a:ext cx="52578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700" b="1" i="0" u="sng" dirty="0">
                <a:effectLst/>
                <a:latin typeface="+mj-ea"/>
                <a:ea typeface="+mj-ea"/>
              </a:rPr>
              <a:t>속성 </a:t>
            </a:r>
            <a:r>
              <a:rPr lang="en-US" altLang="ko-KR" sz="1700" b="1" i="0" u="sng" dirty="0">
                <a:effectLst/>
                <a:latin typeface="+mj-ea"/>
                <a:ea typeface="+mj-ea"/>
              </a:rPr>
              <a:t>(</a:t>
            </a:r>
            <a:r>
              <a:rPr lang="en-US" altLang="ko-KR" sz="1700" b="1" i="0" u="sng" dirty="0" err="1">
                <a:effectLst/>
                <a:latin typeface="+mj-ea"/>
                <a:ea typeface="+mj-ea"/>
              </a:rPr>
              <a:t>sc</a:t>
            </a:r>
            <a:r>
              <a:rPr lang="en-US" altLang="ko-KR" sz="1700" b="1" i="0" u="sng" dirty="0">
                <a:effectLst/>
                <a:latin typeface="+mj-ea"/>
                <a:ea typeface="+mj-ea"/>
              </a:rPr>
              <a:t> = </a:t>
            </a:r>
            <a:r>
              <a:rPr lang="ko-KR" altLang="en-US" sz="1700" b="1" i="0" u="sng" dirty="0">
                <a:effectLst/>
                <a:latin typeface="+mj-ea"/>
                <a:ea typeface="+mj-ea"/>
              </a:rPr>
              <a:t>키보드 </a:t>
            </a:r>
            <a:r>
              <a:rPr lang="ko-KR" altLang="en-US" sz="1700" b="1" i="0" u="sng" dirty="0" err="1">
                <a:effectLst/>
                <a:latin typeface="+mj-ea"/>
                <a:ea typeface="+mj-ea"/>
              </a:rPr>
              <a:t>값받기</a:t>
            </a:r>
            <a:r>
              <a:rPr lang="ko-KR" altLang="en-US" sz="1700" b="1" i="0" u="sng" dirty="0">
                <a:effectLst/>
                <a:latin typeface="+mj-ea"/>
                <a:ea typeface="+mj-ea"/>
              </a:rPr>
              <a:t> </a:t>
            </a:r>
            <a:r>
              <a:rPr lang="en-US" altLang="ko-KR" sz="1700" b="1" i="0" u="sng" dirty="0">
                <a:effectLst/>
                <a:latin typeface="+mj-ea"/>
                <a:ea typeface="+mj-ea"/>
              </a:rPr>
              <a:t>, </a:t>
            </a:r>
            <a:r>
              <a:rPr lang="en-US" altLang="ko-KR" sz="1700" b="1" i="0" u="sng" dirty="0" err="1">
                <a:effectLst/>
                <a:latin typeface="+mj-ea"/>
                <a:ea typeface="+mj-ea"/>
              </a:rPr>
              <a:t>wordList</a:t>
            </a:r>
            <a:r>
              <a:rPr lang="en-US" altLang="ko-KR" sz="1700" b="1" i="0" u="sng" dirty="0">
                <a:effectLst/>
                <a:latin typeface="+mj-ea"/>
                <a:ea typeface="+mj-ea"/>
              </a:rPr>
              <a:t> : </a:t>
            </a:r>
            <a:r>
              <a:rPr lang="ko-KR" altLang="en-US" sz="1700" b="1" i="0" u="sng" dirty="0">
                <a:effectLst/>
                <a:latin typeface="+mj-ea"/>
                <a:ea typeface="+mj-ea"/>
              </a:rPr>
              <a:t>단어 저장</a:t>
            </a:r>
            <a:r>
              <a:rPr lang="en-US" altLang="ko-KR" sz="1700" b="1" i="0" u="sng" dirty="0">
                <a:effectLst/>
                <a:latin typeface="+mj-ea"/>
                <a:ea typeface="+mj-ea"/>
              </a:rPr>
              <a:t>)</a:t>
            </a:r>
            <a:endParaRPr lang="ko-KR" altLang="en-US" sz="1700" b="1" u="sng" dirty="0"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F706BB-3708-4154-85D3-BFA7F721A7CC}"/>
              </a:ext>
            </a:extLst>
          </p:cNvPr>
          <p:cNvSpPr txBox="1"/>
          <p:nvPr/>
        </p:nvSpPr>
        <p:spPr>
          <a:xfrm>
            <a:off x="9500441" y="1943100"/>
            <a:ext cx="79620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700" b="1" u="sng" dirty="0">
                <a:latin typeface="+mj-ea"/>
                <a:ea typeface="+mj-ea"/>
              </a:rPr>
              <a:t>함수</a:t>
            </a:r>
            <a:r>
              <a:rPr lang="en-US" altLang="ko-KR" sz="1700" b="1" u="sng" dirty="0">
                <a:latin typeface="+mj-ea"/>
                <a:ea typeface="+mj-ea"/>
              </a:rPr>
              <a:t>(sort : </a:t>
            </a:r>
            <a:r>
              <a:rPr lang="ko-KR" altLang="en-US" sz="1700" b="1" u="sng" dirty="0">
                <a:latin typeface="+mj-ea"/>
                <a:ea typeface="+mj-ea"/>
              </a:rPr>
              <a:t>오름차순</a:t>
            </a:r>
            <a:r>
              <a:rPr lang="en-US" altLang="ko-KR" sz="1700" b="1" u="sng" dirty="0">
                <a:latin typeface="+mj-ea"/>
                <a:ea typeface="+mj-ea"/>
              </a:rPr>
              <a:t>/</a:t>
            </a:r>
            <a:r>
              <a:rPr lang="ko-KR" altLang="en-US" sz="1700" b="1" u="sng" dirty="0">
                <a:latin typeface="+mj-ea"/>
                <a:ea typeface="+mj-ea"/>
              </a:rPr>
              <a:t>내림차순 정렬 </a:t>
            </a:r>
            <a:r>
              <a:rPr lang="en-US" altLang="ko-KR" sz="1700" b="1" u="sng" dirty="0">
                <a:latin typeface="+mj-ea"/>
                <a:ea typeface="+mj-ea"/>
              </a:rPr>
              <a:t>, add : </a:t>
            </a:r>
            <a:r>
              <a:rPr lang="ko-KR" altLang="en-US" sz="1700" b="1" u="sng" dirty="0">
                <a:latin typeface="+mj-ea"/>
                <a:ea typeface="+mj-ea"/>
              </a:rPr>
              <a:t>단어추가 </a:t>
            </a:r>
            <a:r>
              <a:rPr lang="en-US" altLang="ko-KR" sz="1700" b="1" u="sng" dirty="0">
                <a:latin typeface="+mj-ea"/>
                <a:ea typeface="+mj-ea"/>
              </a:rPr>
              <a:t>, show : </a:t>
            </a:r>
            <a:r>
              <a:rPr lang="ko-KR" altLang="en-US" sz="1700" b="1" u="sng" dirty="0">
                <a:latin typeface="+mj-ea"/>
                <a:ea typeface="+mj-ea"/>
              </a:rPr>
              <a:t>저장된 단어 확인</a:t>
            </a:r>
            <a:r>
              <a:rPr lang="en-US" altLang="ko-KR" sz="1700" b="1" u="sng" dirty="0">
                <a:latin typeface="+mj-ea"/>
                <a:ea typeface="+mj-ea"/>
              </a:rPr>
              <a:t>)</a:t>
            </a:r>
            <a:endParaRPr lang="ko-KR" altLang="en-US" sz="1700" b="1" u="sng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44030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>
            <a:extLst>
              <a:ext uri="{FF2B5EF4-FFF2-40B4-BE49-F238E27FC236}">
                <a16:creationId xmlns:a16="http://schemas.microsoft.com/office/drawing/2014/main" id="{1C39581B-CF85-408E-BA5B-C1A158577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4191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1" name="Picture 8">
            <a:extLst>
              <a:ext uri="{FF2B5EF4-FFF2-40B4-BE49-F238E27FC236}">
                <a16:creationId xmlns:a16="http://schemas.microsoft.com/office/drawing/2014/main" id="{3F0CADD9-2568-4F58-B904-B6C9AC132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419100"/>
            <a:ext cx="17360900" cy="901700"/>
          </a:xfrm>
          <a:prstGeom prst="rect">
            <a:avLst/>
          </a:prstGeom>
        </p:spPr>
      </p:pic>
      <p:pic>
        <p:nvPicPr>
          <p:cNvPr id="32" name="Picture 9">
            <a:extLst>
              <a:ext uri="{FF2B5EF4-FFF2-40B4-BE49-F238E27FC236}">
                <a16:creationId xmlns:a16="http://schemas.microsoft.com/office/drawing/2014/main" id="{212284B0-ADC2-4810-99D5-5A0A4145C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800" y="647700"/>
            <a:ext cx="7289800" cy="444500"/>
          </a:xfrm>
          <a:prstGeom prst="rect">
            <a:avLst/>
          </a:prstGeom>
        </p:spPr>
      </p:pic>
      <p:pic>
        <p:nvPicPr>
          <p:cNvPr id="33" name="Picture 10">
            <a:extLst>
              <a:ext uri="{FF2B5EF4-FFF2-40B4-BE49-F238E27FC236}">
                <a16:creationId xmlns:a16="http://schemas.microsoft.com/office/drawing/2014/main" id="{A46070D2-6CCA-4A1E-BD2C-F5FEF5FAF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762000"/>
            <a:ext cx="228600" cy="228600"/>
          </a:xfrm>
          <a:prstGeom prst="rect">
            <a:avLst/>
          </a:prstGeom>
        </p:spPr>
      </p:pic>
      <p:pic>
        <p:nvPicPr>
          <p:cNvPr id="34" name="Picture 11">
            <a:extLst>
              <a:ext uri="{FF2B5EF4-FFF2-40B4-BE49-F238E27FC236}">
                <a16:creationId xmlns:a16="http://schemas.microsoft.com/office/drawing/2014/main" id="{F03B7D6E-9D89-4DE4-A5FB-B95FDA5DBD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0800" y="762000"/>
            <a:ext cx="228600" cy="228600"/>
          </a:xfrm>
          <a:prstGeom prst="rect">
            <a:avLst/>
          </a:prstGeom>
        </p:spPr>
      </p:pic>
      <p:pic>
        <p:nvPicPr>
          <p:cNvPr id="35" name="Picture 12">
            <a:extLst>
              <a:ext uri="{FF2B5EF4-FFF2-40B4-BE49-F238E27FC236}">
                <a16:creationId xmlns:a16="http://schemas.microsoft.com/office/drawing/2014/main" id="{D4922E9C-2A6A-42CB-AD64-91621A2D32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6400" y="762000"/>
            <a:ext cx="228600" cy="228600"/>
          </a:xfrm>
          <a:prstGeom prst="rect">
            <a:avLst/>
          </a:prstGeom>
        </p:spPr>
      </p:pic>
      <p:pic>
        <p:nvPicPr>
          <p:cNvPr id="36" name="Picture 13">
            <a:extLst>
              <a:ext uri="{FF2B5EF4-FFF2-40B4-BE49-F238E27FC236}">
                <a16:creationId xmlns:a16="http://schemas.microsoft.com/office/drawing/2014/main" id="{7851A186-5F5B-4A54-938E-0ED2951F8D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19600" y="723900"/>
            <a:ext cx="228600" cy="279400"/>
          </a:xfrm>
          <a:prstGeom prst="rect">
            <a:avLst/>
          </a:prstGeom>
        </p:spPr>
      </p:pic>
      <p:sp>
        <p:nvSpPr>
          <p:cNvPr id="37" name="TextBox 15">
            <a:extLst>
              <a:ext uri="{FF2B5EF4-FFF2-40B4-BE49-F238E27FC236}">
                <a16:creationId xmlns:a16="http://schemas.microsoft.com/office/drawing/2014/main" id="{67977083-68E0-4BFC-8298-A3A2CF092D8D}"/>
              </a:ext>
            </a:extLst>
          </p:cNvPr>
          <p:cNvSpPr txBox="1"/>
          <p:nvPr/>
        </p:nvSpPr>
        <p:spPr>
          <a:xfrm>
            <a:off x="6858000" y="6858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 u="sng" dirty="0">
                <a:solidFill>
                  <a:srgbClr val="FFFFFF"/>
                </a:solidFill>
                <a:latin typeface="Pretendard Light"/>
              </a:rPr>
              <a:t>메뉴확인</a:t>
            </a:r>
            <a:endParaRPr lang="en-US" sz="2000" b="0" i="0" u="sng" strike="noStrike" dirty="0">
              <a:solidFill>
                <a:srgbClr val="FFFFFF"/>
              </a:solidFill>
              <a:latin typeface="Pretendard Light"/>
            </a:endParaRPr>
          </a:p>
        </p:txBody>
      </p:sp>
      <p:pic>
        <p:nvPicPr>
          <p:cNvPr id="26" name="Picture 9">
            <a:extLst>
              <a:ext uri="{FF2B5EF4-FFF2-40B4-BE49-F238E27FC236}">
                <a16:creationId xmlns:a16="http://schemas.microsoft.com/office/drawing/2014/main" id="{B6DB9DC2-494C-41E0-ACA0-3FFB59AD83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658" y="1621647"/>
            <a:ext cx="4223253" cy="8017653"/>
          </a:xfrm>
          <a:prstGeom prst="rect">
            <a:avLst/>
          </a:prstGeom>
          <a:effectLst>
            <a:outerShdw blurRad="493242" dist="197671" dir="4020000">
              <a:srgbClr val="000000">
                <a:alpha val="20000"/>
              </a:srgbClr>
            </a:outerShdw>
          </a:effectLst>
        </p:spPr>
      </p:pic>
      <p:sp>
        <p:nvSpPr>
          <p:cNvPr id="17" name="TextBox 39">
            <a:extLst>
              <a:ext uri="{FF2B5EF4-FFF2-40B4-BE49-F238E27FC236}">
                <a16:creationId xmlns:a16="http://schemas.microsoft.com/office/drawing/2014/main" id="{9A0E75F6-7F15-4C60-9A50-75E2109CBE6A}"/>
              </a:ext>
            </a:extLst>
          </p:cNvPr>
          <p:cNvSpPr txBox="1"/>
          <p:nvPr/>
        </p:nvSpPr>
        <p:spPr>
          <a:xfrm>
            <a:off x="1053657" y="1877865"/>
            <a:ext cx="4223253" cy="52512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00" b="0" i="0" dirty="0">
                <a:solidFill>
                  <a:srgbClr val="212529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결과 확인 </a:t>
            </a:r>
            <a:r>
              <a:rPr lang="en-US" altLang="ko-KR" sz="2400" b="0" i="0" dirty="0">
                <a:solidFill>
                  <a:srgbClr val="212529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(</a:t>
            </a:r>
            <a:r>
              <a:rPr lang="ko-KR" altLang="en-US" sz="2400" b="0" i="0" dirty="0">
                <a:solidFill>
                  <a:srgbClr val="212529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단어 추가 </a:t>
            </a:r>
            <a:r>
              <a:rPr lang="en-US" altLang="ko-KR" sz="2400" b="0" i="0" dirty="0">
                <a:solidFill>
                  <a:srgbClr val="212529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/ </a:t>
            </a:r>
            <a:r>
              <a:rPr lang="ko-KR" altLang="en-US" sz="2400" b="0" i="0" dirty="0">
                <a:solidFill>
                  <a:srgbClr val="212529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단어 확인</a:t>
            </a:r>
            <a:r>
              <a:rPr lang="en-US" altLang="ko-KR" sz="2400" b="0" i="0" dirty="0">
                <a:solidFill>
                  <a:srgbClr val="212529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)</a:t>
            </a:r>
            <a:endParaRPr lang="ko-KR" sz="24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27" name="Picture 9">
            <a:extLst>
              <a:ext uri="{FF2B5EF4-FFF2-40B4-BE49-F238E27FC236}">
                <a16:creationId xmlns:a16="http://schemas.microsoft.com/office/drawing/2014/main" id="{BEDB0512-B41F-4CF6-BF6E-3BC61E60B5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82600" y="1621647"/>
            <a:ext cx="4223253" cy="8017653"/>
          </a:xfrm>
          <a:prstGeom prst="rect">
            <a:avLst/>
          </a:prstGeom>
          <a:effectLst>
            <a:outerShdw blurRad="493242" dist="197671" dir="4020000">
              <a:srgbClr val="000000">
                <a:alpha val="20000"/>
              </a:srgbClr>
            </a:outerShdw>
          </a:effectLst>
        </p:spPr>
      </p:pic>
      <p:sp>
        <p:nvSpPr>
          <p:cNvPr id="23" name="TextBox 39">
            <a:extLst>
              <a:ext uri="{FF2B5EF4-FFF2-40B4-BE49-F238E27FC236}">
                <a16:creationId xmlns:a16="http://schemas.microsoft.com/office/drawing/2014/main" id="{87192DF0-A5B1-443A-A5B5-9345E1429DF2}"/>
              </a:ext>
            </a:extLst>
          </p:cNvPr>
          <p:cNvSpPr txBox="1"/>
          <p:nvPr/>
        </p:nvSpPr>
        <p:spPr>
          <a:xfrm>
            <a:off x="13182599" y="1867165"/>
            <a:ext cx="4223254" cy="53313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00" b="0" i="0" u="none" strike="noStrike" dirty="0">
                <a:solidFill>
                  <a:srgbClr val="000000"/>
                </a:solidFill>
                <a:ea typeface="Pretendard Bold"/>
              </a:rPr>
              <a:t>메뉴 종료</a:t>
            </a:r>
            <a:endParaRPr lang="ko-KR" sz="24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pic>
        <p:nvPicPr>
          <p:cNvPr id="28" name="Picture 9">
            <a:extLst>
              <a:ext uri="{FF2B5EF4-FFF2-40B4-BE49-F238E27FC236}">
                <a16:creationId xmlns:a16="http://schemas.microsoft.com/office/drawing/2014/main" id="{C9474E6C-1F4D-42DD-AA5B-9AA10ECCD7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0102" y="1621647"/>
            <a:ext cx="7607987" cy="8017653"/>
          </a:xfrm>
          <a:prstGeom prst="rect">
            <a:avLst/>
          </a:prstGeom>
          <a:effectLst>
            <a:outerShdw blurRad="493242" dist="197671" dir="4020000">
              <a:srgbClr val="000000">
                <a:alpha val="20000"/>
              </a:srgbClr>
            </a:outerShdw>
          </a:effectLst>
        </p:spPr>
      </p:pic>
      <p:sp>
        <p:nvSpPr>
          <p:cNvPr id="18" name="TextBox 39">
            <a:extLst>
              <a:ext uri="{FF2B5EF4-FFF2-40B4-BE49-F238E27FC236}">
                <a16:creationId xmlns:a16="http://schemas.microsoft.com/office/drawing/2014/main" id="{57B87646-0074-4D45-956A-1D6664B8A0D2}"/>
              </a:ext>
            </a:extLst>
          </p:cNvPr>
          <p:cNvSpPr txBox="1"/>
          <p:nvPr/>
        </p:nvSpPr>
        <p:spPr>
          <a:xfrm>
            <a:off x="5420102" y="1866900"/>
            <a:ext cx="7607988" cy="5204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00" b="0" i="0" dirty="0">
                <a:solidFill>
                  <a:srgbClr val="212529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오름차순 </a:t>
            </a:r>
            <a:r>
              <a:rPr lang="en-US" altLang="ko-KR" sz="2400" b="0" i="0" dirty="0">
                <a:solidFill>
                  <a:srgbClr val="212529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/ </a:t>
            </a:r>
            <a:r>
              <a:rPr lang="ko-KR" altLang="en-US" sz="2400" b="0" i="0" dirty="0">
                <a:solidFill>
                  <a:srgbClr val="212529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내림차순 확인</a:t>
            </a:r>
            <a:endParaRPr lang="ko-KR" sz="24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8927EE0-E1EE-44C4-8835-44A9363FBB3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000" y="2552699"/>
            <a:ext cx="3886200" cy="678180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B247A42-381D-4221-81CE-5B497F14D4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9659" y="2552699"/>
            <a:ext cx="3546661" cy="4191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6FF5D33-D37F-459A-ADE0-8DE4920B994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31139" y="2552699"/>
            <a:ext cx="3546661" cy="4191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7F7A5CB-90FC-42D0-A0A9-98DE0BC5F3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182599" y="2552699"/>
            <a:ext cx="4092827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1800" cy="5511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62200" y="7429500"/>
            <a:ext cx="1905000" cy="1549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0200" y="65532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00200" y="79883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86100" y="6553200"/>
            <a:ext cx="228600" cy="228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30100" y="6223000"/>
            <a:ext cx="2616200" cy="889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 b="0" i="0" u="sng" strike="noStrike" dirty="0">
                <a:solidFill>
                  <a:srgbClr val="FFFFFF"/>
                </a:solidFill>
                <a:latin typeface="Pretendard Light"/>
              </a:rPr>
              <a:t>문제 </a:t>
            </a:r>
            <a:r>
              <a:rPr lang="en-US" altLang="ko-KR" sz="2000" b="0" i="0" u="sng" strike="noStrike" dirty="0">
                <a:solidFill>
                  <a:srgbClr val="FFFFFF"/>
                </a:solidFill>
                <a:latin typeface="Pretendard Light"/>
              </a:rPr>
              <a:t>2</a:t>
            </a:r>
            <a:endParaRPr lang="en-US" sz="2000" b="0" i="0" u="sng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20800" y="1968500"/>
            <a:ext cx="36957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dirty="0">
                <a:solidFill>
                  <a:srgbClr val="C2C2C2"/>
                </a:solidFill>
                <a:latin typeface="Pretendard Medium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0800" y="2730500"/>
            <a:ext cx="12103100" cy="297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9000" b="0" i="0" u="none" strike="noStrike" dirty="0">
                <a:solidFill>
                  <a:srgbClr val="000000"/>
                </a:solidFill>
                <a:latin typeface="Pretendard Bold"/>
              </a:rPr>
              <a:t>문제 </a:t>
            </a:r>
            <a:r>
              <a:rPr lang="en-US" altLang="ko-KR" sz="9000" b="0" i="0" u="none" strike="noStrike" dirty="0">
                <a:solidFill>
                  <a:srgbClr val="000000"/>
                </a:solidFill>
                <a:latin typeface="Pretendard Bold"/>
              </a:rPr>
              <a:t>2</a:t>
            </a:r>
            <a:endParaRPr lang="en-US" sz="9000" b="0" i="0" u="none" strike="noStrike" dirty="0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20800" y="7416800"/>
            <a:ext cx="8458200" cy="154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200" dirty="0">
                <a:solidFill>
                  <a:srgbClr val="C2C2C2"/>
                </a:solidFill>
                <a:latin typeface="Pretendard Medium"/>
                <a:ea typeface="Pretendard Medium"/>
              </a:rPr>
              <a:t>코드에 </a:t>
            </a:r>
            <a:r>
              <a:rPr lang="ko-KR" altLang="en-US" sz="3200" dirty="0" err="1">
                <a:solidFill>
                  <a:srgbClr val="C2C2C2"/>
                </a:solidFill>
                <a:latin typeface="Pretendard Medium"/>
                <a:ea typeface="Pretendard Medium"/>
              </a:rPr>
              <a:t>주석달기</a:t>
            </a:r>
            <a:endParaRPr lang="en-US" altLang="ko-KR" sz="3200" dirty="0">
              <a:solidFill>
                <a:srgbClr val="C2C2C2"/>
              </a:solidFill>
              <a:latin typeface="Pretendard Medium"/>
              <a:ea typeface="Pretendard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0515" y="429548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200" y="3429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698500"/>
            <a:ext cx="3873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sng" strike="noStrike" dirty="0">
                <a:solidFill>
                  <a:srgbClr val="FFFFFF"/>
                </a:solidFill>
                <a:latin typeface="Pretendard Light"/>
              </a:rPr>
              <a:t>Connector/J </a:t>
            </a:r>
            <a:r>
              <a:rPr lang="ko-KR" altLang="en-US" sz="2000" b="0" i="0" u="sng" strike="noStrike" dirty="0">
                <a:solidFill>
                  <a:srgbClr val="FFFFFF"/>
                </a:solidFill>
                <a:latin typeface="Pretendard Light"/>
              </a:rPr>
              <a:t>생성</a:t>
            </a:r>
            <a:endParaRPr lang="en-US" altLang="ko-KR" sz="2000" b="0" i="0" u="sng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058400" y="2108200"/>
            <a:ext cx="721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058400" y="4622800"/>
            <a:ext cx="71882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en-US" sz="30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58400" y="5753100"/>
            <a:ext cx="7175500" cy="323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en-US" sz="26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FB61A4F1-2574-44CF-80A0-110DE92B0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"/>
            <a:ext cx="8483600" cy="901700"/>
          </a:xfrm>
          <a:prstGeom prst="rect">
            <a:avLst/>
          </a:prstGeom>
        </p:spPr>
      </p:pic>
      <p:pic>
        <p:nvPicPr>
          <p:cNvPr id="25" name="Picture 5">
            <a:extLst>
              <a:ext uri="{FF2B5EF4-FFF2-40B4-BE49-F238E27FC236}">
                <a16:creationId xmlns:a16="http://schemas.microsoft.com/office/drawing/2014/main" id="{84BDB740-6A6B-4D9C-B0BF-CF2930785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1" y="774700"/>
            <a:ext cx="228600" cy="228600"/>
          </a:xfrm>
          <a:prstGeom prst="rect">
            <a:avLst/>
          </a:prstGeom>
        </p:spPr>
      </p:pic>
      <p:pic>
        <p:nvPicPr>
          <p:cNvPr id="26" name="Picture 6">
            <a:extLst>
              <a:ext uri="{FF2B5EF4-FFF2-40B4-BE49-F238E27FC236}">
                <a16:creationId xmlns:a16="http://schemas.microsoft.com/office/drawing/2014/main" id="{A6004159-478E-4B90-B697-27DF416CF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801" y="774700"/>
            <a:ext cx="228600" cy="228600"/>
          </a:xfrm>
          <a:prstGeom prst="rect">
            <a:avLst/>
          </a:prstGeom>
        </p:spPr>
      </p:pic>
      <p:pic>
        <p:nvPicPr>
          <p:cNvPr id="27" name="Picture 7">
            <a:extLst>
              <a:ext uri="{FF2B5EF4-FFF2-40B4-BE49-F238E27FC236}">
                <a16:creationId xmlns:a16="http://schemas.microsoft.com/office/drawing/2014/main" id="{FF828467-2BD2-4BE3-8AD0-8CC5284F9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401" y="774700"/>
            <a:ext cx="228600" cy="228600"/>
          </a:xfrm>
          <a:prstGeom prst="rect">
            <a:avLst/>
          </a:prstGeom>
        </p:spPr>
      </p:pic>
      <p:pic>
        <p:nvPicPr>
          <p:cNvPr id="28" name="Picture 9">
            <a:extLst>
              <a:ext uri="{FF2B5EF4-FFF2-40B4-BE49-F238E27FC236}">
                <a16:creationId xmlns:a16="http://schemas.microsoft.com/office/drawing/2014/main" id="{75C87827-48A7-43C1-9727-4BE8967593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8901" y="660400"/>
            <a:ext cx="4191000" cy="4445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FB9BE3D-12A8-48E4-AAB7-CDF2F2C1BE87}"/>
              </a:ext>
            </a:extLst>
          </p:cNvPr>
          <p:cNvSpPr txBox="1"/>
          <p:nvPr/>
        </p:nvSpPr>
        <p:spPr>
          <a:xfrm>
            <a:off x="2787650" y="660400"/>
            <a:ext cx="386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sng" strike="noStrike" dirty="0">
                <a:solidFill>
                  <a:srgbClr val="FFFFFF"/>
                </a:solidFill>
                <a:latin typeface="Pretendard Light"/>
              </a:rPr>
              <a:t>Connector/J </a:t>
            </a:r>
            <a:r>
              <a:rPr lang="ko-KR" altLang="en-US" sz="2000" b="0" i="0" u="sng" strike="noStrike" dirty="0">
                <a:solidFill>
                  <a:srgbClr val="FFFFFF"/>
                </a:solidFill>
                <a:latin typeface="Pretendard Light"/>
              </a:rPr>
              <a:t>다운로드</a:t>
            </a:r>
            <a:endParaRPr lang="en-US" altLang="ko-KR" sz="2000" b="0" i="0" u="sng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1A4BA2-23E8-46AA-9DEC-1E2E81EFED70}"/>
              </a:ext>
            </a:extLst>
          </p:cNvPr>
          <p:cNvSpPr txBox="1"/>
          <p:nvPr/>
        </p:nvSpPr>
        <p:spPr>
          <a:xfrm>
            <a:off x="469900" y="1384195"/>
            <a:ext cx="8467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9600"/>
              </a:lnSpc>
            </a:pPr>
            <a:r>
              <a:rPr lang="en-US" altLang="ko-KR" sz="1800" u="sng" dirty="0">
                <a:latin typeface="Pretendard Bold" panose="020B0600000101010101" charset="-127"/>
                <a:ea typeface="Pretendard Bold" panose="020B0600000101010101" charset="-127"/>
              </a:rPr>
              <a:t>MySQL Community Downloads </a:t>
            </a:r>
            <a:r>
              <a:rPr lang="ko-KR" altLang="en-US" sz="1800" u="sng" dirty="0">
                <a:latin typeface="Pretendard Bold" panose="020B0600000101010101" charset="-127"/>
                <a:ea typeface="Pretendard Bold" panose="020B0600000101010101" charset="-127"/>
              </a:rPr>
              <a:t>에서 </a:t>
            </a:r>
            <a:r>
              <a:rPr lang="en-US" altLang="ko-KR" sz="1800" u="sng" dirty="0">
                <a:latin typeface="Pretendard Bold" panose="020B0600000101010101" charset="-127"/>
                <a:ea typeface="Pretendard Bold" panose="020B0600000101010101" charset="-127"/>
              </a:rPr>
              <a:t>Connector/J </a:t>
            </a:r>
            <a:r>
              <a:rPr lang="ko-KR" altLang="en-US" sz="1800" u="sng" dirty="0">
                <a:latin typeface="Pretendard Bold" panose="020B0600000101010101" charset="-127"/>
                <a:ea typeface="Pretendard Bold" panose="020B0600000101010101" charset="-127"/>
              </a:rPr>
              <a:t>클릭</a:t>
            </a:r>
            <a:endParaRPr lang="en-US" altLang="ko-KR" sz="1800" b="0" i="0" u="sng" strike="noStrike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C87DDB-49C1-4B1F-AFED-5C96C1E3789D}"/>
              </a:ext>
            </a:extLst>
          </p:cNvPr>
          <p:cNvSpPr txBox="1"/>
          <p:nvPr/>
        </p:nvSpPr>
        <p:spPr>
          <a:xfrm>
            <a:off x="447815" y="5219700"/>
            <a:ext cx="84675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9600"/>
              </a:lnSpc>
            </a:pPr>
            <a:r>
              <a:rPr lang="en-US" altLang="ko-KR" sz="1800" b="0" i="0" u="sng" strike="noStrike" dirty="0">
                <a:latin typeface="Pretendard Bold" panose="020B0600000101010101" charset="-127"/>
                <a:ea typeface="Pretendard Bold" panose="020B0600000101010101" charset="-127"/>
              </a:rPr>
              <a:t>Select Operating System </a:t>
            </a:r>
            <a:r>
              <a:rPr lang="ko-KR" altLang="en-US" sz="1800" b="0" i="0" u="sng" strike="noStrike" dirty="0">
                <a:latin typeface="Pretendard Bold" panose="020B0600000101010101" charset="-127"/>
                <a:ea typeface="Pretendard Bold" panose="020B0600000101010101" charset="-127"/>
              </a:rPr>
              <a:t>에서 </a:t>
            </a:r>
            <a:r>
              <a:rPr lang="en-US" altLang="ko-KR" b="1" i="0" dirty="0">
                <a:solidFill>
                  <a:srgbClr val="333333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Platform Independent </a:t>
            </a:r>
            <a:r>
              <a:rPr lang="ko-KR" altLang="en-US" b="1" dirty="0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설정</a:t>
            </a:r>
            <a:r>
              <a:rPr lang="ko-KR" altLang="en-US" b="1" i="0" dirty="0">
                <a:solidFill>
                  <a:srgbClr val="333333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 후 </a:t>
            </a:r>
            <a:endParaRPr lang="en-US" altLang="ko-KR" b="1" i="0" dirty="0">
              <a:solidFill>
                <a:srgbClr val="333333"/>
              </a:solidFill>
              <a:effectLst/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99600"/>
              </a:lnSpc>
            </a:pPr>
            <a:r>
              <a:rPr lang="en-US" altLang="ko-KR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Platform Independent (Architecture Independent), ZIP Archive</a:t>
            </a:r>
            <a:r>
              <a:rPr lang="en-US" altLang="ko-KR" b="1" dirty="0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ko-KR" altLang="en-US" b="1" dirty="0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다운로드</a:t>
            </a:r>
            <a:r>
              <a:rPr lang="en-US" altLang="ko-KR" b="1" i="0" dirty="0">
                <a:solidFill>
                  <a:srgbClr val="333333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 </a:t>
            </a:r>
            <a:endParaRPr lang="en-US" altLang="ko-KR" sz="1800" b="0" i="0" u="sng" strike="noStrike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C974FD4-1D64-4DD6-AAE7-7FB1E9A4BA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5942231"/>
            <a:ext cx="8470900" cy="368436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2C83892-BF6B-4B66-A9F1-A31D80F2E9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899" y="1829727"/>
            <a:ext cx="8470899" cy="3389973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A5DE35A5-9195-4AD6-9DA8-5E74766FDD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202" y="1875948"/>
            <a:ext cx="8483598" cy="341995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5E448F2-024F-4146-A1C5-04C69992C1F0}"/>
              </a:ext>
            </a:extLst>
          </p:cNvPr>
          <p:cNvSpPr txBox="1"/>
          <p:nvPr/>
        </p:nvSpPr>
        <p:spPr>
          <a:xfrm>
            <a:off x="9363215" y="1345168"/>
            <a:ext cx="8467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9600"/>
              </a:lnSpc>
            </a:pPr>
            <a:r>
              <a:rPr lang="ko-KR" altLang="en-US" b="0" i="0" u="sng" strike="noStrike" dirty="0">
                <a:latin typeface="Pretendard Bold" panose="020B0600000101010101" charset="-127"/>
                <a:ea typeface="Pretendard Bold" panose="020B0600000101010101" charset="-127"/>
              </a:rPr>
              <a:t>압축해제 한 </a:t>
            </a:r>
            <a:r>
              <a:rPr lang="en-US" altLang="ko-KR" b="0" i="0" u="sng" strike="noStrike" dirty="0">
                <a:latin typeface="Pretendard Bold" panose="020B0600000101010101" charset="-127"/>
                <a:ea typeface="Pretendard Bold" panose="020B0600000101010101" charset="-127"/>
              </a:rPr>
              <a:t>Mysql-connector-j-9.4.0.jar</a:t>
            </a:r>
            <a:r>
              <a:rPr lang="ko-KR" altLang="en-US" b="0" i="0" u="sng" strike="noStrike" dirty="0">
                <a:latin typeface="Pretendard Bold" panose="020B0600000101010101" charset="-127"/>
                <a:ea typeface="Pretendard Bold" panose="020B0600000101010101" charset="-127"/>
              </a:rPr>
              <a:t>파일을</a:t>
            </a:r>
            <a:endParaRPr lang="en-US" altLang="ko-KR" sz="1800" b="0" i="0" u="sng" strike="noStrike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BB4D4F-69FC-4079-9DE4-BC15E8CAB99F}"/>
              </a:ext>
            </a:extLst>
          </p:cNvPr>
          <p:cNvSpPr txBox="1"/>
          <p:nvPr/>
        </p:nvSpPr>
        <p:spPr>
          <a:xfrm>
            <a:off x="12877800" y="5764768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u="sng" strike="noStrike" dirty="0">
                <a:latin typeface="Pretendard Bold" panose="020B0600000101010101" charset="-127"/>
                <a:ea typeface="Pretendard Bold" panose="020B0600000101010101" charset="-127"/>
              </a:rPr>
              <a:t>드래그</a:t>
            </a:r>
            <a:r>
              <a:rPr lang="en-US" altLang="ko-KR" b="0" i="0" u="sng" strike="noStrike" dirty="0">
                <a:latin typeface="Pretendard Bold" panose="020B0600000101010101" charset="-127"/>
                <a:ea typeface="Pretendard Bold" panose="020B0600000101010101" charset="-127"/>
              </a:rPr>
              <a:t>&amp;</a:t>
            </a:r>
            <a:r>
              <a:rPr lang="ko-KR" altLang="en-US" b="0" i="0" u="sng" strike="noStrike" dirty="0">
                <a:latin typeface="Pretendard Bold" panose="020B0600000101010101" charset="-127"/>
                <a:ea typeface="Pretendard Bold" panose="020B0600000101010101" charset="-127"/>
              </a:rPr>
              <a:t>드랍</a:t>
            </a:r>
            <a:endParaRPr lang="ko-KR" altLang="en-US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6CBB181-D296-4C1E-9EA8-368055D415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91725" y="6139324"/>
            <a:ext cx="6848475" cy="285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07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0515" y="429548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200" y="3429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698500"/>
            <a:ext cx="3873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sng" strike="noStrike" dirty="0">
                <a:solidFill>
                  <a:srgbClr val="FFFFFF"/>
                </a:solidFill>
                <a:latin typeface="Pretendard Light"/>
              </a:rPr>
              <a:t>DB</a:t>
            </a:r>
            <a:r>
              <a:rPr lang="ko-KR" altLang="en-US" sz="2000" b="0" i="0" u="sng" strike="noStrike" dirty="0">
                <a:solidFill>
                  <a:srgbClr val="FFFFFF"/>
                </a:solidFill>
                <a:latin typeface="Pretendard Light"/>
              </a:rPr>
              <a:t>연결</a:t>
            </a:r>
            <a:endParaRPr lang="en-US" altLang="ko-KR" sz="2000" b="0" i="0" u="sng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058400" y="2108200"/>
            <a:ext cx="721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058400" y="4622800"/>
            <a:ext cx="71882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en-US" sz="30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58400" y="5753100"/>
            <a:ext cx="7175500" cy="323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en-US" sz="26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FB61A4F1-2574-44CF-80A0-110DE92B0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"/>
            <a:ext cx="8483600" cy="901700"/>
          </a:xfrm>
          <a:prstGeom prst="rect">
            <a:avLst/>
          </a:prstGeom>
        </p:spPr>
      </p:pic>
      <p:pic>
        <p:nvPicPr>
          <p:cNvPr id="25" name="Picture 5">
            <a:extLst>
              <a:ext uri="{FF2B5EF4-FFF2-40B4-BE49-F238E27FC236}">
                <a16:creationId xmlns:a16="http://schemas.microsoft.com/office/drawing/2014/main" id="{84BDB740-6A6B-4D9C-B0BF-CF2930785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1" y="774700"/>
            <a:ext cx="228600" cy="228600"/>
          </a:xfrm>
          <a:prstGeom prst="rect">
            <a:avLst/>
          </a:prstGeom>
        </p:spPr>
      </p:pic>
      <p:pic>
        <p:nvPicPr>
          <p:cNvPr id="26" name="Picture 6">
            <a:extLst>
              <a:ext uri="{FF2B5EF4-FFF2-40B4-BE49-F238E27FC236}">
                <a16:creationId xmlns:a16="http://schemas.microsoft.com/office/drawing/2014/main" id="{A6004159-478E-4B90-B697-27DF416CF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801" y="774700"/>
            <a:ext cx="228600" cy="228600"/>
          </a:xfrm>
          <a:prstGeom prst="rect">
            <a:avLst/>
          </a:prstGeom>
        </p:spPr>
      </p:pic>
      <p:pic>
        <p:nvPicPr>
          <p:cNvPr id="27" name="Picture 7">
            <a:extLst>
              <a:ext uri="{FF2B5EF4-FFF2-40B4-BE49-F238E27FC236}">
                <a16:creationId xmlns:a16="http://schemas.microsoft.com/office/drawing/2014/main" id="{FF828467-2BD2-4BE3-8AD0-8CC5284F9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401" y="774700"/>
            <a:ext cx="228600" cy="228600"/>
          </a:xfrm>
          <a:prstGeom prst="rect">
            <a:avLst/>
          </a:prstGeom>
        </p:spPr>
      </p:pic>
      <p:pic>
        <p:nvPicPr>
          <p:cNvPr id="28" name="Picture 9">
            <a:extLst>
              <a:ext uri="{FF2B5EF4-FFF2-40B4-BE49-F238E27FC236}">
                <a16:creationId xmlns:a16="http://schemas.microsoft.com/office/drawing/2014/main" id="{75C87827-48A7-43C1-9727-4BE8967593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8901" y="660400"/>
            <a:ext cx="4191000" cy="4445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FB9BE3D-12A8-48E4-AAB7-CDF2F2C1BE87}"/>
              </a:ext>
            </a:extLst>
          </p:cNvPr>
          <p:cNvSpPr txBox="1"/>
          <p:nvPr/>
        </p:nvSpPr>
        <p:spPr>
          <a:xfrm>
            <a:off x="2787650" y="660400"/>
            <a:ext cx="386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sng" strike="noStrike" dirty="0">
                <a:solidFill>
                  <a:srgbClr val="FFFFFF"/>
                </a:solidFill>
                <a:latin typeface="Pretendard Light"/>
              </a:rPr>
              <a:t>DB</a:t>
            </a:r>
            <a:r>
              <a:rPr lang="ko-KR" altLang="en-US" sz="2000" b="0" i="0" u="sng" strike="noStrike" dirty="0">
                <a:solidFill>
                  <a:srgbClr val="FFFFFF"/>
                </a:solidFill>
                <a:latin typeface="Pretendard Light"/>
              </a:rPr>
              <a:t>연결</a:t>
            </a:r>
            <a:endParaRPr lang="en-US" altLang="ko-KR" sz="2000" b="0" i="0" u="sng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CC2143-24DA-44B2-B048-B53174FB9F7F}"/>
              </a:ext>
            </a:extLst>
          </p:cNvPr>
          <p:cNvSpPr txBox="1"/>
          <p:nvPr/>
        </p:nvSpPr>
        <p:spPr>
          <a:xfrm>
            <a:off x="453885" y="1540014"/>
            <a:ext cx="84996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u="sng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DB</a:t>
            </a:r>
            <a:r>
              <a:rPr lang="ko-KR" altLang="en-US" sz="4000" u="sng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연결</a:t>
            </a:r>
            <a:endParaRPr lang="ko-KR" altLang="en-US" sz="40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03F02C22-7EAB-44CB-8078-62385528A2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66122"/>
            <a:ext cx="8178800" cy="70104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FDB2A5F-4B75-44DD-B169-69F5E2679EA0}"/>
              </a:ext>
            </a:extLst>
          </p:cNvPr>
          <p:cNvSpPr txBox="1"/>
          <p:nvPr/>
        </p:nvSpPr>
        <p:spPr>
          <a:xfrm>
            <a:off x="10458450" y="5091380"/>
            <a:ext cx="6375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9600"/>
              </a:lnSpc>
            </a:pPr>
            <a:r>
              <a:rPr lang="en-US" altLang="ko-KR" sz="2000" u="sng" dirty="0" err="1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jdbc</a:t>
            </a:r>
            <a:r>
              <a:rPr lang="ko-KR" altLang="en-US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를 이용하여 </a:t>
            </a:r>
            <a:r>
              <a:rPr lang="en-US" altLang="ko-KR" sz="2000" dirty="0" err="1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mysql</a:t>
            </a:r>
            <a:r>
              <a:rPr lang="en-US" altLang="ko-KR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 DB</a:t>
            </a:r>
            <a:r>
              <a:rPr lang="ko-KR" altLang="en-US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에 연결</a:t>
            </a:r>
            <a:endParaRPr lang="en-US" altLang="ko-KR" sz="2000" dirty="0">
              <a:solidFill>
                <a:srgbClr val="212529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99600"/>
              </a:lnSpc>
            </a:pPr>
            <a:r>
              <a:rPr lang="en-US" altLang="ko-KR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id = root</a:t>
            </a:r>
          </a:p>
          <a:p>
            <a:pPr lvl="0" algn="ctr">
              <a:lnSpc>
                <a:spcPct val="99600"/>
              </a:lnSpc>
            </a:pPr>
            <a:r>
              <a:rPr lang="en-US" altLang="ko-KR" sz="2000" u="none" strike="noStrike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pw = 1234</a:t>
            </a:r>
          </a:p>
          <a:p>
            <a:pPr lvl="0" algn="ctr">
              <a:lnSpc>
                <a:spcPct val="99600"/>
              </a:lnSpc>
            </a:pPr>
            <a:r>
              <a:rPr lang="en-US" altLang="ko-KR" sz="2000" dirty="0" err="1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url</a:t>
            </a:r>
            <a:r>
              <a:rPr lang="en-US" altLang="ko-KR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 = </a:t>
            </a:r>
            <a:r>
              <a:rPr lang="en-US" altLang="ko-KR" sz="2000" dirty="0" err="1">
                <a:effectLst/>
                <a:latin typeface="Pretendard Bold" panose="020B0600000101010101" charset="-127"/>
                <a:ea typeface="Pretendard Bold" panose="020B0600000101010101" charset="-127"/>
              </a:rPr>
              <a:t>jdbc:mysql</a:t>
            </a:r>
            <a:r>
              <a:rPr lang="en-US" altLang="ko-KR" sz="2000" dirty="0">
                <a:effectLst/>
                <a:latin typeface="Pretendard Bold" panose="020B0600000101010101" charset="-127"/>
                <a:ea typeface="Pretendard Bold" panose="020B0600000101010101" charset="-127"/>
              </a:rPr>
              <a:t>://localhost:3306/</a:t>
            </a:r>
            <a:r>
              <a:rPr lang="en-US" altLang="ko-KR" sz="2000" dirty="0" err="1">
                <a:effectLst/>
                <a:latin typeface="Pretendard Bold" panose="020B0600000101010101" charset="-127"/>
                <a:ea typeface="Pretendard Bold" panose="020B0600000101010101" charset="-127"/>
              </a:rPr>
              <a:t>tmpdb</a:t>
            </a:r>
            <a:endParaRPr lang="en-US" altLang="ko-KR" sz="2000" u="none" strike="noStrike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121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0515" y="429548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200" y="3429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698500"/>
            <a:ext cx="3873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sng" strike="noStrike" dirty="0">
                <a:solidFill>
                  <a:srgbClr val="FFFFFF"/>
                </a:solidFill>
                <a:latin typeface="Pretendard Light"/>
              </a:rPr>
              <a:t>select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58400" y="2108200"/>
            <a:ext cx="721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058400" y="4622800"/>
            <a:ext cx="71882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en-US" sz="30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58400" y="5753100"/>
            <a:ext cx="7175500" cy="323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en-US" sz="26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FB61A4F1-2574-44CF-80A0-110DE92B0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"/>
            <a:ext cx="8483600" cy="901700"/>
          </a:xfrm>
          <a:prstGeom prst="rect">
            <a:avLst/>
          </a:prstGeom>
        </p:spPr>
      </p:pic>
      <p:pic>
        <p:nvPicPr>
          <p:cNvPr id="25" name="Picture 5">
            <a:extLst>
              <a:ext uri="{FF2B5EF4-FFF2-40B4-BE49-F238E27FC236}">
                <a16:creationId xmlns:a16="http://schemas.microsoft.com/office/drawing/2014/main" id="{84BDB740-6A6B-4D9C-B0BF-CF2930785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1" y="774700"/>
            <a:ext cx="228600" cy="228600"/>
          </a:xfrm>
          <a:prstGeom prst="rect">
            <a:avLst/>
          </a:prstGeom>
        </p:spPr>
      </p:pic>
      <p:pic>
        <p:nvPicPr>
          <p:cNvPr id="26" name="Picture 6">
            <a:extLst>
              <a:ext uri="{FF2B5EF4-FFF2-40B4-BE49-F238E27FC236}">
                <a16:creationId xmlns:a16="http://schemas.microsoft.com/office/drawing/2014/main" id="{A6004159-478E-4B90-B697-27DF416CF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801" y="774700"/>
            <a:ext cx="228600" cy="228600"/>
          </a:xfrm>
          <a:prstGeom prst="rect">
            <a:avLst/>
          </a:prstGeom>
        </p:spPr>
      </p:pic>
      <p:pic>
        <p:nvPicPr>
          <p:cNvPr id="27" name="Picture 7">
            <a:extLst>
              <a:ext uri="{FF2B5EF4-FFF2-40B4-BE49-F238E27FC236}">
                <a16:creationId xmlns:a16="http://schemas.microsoft.com/office/drawing/2014/main" id="{FF828467-2BD2-4BE3-8AD0-8CC5284F9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401" y="774700"/>
            <a:ext cx="228600" cy="228600"/>
          </a:xfrm>
          <a:prstGeom prst="rect">
            <a:avLst/>
          </a:prstGeom>
        </p:spPr>
      </p:pic>
      <p:pic>
        <p:nvPicPr>
          <p:cNvPr id="28" name="Picture 9">
            <a:extLst>
              <a:ext uri="{FF2B5EF4-FFF2-40B4-BE49-F238E27FC236}">
                <a16:creationId xmlns:a16="http://schemas.microsoft.com/office/drawing/2014/main" id="{75C87827-48A7-43C1-9727-4BE8967593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8901" y="660400"/>
            <a:ext cx="4191000" cy="4445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FB9BE3D-12A8-48E4-AAB7-CDF2F2C1BE87}"/>
              </a:ext>
            </a:extLst>
          </p:cNvPr>
          <p:cNvSpPr txBox="1"/>
          <p:nvPr/>
        </p:nvSpPr>
        <p:spPr>
          <a:xfrm>
            <a:off x="2787650" y="660400"/>
            <a:ext cx="386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9600"/>
              </a:lnSpc>
            </a:pPr>
            <a:r>
              <a:rPr lang="en-US" altLang="ko-KR" sz="2000" u="sng" dirty="0" err="1">
                <a:solidFill>
                  <a:srgbClr val="FFFFFF"/>
                </a:solidFill>
                <a:latin typeface="Pretendard Light"/>
              </a:rPr>
              <a:t>selectAll</a:t>
            </a:r>
            <a:endParaRPr lang="en-US" altLang="ko-KR" sz="2000" b="0" i="0" u="sng" strike="noStrike" dirty="0">
              <a:solidFill>
                <a:srgbClr val="FFFFFF"/>
              </a:solidFill>
              <a:latin typeface="Pretendard Light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98EBC0D2-1A55-4638-9878-B0CB5B232F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52700"/>
            <a:ext cx="7759700" cy="6096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253EC1A-F69B-4ECF-95CC-B148C5DC4C67}"/>
              </a:ext>
            </a:extLst>
          </p:cNvPr>
          <p:cNvSpPr txBox="1"/>
          <p:nvPr/>
        </p:nvSpPr>
        <p:spPr>
          <a:xfrm>
            <a:off x="838200" y="1790700"/>
            <a:ext cx="77597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u="sng" dirty="0" err="1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selectAll</a:t>
            </a:r>
            <a:endParaRPr lang="ko-KR" altLang="en-US" sz="4000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98A3FA63-184E-4407-926E-9298339CFC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2552700"/>
            <a:ext cx="7759700" cy="6096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22BE6F1-3B2A-4DDC-97D6-9CBA11A7445D}"/>
              </a:ext>
            </a:extLst>
          </p:cNvPr>
          <p:cNvSpPr txBox="1"/>
          <p:nvPr/>
        </p:nvSpPr>
        <p:spPr>
          <a:xfrm>
            <a:off x="9829800" y="1790700"/>
            <a:ext cx="7772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u="sng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select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532252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0515" y="429548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200" y="3429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698500"/>
            <a:ext cx="3873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u="sng" dirty="0">
                <a:solidFill>
                  <a:srgbClr val="FFFFFF"/>
                </a:solidFill>
                <a:latin typeface="Pretendard Light"/>
              </a:rPr>
              <a:t>insert</a:t>
            </a:r>
            <a:endParaRPr lang="en-US" altLang="ko-KR" sz="2000" b="0" i="0" u="sng" strike="noStrike" dirty="0">
              <a:solidFill>
                <a:srgbClr val="FFFFFF"/>
              </a:solidFill>
              <a:latin typeface="Pretendard Light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FB61A4F1-2574-44CF-80A0-110DE92B0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"/>
            <a:ext cx="8483600" cy="901700"/>
          </a:xfrm>
          <a:prstGeom prst="rect">
            <a:avLst/>
          </a:prstGeom>
        </p:spPr>
      </p:pic>
      <p:pic>
        <p:nvPicPr>
          <p:cNvPr id="25" name="Picture 5">
            <a:extLst>
              <a:ext uri="{FF2B5EF4-FFF2-40B4-BE49-F238E27FC236}">
                <a16:creationId xmlns:a16="http://schemas.microsoft.com/office/drawing/2014/main" id="{84BDB740-6A6B-4D9C-B0BF-CF2930785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1" y="774700"/>
            <a:ext cx="228600" cy="228600"/>
          </a:xfrm>
          <a:prstGeom prst="rect">
            <a:avLst/>
          </a:prstGeom>
        </p:spPr>
      </p:pic>
      <p:pic>
        <p:nvPicPr>
          <p:cNvPr id="26" name="Picture 6">
            <a:extLst>
              <a:ext uri="{FF2B5EF4-FFF2-40B4-BE49-F238E27FC236}">
                <a16:creationId xmlns:a16="http://schemas.microsoft.com/office/drawing/2014/main" id="{A6004159-478E-4B90-B697-27DF416CF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801" y="774700"/>
            <a:ext cx="228600" cy="228600"/>
          </a:xfrm>
          <a:prstGeom prst="rect">
            <a:avLst/>
          </a:prstGeom>
        </p:spPr>
      </p:pic>
      <p:pic>
        <p:nvPicPr>
          <p:cNvPr id="27" name="Picture 7">
            <a:extLst>
              <a:ext uri="{FF2B5EF4-FFF2-40B4-BE49-F238E27FC236}">
                <a16:creationId xmlns:a16="http://schemas.microsoft.com/office/drawing/2014/main" id="{FF828467-2BD2-4BE3-8AD0-8CC5284F9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401" y="774700"/>
            <a:ext cx="228600" cy="228600"/>
          </a:xfrm>
          <a:prstGeom prst="rect">
            <a:avLst/>
          </a:prstGeom>
        </p:spPr>
      </p:pic>
      <p:pic>
        <p:nvPicPr>
          <p:cNvPr id="28" name="Picture 9">
            <a:extLst>
              <a:ext uri="{FF2B5EF4-FFF2-40B4-BE49-F238E27FC236}">
                <a16:creationId xmlns:a16="http://schemas.microsoft.com/office/drawing/2014/main" id="{75C87827-48A7-43C1-9727-4BE8967593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8901" y="660400"/>
            <a:ext cx="4191000" cy="4445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FB9BE3D-12A8-48E4-AAB7-CDF2F2C1BE87}"/>
              </a:ext>
            </a:extLst>
          </p:cNvPr>
          <p:cNvSpPr txBox="1"/>
          <p:nvPr/>
        </p:nvSpPr>
        <p:spPr>
          <a:xfrm>
            <a:off x="2787650" y="660400"/>
            <a:ext cx="386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9600"/>
              </a:lnSpc>
            </a:pPr>
            <a:r>
              <a:rPr lang="en-US" altLang="ko-KR" sz="2000" u="sng" dirty="0">
                <a:solidFill>
                  <a:srgbClr val="FFFFFF"/>
                </a:solidFill>
                <a:latin typeface="Pretendard Light"/>
              </a:rPr>
              <a:t>insert</a:t>
            </a:r>
            <a:endParaRPr lang="en-US" altLang="ko-KR" sz="2000" b="0" i="0" u="sng" strike="noStrike" dirty="0">
              <a:solidFill>
                <a:srgbClr val="FFFFFF"/>
              </a:solidFill>
              <a:latin typeface="Pretendard Light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584CD19A-DA64-4E0A-98D5-6D24C38A95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47900"/>
            <a:ext cx="8178800" cy="6705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2C0724F-426A-4DC5-A7D7-A8BDD88529D6}"/>
              </a:ext>
            </a:extLst>
          </p:cNvPr>
          <p:cNvSpPr txBox="1"/>
          <p:nvPr/>
        </p:nvSpPr>
        <p:spPr>
          <a:xfrm>
            <a:off x="10464800" y="3924300"/>
            <a:ext cx="6375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9600"/>
              </a:lnSpc>
            </a:pPr>
            <a:r>
              <a:rPr lang="en-US" altLang="ko-KR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insert into </a:t>
            </a:r>
            <a:r>
              <a:rPr lang="en-US" altLang="ko-KR" sz="2000" dirty="0" err="1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tbl_book</a:t>
            </a:r>
            <a:r>
              <a:rPr lang="en-US" altLang="ko-KR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 values </a:t>
            </a:r>
            <a:r>
              <a:rPr lang="ko-KR" altLang="en-US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이용하여 </a:t>
            </a:r>
            <a:r>
              <a:rPr lang="en-US" altLang="ko-KR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DB</a:t>
            </a:r>
            <a:r>
              <a:rPr lang="ko-KR" altLang="en-US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에 </a:t>
            </a:r>
            <a:r>
              <a:rPr lang="en-US" altLang="ko-KR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insert</a:t>
            </a:r>
          </a:p>
          <a:p>
            <a:pPr lvl="0" algn="ctr">
              <a:lnSpc>
                <a:spcPct val="99600"/>
              </a:lnSpc>
            </a:pPr>
            <a:endParaRPr lang="en-US" altLang="ko-KR" sz="2000" dirty="0">
              <a:solidFill>
                <a:srgbClr val="212529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99600"/>
              </a:lnSpc>
            </a:pPr>
            <a:r>
              <a:rPr lang="en-US" altLang="ko-KR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int result = </a:t>
            </a:r>
            <a:r>
              <a:rPr lang="en-US" altLang="ko-KR" sz="2000" dirty="0" err="1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pstmt.executeUpdate</a:t>
            </a:r>
            <a:r>
              <a:rPr lang="en-US" altLang="ko-KR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();</a:t>
            </a:r>
            <a:r>
              <a:rPr lang="ko-KR" altLang="en-US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를 사용하여</a:t>
            </a:r>
            <a:endParaRPr lang="en-US" altLang="ko-KR" sz="2000" dirty="0">
              <a:solidFill>
                <a:srgbClr val="212529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99600"/>
              </a:lnSpc>
            </a:pPr>
            <a:r>
              <a:rPr lang="en-US" altLang="ko-KR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SQL</a:t>
            </a:r>
            <a:r>
              <a:rPr lang="ko-KR" altLang="en-US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실행 및 몇 개의 행이 </a:t>
            </a:r>
            <a:r>
              <a:rPr lang="en-US" altLang="ko-KR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DB</a:t>
            </a:r>
            <a:r>
              <a:rPr lang="ko-KR" altLang="en-US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에 영향을 줬는지 숫자로 리턴</a:t>
            </a:r>
            <a:endParaRPr lang="en-US" altLang="ko-KR" sz="2000" dirty="0">
              <a:solidFill>
                <a:srgbClr val="212529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99600"/>
              </a:lnSpc>
            </a:pPr>
            <a:endParaRPr lang="en-US" altLang="ko-KR" sz="2000" dirty="0">
              <a:solidFill>
                <a:srgbClr val="212529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99600"/>
              </a:lnSpc>
            </a:pPr>
            <a:r>
              <a:rPr lang="en-US" altLang="ko-KR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return result</a:t>
            </a:r>
            <a:r>
              <a:rPr lang="ko-KR" altLang="en-US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로 </a:t>
            </a:r>
            <a:r>
              <a:rPr lang="ko-KR" altLang="en-US" sz="2000" dirty="0" err="1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영향받은</a:t>
            </a:r>
            <a:r>
              <a:rPr lang="ko-KR" altLang="en-US" sz="2000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 행 수를 반환 및 확인</a:t>
            </a:r>
            <a:endParaRPr lang="en-US" altLang="ko-KR" sz="2000" dirty="0">
              <a:solidFill>
                <a:srgbClr val="212529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CC2143-24DA-44B2-B048-B53174FB9F7F}"/>
              </a:ext>
            </a:extLst>
          </p:cNvPr>
          <p:cNvSpPr txBox="1"/>
          <p:nvPr/>
        </p:nvSpPr>
        <p:spPr>
          <a:xfrm>
            <a:off x="453885" y="1540014"/>
            <a:ext cx="84996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u="sng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insert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53176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0515" y="429548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200" y="3429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698500"/>
            <a:ext cx="3873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sng" strike="noStrike" dirty="0">
                <a:solidFill>
                  <a:srgbClr val="FFFFFF"/>
                </a:solidFill>
                <a:latin typeface="Pretendard Light"/>
              </a:rPr>
              <a:t>delete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58400" y="2108200"/>
            <a:ext cx="721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058400" y="4622800"/>
            <a:ext cx="71882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en-US" sz="30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58400" y="5753100"/>
            <a:ext cx="7175500" cy="323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en-US" sz="26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762CB89-2D70-43F0-AB1D-A3B0025D95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148" y="3086100"/>
            <a:ext cx="6299200" cy="324835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83C1F87-0A86-4C70-9768-4733BAF8C2A0}"/>
              </a:ext>
            </a:extLst>
          </p:cNvPr>
          <p:cNvSpPr txBox="1"/>
          <p:nvPr/>
        </p:nvSpPr>
        <p:spPr>
          <a:xfrm>
            <a:off x="1536148" y="2378214"/>
            <a:ext cx="6299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u="sng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update</a:t>
            </a:r>
            <a:endParaRPr lang="ko-KR" altLang="en-US" sz="4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3097C5-B9C2-4F90-A3B6-30B916F74623}"/>
              </a:ext>
            </a:extLst>
          </p:cNvPr>
          <p:cNvSpPr txBox="1"/>
          <p:nvPr/>
        </p:nvSpPr>
        <p:spPr>
          <a:xfrm>
            <a:off x="9296400" y="6739235"/>
            <a:ext cx="853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i="1" dirty="0" err="1">
                <a:solidFill>
                  <a:srgbClr val="8DDAF8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pstmt</a:t>
            </a:r>
            <a:r>
              <a:rPr lang="en-US" altLang="ko-KR" sz="1200" dirty="0">
                <a:solidFill>
                  <a:srgbClr val="D9E8F7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en-US" altLang="ko-KR" sz="1200" dirty="0">
                <a:solidFill>
                  <a:srgbClr val="E6E6FA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=</a:t>
            </a:r>
            <a:r>
              <a:rPr lang="en-US" altLang="ko-KR" sz="1200" dirty="0">
                <a:solidFill>
                  <a:srgbClr val="D9E8F7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en-US" altLang="ko-KR" sz="1200" i="1" dirty="0" err="1">
                <a:solidFill>
                  <a:srgbClr val="8DDAF8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conn</a:t>
            </a:r>
            <a:r>
              <a:rPr lang="en-US" altLang="ko-KR" sz="1200" dirty="0" err="1">
                <a:solidFill>
                  <a:srgbClr val="E6E6FA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.</a:t>
            </a:r>
            <a:r>
              <a:rPr lang="en-US" altLang="ko-KR" sz="1200" dirty="0" err="1">
                <a:solidFill>
                  <a:srgbClr val="80F6A7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prepareStatement</a:t>
            </a:r>
            <a:r>
              <a:rPr lang="en-US" altLang="ko-KR" sz="1200" dirty="0">
                <a:solidFill>
                  <a:srgbClr val="F9FAF4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(</a:t>
            </a:r>
            <a:r>
              <a:rPr lang="en-US" altLang="ko-KR" sz="1200" dirty="0">
                <a:solidFill>
                  <a:srgbClr val="17C6A3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"delete from </a:t>
            </a:r>
            <a:r>
              <a:rPr lang="en-US" altLang="ko-KR" sz="1200" dirty="0" err="1">
                <a:solidFill>
                  <a:srgbClr val="17C6A3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tbl_book</a:t>
            </a:r>
            <a:r>
              <a:rPr lang="en-US" altLang="ko-KR" sz="1200" dirty="0">
                <a:solidFill>
                  <a:srgbClr val="17C6A3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 where </a:t>
            </a:r>
            <a:r>
              <a:rPr lang="en-US" altLang="ko-KR" sz="1200" dirty="0" err="1">
                <a:solidFill>
                  <a:srgbClr val="17C6A3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bookCode</a:t>
            </a:r>
            <a:r>
              <a:rPr lang="en-US" altLang="ko-KR" sz="1200" dirty="0">
                <a:solidFill>
                  <a:srgbClr val="17C6A3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=?"</a:t>
            </a:r>
            <a:r>
              <a:rPr lang="en-US" altLang="ko-KR" sz="1200" dirty="0">
                <a:solidFill>
                  <a:srgbClr val="F9FAF4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)</a:t>
            </a:r>
            <a:r>
              <a:rPr lang="en-US" altLang="ko-KR" sz="1200" dirty="0">
                <a:solidFill>
                  <a:srgbClr val="E6E6FA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;</a:t>
            </a:r>
            <a:endParaRPr lang="en-US" altLang="ko-KR" sz="1200" dirty="0">
              <a:solidFill>
                <a:srgbClr val="D9E8F7"/>
              </a:solidFill>
              <a:effectLst/>
              <a:latin typeface="Pretendard Bold" panose="020B0600000101010101" charset="-127"/>
              <a:ea typeface="Pretendard Bold" panose="020B0600000101010101" charset="-127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rgbClr val="808080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// </a:t>
            </a:r>
            <a:r>
              <a:rPr lang="en-US" altLang="ko-KR" sz="1200" dirty="0" err="1">
                <a:solidFill>
                  <a:srgbClr val="808080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bookCode</a:t>
            </a:r>
            <a:r>
              <a:rPr lang="ko-KR" altLang="en-US" sz="1200" dirty="0">
                <a:solidFill>
                  <a:srgbClr val="808080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에 해당하는 행 전체를 삭제</a:t>
            </a:r>
            <a:endParaRPr lang="ko-KR" altLang="en-US" sz="1200" dirty="0">
              <a:solidFill>
                <a:srgbClr val="CCCCCC"/>
              </a:solidFill>
              <a:effectLst/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0C5027D-64BC-40B7-8A97-51EB84722A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925" y="3080666"/>
            <a:ext cx="6299200" cy="32566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F1F6A82-1331-4861-8F21-F00D8B606671}"/>
              </a:ext>
            </a:extLst>
          </p:cNvPr>
          <p:cNvSpPr txBox="1"/>
          <p:nvPr/>
        </p:nvSpPr>
        <p:spPr>
          <a:xfrm>
            <a:off x="10452651" y="2381062"/>
            <a:ext cx="6299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u="sng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delete</a:t>
            </a:r>
            <a:endParaRPr lang="ko-KR" altLang="en-US" sz="4000" dirty="0"/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FB61A4F1-2574-44CF-80A0-110DE92B0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"/>
            <a:ext cx="8483600" cy="901700"/>
          </a:xfrm>
          <a:prstGeom prst="rect">
            <a:avLst/>
          </a:prstGeom>
        </p:spPr>
      </p:pic>
      <p:pic>
        <p:nvPicPr>
          <p:cNvPr id="25" name="Picture 5">
            <a:extLst>
              <a:ext uri="{FF2B5EF4-FFF2-40B4-BE49-F238E27FC236}">
                <a16:creationId xmlns:a16="http://schemas.microsoft.com/office/drawing/2014/main" id="{84BDB740-6A6B-4D9C-B0BF-CF2930785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1" y="774700"/>
            <a:ext cx="228600" cy="228600"/>
          </a:xfrm>
          <a:prstGeom prst="rect">
            <a:avLst/>
          </a:prstGeom>
        </p:spPr>
      </p:pic>
      <p:pic>
        <p:nvPicPr>
          <p:cNvPr id="26" name="Picture 6">
            <a:extLst>
              <a:ext uri="{FF2B5EF4-FFF2-40B4-BE49-F238E27FC236}">
                <a16:creationId xmlns:a16="http://schemas.microsoft.com/office/drawing/2014/main" id="{A6004159-478E-4B90-B697-27DF416CF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801" y="774700"/>
            <a:ext cx="228600" cy="228600"/>
          </a:xfrm>
          <a:prstGeom prst="rect">
            <a:avLst/>
          </a:prstGeom>
        </p:spPr>
      </p:pic>
      <p:pic>
        <p:nvPicPr>
          <p:cNvPr id="27" name="Picture 7">
            <a:extLst>
              <a:ext uri="{FF2B5EF4-FFF2-40B4-BE49-F238E27FC236}">
                <a16:creationId xmlns:a16="http://schemas.microsoft.com/office/drawing/2014/main" id="{FF828467-2BD2-4BE3-8AD0-8CC5284F9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401" y="774700"/>
            <a:ext cx="228600" cy="228600"/>
          </a:xfrm>
          <a:prstGeom prst="rect">
            <a:avLst/>
          </a:prstGeom>
        </p:spPr>
      </p:pic>
      <p:pic>
        <p:nvPicPr>
          <p:cNvPr id="28" name="Picture 9">
            <a:extLst>
              <a:ext uri="{FF2B5EF4-FFF2-40B4-BE49-F238E27FC236}">
                <a16:creationId xmlns:a16="http://schemas.microsoft.com/office/drawing/2014/main" id="{75C87827-48A7-43C1-9727-4BE8967593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8901" y="660400"/>
            <a:ext cx="4191000" cy="4445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FB9BE3D-12A8-48E4-AAB7-CDF2F2C1BE87}"/>
              </a:ext>
            </a:extLst>
          </p:cNvPr>
          <p:cNvSpPr txBox="1"/>
          <p:nvPr/>
        </p:nvSpPr>
        <p:spPr>
          <a:xfrm>
            <a:off x="2787650" y="660400"/>
            <a:ext cx="386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9600"/>
              </a:lnSpc>
            </a:pPr>
            <a:r>
              <a:rPr lang="en-US" altLang="ko-KR" sz="2000" u="sng" dirty="0">
                <a:solidFill>
                  <a:srgbClr val="FFFFFF"/>
                </a:solidFill>
                <a:latin typeface="Pretendard Light"/>
              </a:rPr>
              <a:t>update</a:t>
            </a:r>
            <a:endParaRPr lang="en-US" altLang="ko-KR" sz="2000" b="0" i="0" u="sng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46DD0E-C820-48E7-A92F-B5A1FAD78983}"/>
              </a:ext>
            </a:extLst>
          </p:cNvPr>
          <p:cNvSpPr txBox="1"/>
          <p:nvPr/>
        </p:nvSpPr>
        <p:spPr>
          <a:xfrm>
            <a:off x="469900" y="6739235"/>
            <a:ext cx="8470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i="1" dirty="0" err="1">
                <a:solidFill>
                  <a:srgbClr val="8DDAF8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pstmt</a:t>
            </a:r>
            <a:r>
              <a:rPr lang="en-US" altLang="ko-KR" sz="1200" dirty="0">
                <a:solidFill>
                  <a:srgbClr val="D9E8F7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en-US" altLang="ko-KR" sz="1200" dirty="0">
                <a:solidFill>
                  <a:srgbClr val="E6E6FA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=</a:t>
            </a:r>
            <a:r>
              <a:rPr lang="en-US" altLang="ko-KR" sz="1200" dirty="0">
                <a:solidFill>
                  <a:srgbClr val="D9E8F7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en-US" altLang="ko-KR" sz="1200" i="1" dirty="0" err="1">
                <a:solidFill>
                  <a:srgbClr val="8DDAF8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conn</a:t>
            </a:r>
            <a:r>
              <a:rPr lang="en-US" altLang="ko-KR" sz="1200" dirty="0" err="1">
                <a:solidFill>
                  <a:srgbClr val="E6E6FA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.</a:t>
            </a:r>
            <a:r>
              <a:rPr lang="en-US" altLang="ko-KR" sz="1200" dirty="0" err="1">
                <a:solidFill>
                  <a:srgbClr val="80F6A7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prepareStatement</a:t>
            </a:r>
            <a:r>
              <a:rPr lang="en-US" altLang="ko-KR" sz="1200" dirty="0">
                <a:solidFill>
                  <a:srgbClr val="F9FAF4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(</a:t>
            </a:r>
            <a:r>
              <a:rPr lang="en-US" altLang="ko-KR" sz="1200" dirty="0">
                <a:solidFill>
                  <a:srgbClr val="17C6A3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"update </a:t>
            </a:r>
            <a:r>
              <a:rPr lang="en-US" altLang="ko-KR" sz="1200" dirty="0" err="1">
                <a:solidFill>
                  <a:srgbClr val="17C6A3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tbl_book</a:t>
            </a:r>
            <a:r>
              <a:rPr lang="en-US" altLang="ko-KR" sz="1200" dirty="0">
                <a:solidFill>
                  <a:srgbClr val="17C6A3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 set </a:t>
            </a:r>
            <a:r>
              <a:rPr lang="en-US" altLang="ko-KR" sz="1200" dirty="0" err="1">
                <a:solidFill>
                  <a:srgbClr val="17C6A3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bookName</a:t>
            </a:r>
            <a:r>
              <a:rPr lang="en-US" altLang="ko-KR" sz="1200" dirty="0">
                <a:solidFill>
                  <a:srgbClr val="17C6A3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=?, publisher=?, </a:t>
            </a:r>
            <a:r>
              <a:rPr lang="en-US" altLang="ko-KR" sz="1200" dirty="0" err="1">
                <a:solidFill>
                  <a:srgbClr val="17C6A3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isbn</a:t>
            </a:r>
            <a:r>
              <a:rPr lang="en-US" altLang="ko-KR" sz="1200" dirty="0">
                <a:solidFill>
                  <a:srgbClr val="17C6A3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=? where </a:t>
            </a:r>
            <a:r>
              <a:rPr lang="en-US" altLang="ko-KR" sz="1200" dirty="0" err="1">
                <a:solidFill>
                  <a:srgbClr val="17C6A3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bookCode</a:t>
            </a:r>
            <a:r>
              <a:rPr lang="en-US" altLang="ko-KR" sz="1200" dirty="0">
                <a:solidFill>
                  <a:srgbClr val="17C6A3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=?"</a:t>
            </a:r>
            <a:r>
              <a:rPr lang="en-US" altLang="ko-KR" sz="1200" dirty="0">
                <a:solidFill>
                  <a:srgbClr val="F9FAF4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)</a:t>
            </a:r>
            <a:r>
              <a:rPr lang="en-US" altLang="ko-KR" sz="1200" dirty="0">
                <a:solidFill>
                  <a:srgbClr val="E6E6FA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;</a:t>
            </a:r>
            <a:endParaRPr lang="en-US" altLang="ko-KR" sz="1200" dirty="0">
              <a:solidFill>
                <a:srgbClr val="D9E8F7"/>
              </a:solidFill>
              <a:effectLst/>
              <a:latin typeface="Pretendard Bold" panose="020B0600000101010101" charset="-127"/>
              <a:ea typeface="Pretendard Bold" panose="020B0600000101010101" charset="-127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rgbClr val="808080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// </a:t>
            </a:r>
            <a:r>
              <a:rPr lang="en-US" altLang="ko-KR" sz="1200" dirty="0" err="1">
                <a:solidFill>
                  <a:srgbClr val="808080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bookCode</a:t>
            </a:r>
            <a:r>
              <a:rPr lang="en-US" altLang="ko-KR" sz="1200" dirty="0">
                <a:solidFill>
                  <a:srgbClr val="808080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ko-KR" altLang="en-US" sz="1200" dirty="0">
                <a:solidFill>
                  <a:srgbClr val="808080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값에 해당 하는 행들</a:t>
            </a:r>
            <a:r>
              <a:rPr lang="en-US" altLang="ko-KR" sz="1200" dirty="0">
                <a:solidFill>
                  <a:srgbClr val="808080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(</a:t>
            </a:r>
            <a:r>
              <a:rPr lang="en-US" altLang="ko-KR" sz="1200" dirty="0" err="1">
                <a:solidFill>
                  <a:srgbClr val="808080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bookName</a:t>
            </a:r>
            <a:r>
              <a:rPr lang="en-US" altLang="ko-KR" sz="1200" dirty="0">
                <a:solidFill>
                  <a:srgbClr val="808080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, publisher, </a:t>
            </a:r>
            <a:r>
              <a:rPr lang="en-US" altLang="ko-KR" sz="1200" u="sng" dirty="0" err="1">
                <a:solidFill>
                  <a:srgbClr val="808080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isbn</a:t>
            </a:r>
            <a:r>
              <a:rPr lang="en-US" altLang="ko-KR" sz="1200" dirty="0">
                <a:solidFill>
                  <a:srgbClr val="808080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)</a:t>
            </a:r>
            <a:r>
              <a:rPr lang="ko-KR" altLang="en-US" sz="1200" dirty="0">
                <a:solidFill>
                  <a:srgbClr val="808080"/>
                </a:solidFill>
                <a:effectLst/>
                <a:latin typeface="Pretendard Bold" panose="020B0600000101010101" charset="-127"/>
                <a:ea typeface="Pretendard Bold" panose="020B0600000101010101" charset="-127"/>
              </a:rPr>
              <a:t>을 찾아 해당 행의 컬럼 값을 새로운 값으로 변경</a:t>
            </a:r>
            <a:endParaRPr lang="ko-KR" altLang="en-US" sz="1200" dirty="0">
              <a:solidFill>
                <a:srgbClr val="CCCCCC"/>
              </a:solidFill>
              <a:effectLst/>
              <a:latin typeface="Pretendard Bold" panose="020B0600000101010101" charset="-127"/>
              <a:ea typeface="Pretendard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6049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dirty="0">
                <a:solidFill>
                  <a:srgbClr val="FFFFFF"/>
                </a:solidFill>
                <a:latin typeface="Pretendard Light"/>
              </a:rPr>
              <a:t>p</a:t>
            </a: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ublic static void main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6E25B07-E95B-45C5-8EE8-AFBD2374489E}"/>
              </a:ext>
            </a:extLst>
          </p:cNvPr>
          <p:cNvSpPr/>
          <p:nvPr/>
        </p:nvSpPr>
        <p:spPr>
          <a:xfrm>
            <a:off x="711200" y="1409700"/>
            <a:ext cx="16891000" cy="82931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3571B0A-C730-4FB0-8FF0-D50B28D200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1866900"/>
            <a:ext cx="7518401" cy="736385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AE68071-D07C-425D-9872-F51D921434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2275447"/>
            <a:ext cx="7277100" cy="660185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84EA22-0E5D-474F-92F0-386318060837}"/>
              </a:ext>
            </a:extLst>
          </p:cNvPr>
          <p:cNvSpPr txBox="1"/>
          <p:nvPr/>
        </p:nvSpPr>
        <p:spPr>
          <a:xfrm>
            <a:off x="1168400" y="1497568"/>
            <a:ext cx="16167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u="sng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TX START &amp; INSERT &amp; SELECTALL &amp; SELECT &amp; UPDATE &amp; DELETE &amp; TX END &amp; TX ROLLBACKALL &amp; </a:t>
            </a:r>
            <a:r>
              <a:rPr lang="ko-KR" altLang="en-US" sz="1800" u="sng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예외처리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011538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sng" strike="noStrike" dirty="0" err="1">
                <a:solidFill>
                  <a:srgbClr val="FFFFFF"/>
                </a:solidFill>
                <a:latin typeface="Pretendard Light"/>
              </a:rPr>
              <a:t>BookDto</a:t>
            </a:r>
            <a:r>
              <a:rPr lang="ko-KR" altLang="en-US" sz="2000" b="0" i="0" u="sng" strike="noStrike" dirty="0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altLang="en-US" sz="2000" u="sng" dirty="0">
                <a:solidFill>
                  <a:srgbClr val="FFFFFF"/>
                </a:solidFill>
                <a:latin typeface="Pretendard Light"/>
              </a:rPr>
              <a:t>클래스</a:t>
            </a:r>
            <a:endParaRPr lang="en-US" altLang="ko-KR" sz="2000" b="0" i="0" u="sng" strike="noStrike" dirty="0">
              <a:solidFill>
                <a:srgbClr val="FFFFFF"/>
              </a:solidFill>
              <a:latin typeface="Pretendard Light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46492D0-6946-4C4F-8B8E-2A61EC2779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91" y="1333500"/>
            <a:ext cx="6822109" cy="3276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6A002AC-E1F0-4933-B5CC-07CD784BD3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4104576"/>
            <a:ext cx="4343400" cy="575062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9748A4C-F198-4496-AC40-C37AC84491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084" y="8572351"/>
            <a:ext cx="10082716" cy="10669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99E9175-7492-4C9F-ABF6-9070B8CA3E6E}"/>
              </a:ext>
            </a:extLst>
          </p:cNvPr>
          <p:cNvSpPr txBox="1"/>
          <p:nvPr/>
        </p:nvSpPr>
        <p:spPr>
          <a:xfrm>
            <a:off x="7351091" y="1333500"/>
            <a:ext cx="20215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9600"/>
              </a:lnSpc>
            </a:pPr>
            <a:r>
              <a:rPr lang="en-US" altLang="ko-KR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1. </a:t>
            </a:r>
            <a:r>
              <a:rPr lang="en-US" altLang="ko-KR" dirty="0" err="1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BookDto</a:t>
            </a:r>
            <a:r>
              <a:rPr lang="en-US" altLang="ko-KR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클래스</a:t>
            </a:r>
            <a:endParaRPr lang="en-US" altLang="ko-KR" dirty="0">
              <a:solidFill>
                <a:srgbClr val="212529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99600"/>
              </a:lnSpc>
            </a:pPr>
            <a:r>
              <a:rPr lang="ko-KR" altLang="en-US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디폴트 생성</a:t>
            </a:r>
            <a:endParaRPr lang="en-US" altLang="ko-KR" dirty="0">
              <a:solidFill>
                <a:srgbClr val="212529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99600"/>
              </a:lnSpc>
            </a:pPr>
            <a:r>
              <a:rPr lang="ko-KR" altLang="en-US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모든 인자 생성</a:t>
            </a:r>
            <a:endParaRPr lang="en-US" altLang="ko-KR" dirty="0">
              <a:solidFill>
                <a:srgbClr val="212529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169925-F7FE-4277-AC0B-342C37E3810A}"/>
              </a:ext>
            </a:extLst>
          </p:cNvPr>
          <p:cNvSpPr txBox="1"/>
          <p:nvPr/>
        </p:nvSpPr>
        <p:spPr>
          <a:xfrm>
            <a:off x="7897744" y="4076700"/>
            <a:ext cx="45228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9600"/>
              </a:lnSpc>
            </a:pPr>
            <a:r>
              <a:rPr lang="en-US" altLang="ko-KR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2. Getter and Setter</a:t>
            </a:r>
          </a:p>
          <a:p>
            <a:pPr lvl="0" algn="ctr">
              <a:lnSpc>
                <a:spcPct val="99600"/>
              </a:lnSpc>
            </a:pPr>
            <a:r>
              <a:rPr lang="en-US" altLang="ko-KR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Getter : </a:t>
            </a:r>
            <a:r>
              <a:rPr lang="ko-KR" altLang="en-US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객체 안에 저장된 값을 </a:t>
            </a:r>
            <a:r>
              <a:rPr lang="ko-KR" altLang="en-US" dirty="0" err="1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꺼내오는</a:t>
            </a:r>
            <a:r>
              <a:rPr lang="ko-KR" altLang="en-US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 메서드</a:t>
            </a:r>
            <a:endParaRPr lang="en-US" altLang="ko-KR" dirty="0">
              <a:solidFill>
                <a:srgbClr val="212529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99600"/>
              </a:lnSpc>
            </a:pPr>
            <a:r>
              <a:rPr lang="en-US" altLang="ko-KR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Setter : </a:t>
            </a:r>
            <a:r>
              <a:rPr lang="ko-KR" altLang="en-US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객체 안에 저장된 값을 바꿔주는 메서드</a:t>
            </a:r>
            <a:endParaRPr lang="en-US" altLang="ko-KR" dirty="0">
              <a:solidFill>
                <a:srgbClr val="212529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A30D06-F5DF-4040-9EDA-019004CBD9AB}"/>
              </a:ext>
            </a:extLst>
          </p:cNvPr>
          <p:cNvSpPr txBox="1"/>
          <p:nvPr/>
        </p:nvSpPr>
        <p:spPr>
          <a:xfrm>
            <a:off x="9829800" y="7849969"/>
            <a:ext cx="6305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9600"/>
              </a:lnSpc>
            </a:pPr>
            <a:r>
              <a:rPr lang="en-US" altLang="ko-KR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3. </a:t>
            </a:r>
            <a:r>
              <a:rPr lang="en-US" altLang="ko-KR" dirty="0" err="1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toString</a:t>
            </a:r>
            <a:endParaRPr lang="en-US" altLang="ko-KR" dirty="0">
              <a:solidFill>
                <a:srgbClr val="212529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99600"/>
              </a:lnSpc>
            </a:pPr>
            <a:r>
              <a:rPr lang="ko-KR" altLang="en-US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메모리에 저장된 데이터 객체를 문자열로 표현할 때 사용하는 메서드</a:t>
            </a:r>
            <a:endParaRPr lang="en-US" altLang="ko-KR" dirty="0">
              <a:solidFill>
                <a:srgbClr val="212529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4716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0515" y="429548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200" y="3429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698500"/>
            <a:ext cx="3873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sng" strike="noStrike" dirty="0">
                <a:solidFill>
                  <a:srgbClr val="FFFFFF"/>
                </a:solidFill>
                <a:latin typeface="Pretendard Light"/>
              </a:rPr>
              <a:t>MySQL </a:t>
            </a:r>
            <a:r>
              <a:rPr lang="ko-KR" altLang="en-US" sz="2000" b="0" i="0" u="sng" strike="noStrike" dirty="0">
                <a:solidFill>
                  <a:srgbClr val="FFFFFF"/>
                </a:solidFill>
                <a:latin typeface="Pretendard Light"/>
              </a:rPr>
              <a:t>작업결과</a:t>
            </a:r>
            <a:endParaRPr lang="en-US" altLang="ko-KR" sz="2000" b="0" i="0" u="sng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058400" y="2108200"/>
            <a:ext cx="721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058400" y="4622800"/>
            <a:ext cx="71882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en-US" sz="30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58400" y="5753100"/>
            <a:ext cx="7175500" cy="323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en-US" sz="26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3C1F87-0A86-4C70-9768-4733BAF8C2A0}"/>
              </a:ext>
            </a:extLst>
          </p:cNvPr>
          <p:cNvSpPr txBox="1"/>
          <p:nvPr/>
        </p:nvSpPr>
        <p:spPr>
          <a:xfrm>
            <a:off x="469901" y="2247900"/>
            <a:ext cx="8483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u="sng" dirty="0">
                <a:solidFill>
                  <a:srgbClr val="212529"/>
                </a:solidFill>
                <a:latin typeface="Pretendard Bold" panose="020B0600000101010101" charset="-127"/>
                <a:ea typeface="Pretendard Bold" panose="020B0600000101010101" charset="-127"/>
              </a:rPr>
              <a:t>Console log</a:t>
            </a:r>
            <a:endParaRPr lang="ko-KR" altLang="en-US" sz="4000" dirty="0"/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FB61A4F1-2574-44CF-80A0-110DE92B0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"/>
            <a:ext cx="8483600" cy="901700"/>
          </a:xfrm>
          <a:prstGeom prst="rect">
            <a:avLst/>
          </a:prstGeom>
        </p:spPr>
      </p:pic>
      <p:pic>
        <p:nvPicPr>
          <p:cNvPr id="25" name="Picture 5">
            <a:extLst>
              <a:ext uri="{FF2B5EF4-FFF2-40B4-BE49-F238E27FC236}">
                <a16:creationId xmlns:a16="http://schemas.microsoft.com/office/drawing/2014/main" id="{84BDB740-6A6B-4D9C-B0BF-CF2930785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1" y="774700"/>
            <a:ext cx="228600" cy="228600"/>
          </a:xfrm>
          <a:prstGeom prst="rect">
            <a:avLst/>
          </a:prstGeom>
        </p:spPr>
      </p:pic>
      <p:pic>
        <p:nvPicPr>
          <p:cNvPr id="26" name="Picture 6">
            <a:extLst>
              <a:ext uri="{FF2B5EF4-FFF2-40B4-BE49-F238E27FC236}">
                <a16:creationId xmlns:a16="http://schemas.microsoft.com/office/drawing/2014/main" id="{A6004159-478E-4B90-B697-27DF416CF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801" y="774700"/>
            <a:ext cx="228600" cy="228600"/>
          </a:xfrm>
          <a:prstGeom prst="rect">
            <a:avLst/>
          </a:prstGeom>
        </p:spPr>
      </p:pic>
      <p:pic>
        <p:nvPicPr>
          <p:cNvPr id="27" name="Picture 7">
            <a:extLst>
              <a:ext uri="{FF2B5EF4-FFF2-40B4-BE49-F238E27FC236}">
                <a16:creationId xmlns:a16="http://schemas.microsoft.com/office/drawing/2014/main" id="{FF828467-2BD2-4BE3-8AD0-8CC5284F9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401" y="774700"/>
            <a:ext cx="228600" cy="228600"/>
          </a:xfrm>
          <a:prstGeom prst="rect">
            <a:avLst/>
          </a:prstGeom>
        </p:spPr>
      </p:pic>
      <p:pic>
        <p:nvPicPr>
          <p:cNvPr id="28" name="Picture 9">
            <a:extLst>
              <a:ext uri="{FF2B5EF4-FFF2-40B4-BE49-F238E27FC236}">
                <a16:creationId xmlns:a16="http://schemas.microsoft.com/office/drawing/2014/main" id="{75C87827-48A7-43C1-9727-4BE8967593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8901" y="660400"/>
            <a:ext cx="4191000" cy="4445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FB9BE3D-12A8-48E4-AAB7-CDF2F2C1BE87}"/>
              </a:ext>
            </a:extLst>
          </p:cNvPr>
          <p:cNvSpPr txBox="1"/>
          <p:nvPr/>
        </p:nvSpPr>
        <p:spPr>
          <a:xfrm>
            <a:off x="2787650" y="660400"/>
            <a:ext cx="386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9600"/>
              </a:lnSpc>
            </a:pPr>
            <a:r>
              <a:rPr lang="en-US" altLang="ko-KR" sz="2000" u="sng" dirty="0">
                <a:solidFill>
                  <a:srgbClr val="FFFFFF"/>
                </a:solidFill>
                <a:latin typeface="Pretendard Light"/>
              </a:rPr>
              <a:t>Eclipse </a:t>
            </a:r>
            <a:r>
              <a:rPr lang="ko-KR" altLang="en-US" sz="2000" u="sng" dirty="0">
                <a:solidFill>
                  <a:srgbClr val="FFFFFF"/>
                </a:solidFill>
                <a:latin typeface="Pretendard Light"/>
              </a:rPr>
              <a:t>작업결과</a:t>
            </a:r>
            <a:endParaRPr lang="en-US" altLang="ko-KR" sz="2000" b="0" i="0" u="sng" strike="noStrike" dirty="0">
              <a:solidFill>
                <a:srgbClr val="FFFFFF"/>
              </a:solidFill>
              <a:latin typeface="Pretendard Light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57A3AEF1-C383-42AC-B1CA-5EA21690C0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98" y="3009900"/>
            <a:ext cx="8095005" cy="2268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111B1078-FCBB-434F-9FDF-B2AB61BCC0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3009900"/>
            <a:ext cx="8020994" cy="2808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3E92A00-5AEA-4B63-AE09-FBEF806A867C}"/>
              </a:ext>
            </a:extLst>
          </p:cNvPr>
          <p:cNvSpPr txBox="1"/>
          <p:nvPr/>
        </p:nvSpPr>
        <p:spPr>
          <a:xfrm>
            <a:off x="9347200" y="2247900"/>
            <a:ext cx="8483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u="sng" dirty="0">
                <a:latin typeface="Pretendard Bold" panose="020B0600000101010101" charset="-127"/>
                <a:ea typeface="Pretendard Bold" panose="020B0600000101010101" charset="-127"/>
              </a:rPr>
              <a:t>MySQL </a:t>
            </a:r>
            <a:r>
              <a:rPr lang="ko-KR" altLang="en-US" sz="4000" u="sng" dirty="0">
                <a:latin typeface="Pretendard Bold" panose="020B0600000101010101" charset="-127"/>
                <a:ea typeface="Pretendard Bold" panose="020B0600000101010101" charset="-127"/>
              </a:rPr>
              <a:t>결과물</a:t>
            </a:r>
          </a:p>
        </p:txBody>
      </p:sp>
    </p:spTree>
    <p:extLst>
      <p:ext uri="{BB962C8B-B14F-4D97-AF65-F5344CB8AC3E}">
        <p14:creationId xmlns:p14="http://schemas.microsoft.com/office/powerpoint/2010/main" val="3287351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361</Words>
  <Application>Microsoft Office PowerPoint</Application>
  <PresentationFormat>사용자 지정</PresentationFormat>
  <Paragraphs>76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Calibri</vt:lpstr>
      <vt:lpstr>Pretendard Regular</vt:lpstr>
      <vt:lpstr>맑은 고딕</vt:lpstr>
      <vt:lpstr>Open Sans</vt:lpstr>
      <vt:lpstr>Pretendard Bold</vt:lpstr>
      <vt:lpstr>Arial</vt:lpstr>
      <vt:lpstr>Pretendard Light</vt:lpstr>
      <vt:lpstr>Pretendard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FullName</cp:lastModifiedBy>
  <cp:revision>24</cp:revision>
  <dcterms:created xsi:type="dcterms:W3CDTF">2006-08-16T00:00:00Z</dcterms:created>
  <dcterms:modified xsi:type="dcterms:W3CDTF">2025-08-20T05:05:16Z</dcterms:modified>
</cp:coreProperties>
</file>